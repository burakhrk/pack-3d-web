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1"/>
  </p:notesMasterIdLst>
  <p:sldIdLst>
    <p:sldId id="256" r:id="rId2"/>
    <p:sldId id="296" r:id="rId3"/>
    <p:sldId id="297" r:id="rId4"/>
    <p:sldId id="298" r:id="rId5"/>
    <p:sldId id="276" r:id="rId6"/>
    <p:sldId id="277" r:id="rId7"/>
    <p:sldId id="299" r:id="rId8"/>
    <p:sldId id="300" r:id="rId9"/>
    <p:sldId id="279" r:id="rId10"/>
    <p:sldId id="301" r:id="rId11"/>
    <p:sldId id="281" r:id="rId12"/>
    <p:sldId id="302" r:id="rId13"/>
    <p:sldId id="303" r:id="rId14"/>
    <p:sldId id="283" r:id="rId15"/>
    <p:sldId id="293" r:id="rId16"/>
    <p:sldId id="284" r:id="rId17"/>
    <p:sldId id="304" r:id="rId18"/>
    <p:sldId id="286" r:id="rId19"/>
    <p:sldId id="268" r:id="rId20"/>
  </p:sldIdLst>
  <p:sldSz cx="18288000" cy="10287000"/>
  <p:notesSz cx="6858000" cy="9144000"/>
  <p:embeddedFontLst>
    <p:embeddedFont>
      <p:font typeface="Cambria Math" panose="02040503050406030204" pitchFamily="18" charset="0"/>
      <p:regular r:id="rId22"/>
    </p:embeddedFont>
    <p:embeddedFont>
      <p:font typeface="Poppins" panose="00000500000000000000" pitchFamily="2" charset="-94"/>
      <p:regular r:id="rId23"/>
      <p:bold r:id="rId24"/>
      <p:italic r:id="rId25"/>
      <p:boldItalic r:id="rId26"/>
    </p:embeddedFont>
    <p:embeddedFont>
      <p:font typeface="Poppins Bold" panose="00000800000000000000" charset="-9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ema Uygulanmış Stil 1 - Vurgu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F68A4D-3491-4C5B-996B-A839BE77F70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7A7D5B8A-F4F7-47CB-97C7-8E83B2F34794}">
      <dgm:prSet phldrT="[Metin]"/>
      <dgm:spPr/>
      <dgm:t>
        <a:bodyPr/>
        <a:lstStyle/>
        <a:p>
          <a:pPr>
            <a:buNone/>
          </a:pPr>
          <a:r>
            <a:rPr lang="en-US" b="0" i="0" dirty="0"/>
            <a:t>KULLANICI KATMANI (Client Interface)</a:t>
          </a:r>
          <a:endParaRPr lang="en-US" dirty="0"/>
        </a:p>
      </dgm:t>
    </dgm:pt>
    <dgm:pt modelId="{9DC6457C-3FEB-42A6-B730-83A7593B858E}" type="parTrans" cxnId="{81FA7741-9B47-40F4-9536-228165690A08}">
      <dgm:prSet/>
      <dgm:spPr/>
      <dgm:t>
        <a:bodyPr/>
        <a:lstStyle/>
        <a:p>
          <a:endParaRPr lang="en-US"/>
        </a:p>
      </dgm:t>
    </dgm:pt>
    <dgm:pt modelId="{ACEA8921-98D9-4291-81E8-AC3EEB14C20F}" type="sibTrans" cxnId="{81FA7741-9B47-40F4-9536-228165690A08}">
      <dgm:prSet/>
      <dgm:spPr/>
      <dgm:t>
        <a:bodyPr/>
        <a:lstStyle/>
        <a:p>
          <a:endParaRPr lang="en-US"/>
        </a:p>
      </dgm:t>
    </dgm:pt>
    <dgm:pt modelId="{87E7E7C5-4C33-45F4-98EE-741632EC0B1B}">
      <dgm:prSet phldrT="[Metin]"/>
      <dgm:spPr/>
      <dgm:t>
        <a:bodyPr/>
        <a:lstStyle/>
        <a:p>
          <a:pPr>
            <a:buFont typeface="Arial" panose="020B0604020202020204" pitchFamily="34" charset="0"/>
            <a:buChar char="•"/>
          </a:pPr>
          <a:r>
            <a:rPr lang="en-US" b="0" i="0"/>
            <a:t>Veri Girişi (Boyutlar, Miktarlar)</a:t>
          </a:r>
          <a:endParaRPr lang="en-US"/>
        </a:p>
      </dgm:t>
    </dgm:pt>
    <dgm:pt modelId="{BAF2B1FB-D8D2-4D66-AFAD-5F55E81E9328}" type="sibTrans" cxnId="{250E7AEE-B17D-4E4C-A0FA-B46167C30A47}">
      <dgm:prSet/>
      <dgm:spPr/>
      <dgm:t>
        <a:bodyPr/>
        <a:lstStyle/>
        <a:p>
          <a:endParaRPr lang="en-US"/>
        </a:p>
      </dgm:t>
    </dgm:pt>
    <dgm:pt modelId="{907B8711-7810-4FF2-8C32-D37C76ADD2CB}" type="parTrans" cxnId="{250E7AEE-B17D-4E4C-A0FA-B46167C30A47}">
      <dgm:prSet/>
      <dgm:spPr/>
      <dgm:t>
        <a:bodyPr/>
        <a:lstStyle/>
        <a:p>
          <a:endParaRPr lang="en-US"/>
        </a:p>
      </dgm:t>
    </dgm:pt>
    <dgm:pt modelId="{386E4212-B965-49B3-B5DE-29D0E445FF4F}">
      <dgm:prSet phldrT="[Metin]"/>
      <dgm:spPr/>
      <dgm:t>
        <a:bodyPr/>
        <a:lstStyle/>
        <a:p>
          <a:pPr algn="just">
            <a:buFont typeface="Arial" panose="020B0604020202020204" pitchFamily="34" charset="0"/>
            <a:buChar char="•"/>
          </a:pPr>
          <a:r>
            <a:rPr lang="en-US" b="0" i="0"/>
            <a:t>Algoritma Seçimi (GA, Best-Fit)</a:t>
          </a:r>
          <a:endParaRPr lang="en-US"/>
        </a:p>
      </dgm:t>
    </dgm:pt>
    <dgm:pt modelId="{CFC6724D-B96D-4C7D-B977-FD0BE58ACF55}" type="sibTrans" cxnId="{84556AD9-78D0-472A-8B25-E2989C20E116}">
      <dgm:prSet/>
      <dgm:spPr/>
      <dgm:t>
        <a:bodyPr/>
        <a:lstStyle/>
        <a:p>
          <a:endParaRPr lang="en-US"/>
        </a:p>
      </dgm:t>
    </dgm:pt>
    <dgm:pt modelId="{DA9ECAD5-CAE7-4430-855C-236AAABBFC61}" type="parTrans" cxnId="{84556AD9-78D0-472A-8B25-E2989C20E116}">
      <dgm:prSet/>
      <dgm:spPr/>
      <dgm:t>
        <a:bodyPr/>
        <a:lstStyle/>
        <a:p>
          <a:endParaRPr lang="en-US"/>
        </a:p>
      </dgm:t>
    </dgm:pt>
    <dgm:pt modelId="{5E834B57-963D-497F-99B9-A0DDCEF3FD38}">
      <dgm:prSet/>
      <dgm:spPr/>
      <dgm:t>
        <a:bodyPr/>
        <a:lstStyle/>
        <a:p>
          <a:pPr>
            <a:buFont typeface="+mj-lt"/>
            <a:buAutoNum type="arabicPeriod" startAt="2"/>
          </a:pPr>
          <a:r>
            <a:rPr lang="en-US" b="0" i="0"/>
            <a:t>Tetikleyici: "Hesapla" Butonu</a:t>
          </a:r>
          <a:endParaRPr lang="en-US"/>
        </a:p>
      </dgm:t>
    </dgm:pt>
    <dgm:pt modelId="{8C120129-03FD-4EC5-89AD-FBEB446F6DE1}" type="sibTrans" cxnId="{BD06ABCE-ACA8-4F3A-9882-1D14E9E147BE}">
      <dgm:prSet/>
      <dgm:spPr/>
      <dgm:t>
        <a:bodyPr/>
        <a:lstStyle/>
        <a:p>
          <a:endParaRPr lang="en-US"/>
        </a:p>
      </dgm:t>
    </dgm:pt>
    <dgm:pt modelId="{099D637E-D1DA-4451-9EAE-102D35511E96}" type="parTrans" cxnId="{BD06ABCE-ACA8-4F3A-9882-1D14E9E147BE}">
      <dgm:prSet/>
      <dgm:spPr/>
      <dgm:t>
        <a:bodyPr/>
        <a:lstStyle/>
        <a:p>
          <a:endParaRPr lang="en-US"/>
        </a:p>
      </dgm:t>
    </dgm:pt>
    <dgm:pt modelId="{EA232E02-B17C-4E61-83E3-0E582CF09634}">
      <dgm:prSet phldrT="[Metin]"/>
      <dgm:spPr/>
      <dgm:t>
        <a:bodyPr/>
        <a:lstStyle/>
        <a:p>
          <a:pPr>
            <a:buNone/>
          </a:pPr>
          <a:r>
            <a:rPr lang="en-US" b="0" i="0" dirty="0"/>
            <a:t>ANA İŞ PARÇACIĞI (Main Thread)</a:t>
          </a:r>
          <a:endParaRPr lang="en-US" dirty="0"/>
        </a:p>
      </dgm:t>
    </dgm:pt>
    <dgm:pt modelId="{C14876B4-08B5-4689-B0F4-D8073B40FA53}" type="sibTrans" cxnId="{B8EB4540-9F6B-415B-8152-C2DEE12FAC95}">
      <dgm:prSet/>
      <dgm:spPr/>
      <dgm:t>
        <a:bodyPr/>
        <a:lstStyle/>
        <a:p>
          <a:endParaRPr lang="en-US"/>
        </a:p>
      </dgm:t>
    </dgm:pt>
    <dgm:pt modelId="{73D2C434-02C4-47A3-B033-08CD4FF3E189}" type="parTrans" cxnId="{B8EB4540-9F6B-415B-8152-C2DEE12FAC95}">
      <dgm:prSet/>
      <dgm:spPr/>
      <dgm:t>
        <a:bodyPr/>
        <a:lstStyle/>
        <a:p>
          <a:endParaRPr lang="en-US"/>
        </a:p>
      </dgm:t>
    </dgm:pt>
    <dgm:pt modelId="{EDF8124B-4C40-44ED-970D-A40B6933E459}">
      <dgm:prSet phldrT="[Metin]"/>
      <dgm:spPr/>
      <dgm:t>
        <a:bodyPr/>
        <a:lstStyle/>
        <a:p>
          <a:pPr>
            <a:buFont typeface="Arial" panose="020B0604020202020204" pitchFamily="34" charset="0"/>
            <a:buChar char="•"/>
          </a:pPr>
          <a:r>
            <a:rPr lang="en-US" b="0" i="0"/>
            <a:t>UI State Güncellemesi ("Hesaplanıyor...")</a:t>
          </a:r>
          <a:endParaRPr lang="en-US"/>
        </a:p>
      </dgm:t>
    </dgm:pt>
    <dgm:pt modelId="{91D1CD75-A8C1-4503-A7CA-D04DF9D0C36D}" type="sibTrans" cxnId="{0548F59D-1D1A-4756-8189-58B037295FAE}">
      <dgm:prSet/>
      <dgm:spPr/>
      <dgm:t>
        <a:bodyPr/>
        <a:lstStyle/>
        <a:p>
          <a:endParaRPr lang="en-US"/>
        </a:p>
      </dgm:t>
    </dgm:pt>
    <dgm:pt modelId="{C0B4982B-2EB0-4AAB-B863-E2ECDA281A84}" type="parTrans" cxnId="{0548F59D-1D1A-4756-8189-58B037295FAE}">
      <dgm:prSet/>
      <dgm:spPr/>
      <dgm:t>
        <a:bodyPr/>
        <a:lstStyle/>
        <a:p>
          <a:endParaRPr lang="en-US"/>
        </a:p>
      </dgm:t>
    </dgm:pt>
    <dgm:pt modelId="{D816ED73-AA0D-431C-BBF9-65D30B38A6EB}">
      <dgm:prSet phldrT="[Metin]"/>
      <dgm:spPr/>
      <dgm:t>
        <a:bodyPr/>
        <a:lstStyle/>
        <a:p>
          <a:pPr>
            <a:buFont typeface="Arial" panose="020B0604020202020204" pitchFamily="34" charset="0"/>
            <a:buChar char="•"/>
          </a:pPr>
          <a:r>
            <a:rPr lang="en-US" b="0" i="0"/>
            <a:t>Veri Paketleme (JSON Serialization)</a:t>
          </a:r>
          <a:endParaRPr lang="en-US"/>
        </a:p>
      </dgm:t>
    </dgm:pt>
    <dgm:pt modelId="{4DF2A1A9-9C24-4E26-B299-EF1A255C33E1}" type="sibTrans" cxnId="{8B4C65E2-2A9E-479B-A417-D68AC6EFDE15}">
      <dgm:prSet/>
      <dgm:spPr/>
      <dgm:t>
        <a:bodyPr/>
        <a:lstStyle/>
        <a:p>
          <a:endParaRPr lang="en-US"/>
        </a:p>
      </dgm:t>
    </dgm:pt>
    <dgm:pt modelId="{9737FCD8-CBC9-4BC0-A0F2-570E72757DAC}" type="parTrans" cxnId="{8B4C65E2-2A9E-479B-A417-D68AC6EFDE15}">
      <dgm:prSet/>
      <dgm:spPr/>
      <dgm:t>
        <a:bodyPr/>
        <a:lstStyle/>
        <a:p>
          <a:endParaRPr lang="en-US"/>
        </a:p>
      </dgm:t>
    </dgm:pt>
    <dgm:pt modelId="{39B0BA5A-6D80-4487-A0FB-BC3A185BD9CB}">
      <dgm:prSet/>
      <dgm:spPr/>
      <dgm:t>
        <a:bodyPr/>
        <a:lstStyle/>
        <a:p>
          <a:pPr>
            <a:buFont typeface="+mj-lt"/>
            <a:buAutoNum type="arabicPeriod" startAt="2"/>
          </a:pPr>
          <a:r>
            <a:rPr lang="en-US" b="0" i="0"/>
            <a:t>Worker Başlatma (new Worker)</a:t>
          </a:r>
          <a:endParaRPr lang="en-US"/>
        </a:p>
      </dgm:t>
    </dgm:pt>
    <dgm:pt modelId="{E83C56CD-D2E8-492C-B62F-AE0727590BAD}" type="sibTrans" cxnId="{497BCD97-8BD3-45F7-93C7-767014B4149C}">
      <dgm:prSet/>
      <dgm:spPr/>
      <dgm:t>
        <a:bodyPr/>
        <a:lstStyle/>
        <a:p>
          <a:endParaRPr lang="en-US"/>
        </a:p>
      </dgm:t>
    </dgm:pt>
    <dgm:pt modelId="{439912A2-C67C-459D-9D73-19B3E2B201F0}" type="parTrans" cxnId="{497BCD97-8BD3-45F7-93C7-767014B4149C}">
      <dgm:prSet/>
      <dgm:spPr/>
      <dgm:t>
        <a:bodyPr/>
        <a:lstStyle/>
        <a:p>
          <a:endParaRPr lang="en-US"/>
        </a:p>
      </dgm:t>
    </dgm:pt>
    <dgm:pt modelId="{14A535AE-24BD-47F2-AF7C-FA8FF400A00D}">
      <dgm:prSet/>
      <dgm:spPr/>
      <dgm:t>
        <a:bodyPr/>
        <a:lstStyle/>
        <a:p>
          <a:pPr>
            <a:buNone/>
          </a:pPr>
          <a:r>
            <a:rPr lang="en-US" b="0" i="0"/>
            <a:t>SİSTEM ÇALIŞMA MİMARİSİ</a:t>
          </a:r>
          <a:endParaRPr lang="en-US"/>
        </a:p>
      </dgm:t>
    </dgm:pt>
    <dgm:pt modelId="{D81EF36F-8053-43D3-8B78-00FDB197D88C}" type="sibTrans" cxnId="{B6669B2F-9F23-4FDE-9047-4EFD25A613B4}">
      <dgm:prSet/>
      <dgm:spPr/>
      <dgm:t>
        <a:bodyPr/>
        <a:lstStyle/>
        <a:p>
          <a:endParaRPr lang="en-US"/>
        </a:p>
      </dgm:t>
    </dgm:pt>
    <dgm:pt modelId="{851806C8-4B80-4438-8B4F-6979AE7D9061}" type="parTrans" cxnId="{B6669B2F-9F23-4FDE-9047-4EFD25A613B4}">
      <dgm:prSet/>
      <dgm:spPr/>
      <dgm:t>
        <a:bodyPr/>
        <a:lstStyle/>
        <a:p>
          <a:endParaRPr lang="en-US"/>
        </a:p>
      </dgm:t>
    </dgm:pt>
    <dgm:pt modelId="{F499CB99-7B40-4BD6-A7A6-7AB484AFD037}">
      <dgm:prSet/>
      <dgm:spPr/>
      <dgm:t>
        <a:bodyPr/>
        <a:lstStyle/>
        <a:p>
          <a:pPr>
            <a:buNone/>
          </a:pPr>
          <a:r>
            <a:rPr lang="en-US" b="0" i="0"/>
            <a:t>GÖRSELLEŞTİRME (Three.js)</a:t>
          </a:r>
          <a:endParaRPr lang="en-US"/>
        </a:p>
      </dgm:t>
    </dgm:pt>
    <dgm:pt modelId="{26B7FC36-F693-4996-8787-16B42DE91171}" type="sibTrans" cxnId="{87AF6263-4C94-464B-AFBC-0EE08AE5898E}">
      <dgm:prSet/>
      <dgm:spPr/>
      <dgm:t>
        <a:bodyPr/>
        <a:lstStyle/>
        <a:p>
          <a:endParaRPr lang="en-US"/>
        </a:p>
      </dgm:t>
    </dgm:pt>
    <dgm:pt modelId="{D4E1A062-4D3E-44E4-AB6F-4CDE831E4361}" type="parTrans" cxnId="{87AF6263-4C94-464B-AFBC-0EE08AE5898E}">
      <dgm:prSet/>
      <dgm:spPr/>
      <dgm:t>
        <a:bodyPr/>
        <a:lstStyle/>
        <a:p>
          <a:endParaRPr lang="en-US"/>
        </a:p>
      </dgm:t>
    </dgm:pt>
    <dgm:pt modelId="{4E2F5165-6F9F-48F5-97D1-C9C742E7428D}">
      <dgm:prSet/>
      <dgm:spPr/>
      <dgm:t>
        <a:bodyPr/>
        <a:lstStyle/>
        <a:p>
          <a:pPr>
            <a:buFont typeface="Arial" panose="020B0604020202020204" pitchFamily="34" charset="0"/>
            <a:buChar char="•"/>
          </a:pPr>
          <a:r>
            <a:rPr lang="en-US" b="0" i="0"/>
            <a:t>Queue: Veriyi Al</a:t>
          </a:r>
          <a:endParaRPr lang="en-US"/>
        </a:p>
      </dgm:t>
    </dgm:pt>
    <dgm:pt modelId="{EA6CAE59-3F7F-471C-9E4A-F1677FDA7DD4}" type="sibTrans" cxnId="{68BD3A31-38F6-4427-9783-B71EA842B022}">
      <dgm:prSet/>
      <dgm:spPr/>
      <dgm:t>
        <a:bodyPr/>
        <a:lstStyle/>
        <a:p>
          <a:endParaRPr lang="en-US"/>
        </a:p>
      </dgm:t>
    </dgm:pt>
    <dgm:pt modelId="{0F57EF00-AC13-4DF6-B483-915AF4414320}" type="parTrans" cxnId="{68BD3A31-38F6-4427-9783-B71EA842B022}">
      <dgm:prSet/>
      <dgm:spPr/>
      <dgm:t>
        <a:bodyPr/>
        <a:lstStyle/>
        <a:p>
          <a:endParaRPr lang="en-US"/>
        </a:p>
      </dgm:t>
    </dgm:pt>
    <dgm:pt modelId="{E63BE4FF-3847-4C15-B95E-3B1F9F621094}">
      <dgm:prSet/>
      <dgm:spPr/>
      <dgm:t>
        <a:bodyPr/>
        <a:lstStyle/>
        <a:p>
          <a:pPr>
            <a:buNone/>
          </a:pPr>
          <a:r>
            <a:rPr lang="en-US" b="0" i="0"/>
            <a:t>SONUÇ İLETİMİ (Callback)</a:t>
          </a:r>
          <a:endParaRPr lang="en-US"/>
        </a:p>
      </dgm:t>
    </dgm:pt>
    <dgm:pt modelId="{36E137A1-8F8A-4F7A-BA7C-62F3FEE5536E}" type="sibTrans" cxnId="{4AD3B4C2-3D46-4702-AAAE-D1C332112C21}">
      <dgm:prSet/>
      <dgm:spPr/>
      <dgm:t>
        <a:bodyPr/>
        <a:lstStyle/>
        <a:p>
          <a:endParaRPr lang="en-US"/>
        </a:p>
      </dgm:t>
    </dgm:pt>
    <dgm:pt modelId="{A5AC0078-3345-40B2-ADE5-1EA90B2C1DA4}" type="parTrans" cxnId="{4AD3B4C2-3D46-4702-AAAE-D1C332112C21}">
      <dgm:prSet/>
      <dgm:spPr/>
      <dgm:t>
        <a:bodyPr/>
        <a:lstStyle/>
        <a:p>
          <a:endParaRPr lang="en-US"/>
        </a:p>
      </dgm:t>
    </dgm:pt>
    <dgm:pt modelId="{8ED1EDE1-C622-4125-9962-40E8BCC3650F}">
      <dgm:prSet/>
      <dgm:spPr/>
      <dgm:t>
        <a:bodyPr/>
        <a:lstStyle/>
        <a:p>
          <a:pPr>
            <a:buNone/>
          </a:pPr>
          <a:r>
            <a:rPr lang="en-US" b="0" i="0"/>
            <a:t>Core Logic: Optimizasyon Döngüsü</a:t>
          </a:r>
          <a:endParaRPr lang="en-US"/>
        </a:p>
      </dgm:t>
    </dgm:pt>
    <dgm:pt modelId="{878318A1-F78D-4D08-AE0F-31E21A5FE39D}" type="parTrans" cxnId="{EE46442D-F431-4540-A9A2-254C0C109058}">
      <dgm:prSet/>
      <dgm:spPr/>
      <dgm:t>
        <a:bodyPr/>
        <a:lstStyle/>
        <a:p>
          <a:endParaRPr lang="en-US"/>
        </a:p>
      </dgm:t>
    </dgm:pt>
    <dgm:pt modelId="{8FC6FBE8-86BE-4A90-85E2-9712B4FA0BCB}" type="sibTrans" cxnId="{EE46442D-F431-4540-A9A2-254C0C109058}">
      <dgm:prSet/>
      <dgm:spPr/>
      <dgm:t>
        <a:bodyPr/>
        <a:lstStyle/>
        <a:p>
          <a:endParaRPr lang="en-US"/>
        </a:p>
      </dgm:t>
    </dgm:pt>
    <dgm:pt modelId="{B48C559D-AA5F-40FE-8681-3F3064839916}">
      <dgm:prSet/>
      <dgm:spPr/>
      <dgm:t>
        <a:bodyPr/>
        <a:lstStyle/>
        <a:p>
          <a:pPr>
            <a:buFont typeface="Arial" panose="020B0604020202020204" pitchFamily="34" charset="0"/>
            <a:buChar char="•"/>
          </a:pPr>
          <a:r>
            <a:rPr lang="en-US" b="0" i="0"/>
            <a:t>Real-time Progress: İlerleme Yüzdesi Raporla</a:t>
          </a:r>
          <a:endParaRPr lang="en-US"/>
        </a:p>
      </dgm:t>
    </dgm:pt>
    <dgm:pt modelId="{F85284E3-58FA-4A68-BAFC-C729BEC17811}" type="parTrans" cxnId="{F7994EDD-B26F-4B17-9C78-75E2CF79E59D}">
      <dgm:prSet/>
      <dgm:spPr/>
      <dgm:t>
        <a:bodyPr/>
        <a:lstStyle/>
        <a:p>
          <a:endParaRPr lang="en-US"/>
        </a:p>
      </dgm:t>
    </dgm:pt>
    <dgm:pt modelId="{5FF71DF0-4664-4AAB-AA74-ADDCABF13035}" type="sibTrans" cxnId="{F7994EDD-B26F-4B17-9C78-75E2CF79E59D}">
      <dgm:prSet/>
      <dgm:spPr/>
      <dgm:t>
        <a:bodyPr/>
        <a:lstStyle/>
        <a:p>
          <a:endParaRPr lang="en-US"/>
        </a:p>
      </dgm:t>
    </dgm:pt>
    <dgm:pt modelId="{A0EEB0C0-AF00-478D-B0CA-B799C4AB00F6}">
      <dgm:prSet/>
      <dgm:spPr/>
      <dgm:t>
        <a:bodyPr/>
        <a:lstStyle/>
        <a:p>
          <a:pPr>
            <a:buFont typeface="Arial" panose="020B0604020202020204" pitchFamily="34" charset="0"/>
            <a:buChar char="•"/>
          </a:pPr>
          <a:r>
            <a:rPr lang="en-US" b="0" i="0"/>
            <a:t>En İyi Çözümün Bulunması</a:t>
          </a:r>
          <a:endParaRPr lang="en-US"/>
        </a:p>
      </dgm:t>
    </dgm:pt>
    <dgm:pt modelId="{6118DE64-1D09-4CF8-A471-57CA0EE074CE}" type="parTrans" cxnId="{E6249E96-0B01-4044-B7A8-419A64BDD7FA}">
      <dgm:prSet/>
      <dgm:spPr/>
      <dgm:t>
        <a:bodyPr/>
        <a:lstStyle/>
        <a:p>
          <a:endParaRPr lang="en-US"/>
        </a:p>
      </dgm:t>
    </dgm:pt>
    <dgm:pt modelId="{47118250-85A6-4AFD-A157-F9FA0B168B98}" type="sibTrans" cxnId="{E6249E96-0B01-4044-B7A8-419A64BDD7FA}">
      <dgm:prSet/>
      <dgm:spPr/>
      <dgm:t>
        <a:bodyPr/>
        <a:lstStyle/>
        <a:p>
          <a:endParaRPr lang="en-US"/>
        </a:p>
      </dgm:t>
    </dgm:pt>
    <dgm:pt modelId="{2CD238E5-0226-4100-A0E4-13B97DBA8EC1}">
      <dgm:prSet/>
      <dgm:spPr/>
      <dgm:t>
        <a:bodyPr/>
        <a:lstStyle/>
        <a:p>
          <a:pPr>
            <a:buFont typeface="Arial" panose="020B0604020202020204" pitchFamily="34" charset="0"/>
            <a:buChar char="•"/>
          </a:pPr>
          <a:r>
            <a:rPr lang="en-US" b="0" i="0"/>
            <a:t>PackedItem Listesi Oluşturma</a:t>
          </a:r>
          <a:endParaRPr lang="en-US"/>
        </a:p>
      </dgm:t>
    </dgm:pt>
    <dgm:pt modelId="{64B08FB3-95D6-4368-9014-AE2CE8A8DB6A}" type="parTrans" cxnId="{0D894784-956A-4E69-A9E6-3AC3FFD94564}">
      <dgm:prSet/>
      <dgm:spPr/>
      <dgm:t>
        <a:bodyPr/>
        <a:lstStyle/>
        <a:p>
          <a:endParaRPr lang="en-US"/>
        </a:p>
      </dgm:t>
    </dgm:pt>
    <dgm:pt modelId="{F6707C60-C861-4AD7-8D2D-929CCA82A68C}" type="sibTrans" cxnId="{0D894784-956A-4E69-A9E6-3AC3FFD94564}">
      <dgm:prSet/>
      <dgm:spPr/>
      <dgm:t>
        <a:bodyPr/>
        <a:lstStyle/>
        <a:p>
          <a:endParaRPr lang="en-US"/>
        </a:p>
      </dgm:t>
    </dgm:pt>
    <dgm:pt modelId="{977ADED3-1FF6-4857-8EB7-A1E0F915AFF9}">
      <dgm:prSet/>
      <dgm:spPr/>
      <dgm:t>
        <a:bodyPr/>
        <a:lstStyle/>
        <a:p>
          <a:pPr>
            <a:buFont typeface="Arial" panose="020B0604020202020204" pitchFamily="34" charset="0"/>
            <a:buChar char="•"/>
          </a:pPr>
          <a:r>
            <a:rPr lang="en-US" b="0" i="0"/>
            <a:t>postMessage(Result) ile İletim</a:t>
          </a:r>
          <a:endParaRPr lang="en-US"/>
        </a:p>
      </dgm:t>
    </dgm:pt>
    <dgm:pt modelId="{16C22BF5-41EF-458D-B169-30AAE25C3214}" type="parTrans" cxnId="{B8967D58-1ED7-4FA3-B93E-CEA3075F9B9F}">
      <dgm:prSet/>
      <dgm:spPr/>
      <dgm:t>
        <a:bodyPr/>
        <a:lstStyle/>
        <a:p>
          <a:endParaRPr lang="en-US"/>
        </a:p>
      </dgm:t>
    </dgm:pt>
    <dgm:pt modelId="{0C14B1BB-2A50-4275-97DB-7BAA0A2A3BD8}" type="sibTrans" cxnId="{B8967D58-1ED7-4FA3-B93E-CEA3075F9B9F}">
      <dgm:prSet/>
      <dgm:spPr/>
      <dgm:t>
        <a:bodyPr/>
        <a:lstStyle/>
        <a:p>
          <a:endParaRPr lang="en-US"/>
        </a:p>
      </dgm:t>
    </dgm:pt>
    <dgm:pt modelId="{0CBD7AA8-CCB8-4515-9524-7316E6FD8C07}">
      <dgm:prSet/>
      <dgm:spPr/>
      <dgm:t>
        <a:bodyPr/>
        <a:lstStyle/>
        <a:p>
          <a:pPr>
            <a:buNone/>
          </a:pPr>
          <a:r>
            <a:rPr lang="en-US" b="0" i="0"/>
            <a:t>Scene Graph Oluşturma</a:t>
          </a:r>
          <a:endParaRPr lang="en-US"/>
        </a:p>
      </dgm:t>
    </dgm:pt>
    <dgm:pt modelId="{459A84FE-F532-4BA6-96D4-A1F92B9716A9}" type="parTrans" cxnId="{9ABC9135-0FE1-4D74-B723-5C4EA65541BD}">
      <dgm:prSet/>
      <dgm:spPr/>
      <dgm:t>
        <a:bodyPr/>
        <a:lstStyle/>
        <a:p>
          <a:endParaRPr lang="en-US"/>
        </a:p>
      </dgm:t>
    </dgm:pt>
    <dgm:pt modelId="{57C32662-C098-438B-AF2A-D3D14D50C50E}" type="sibTrans" cxnId="{9ABC9135-0FE1-4D74-B723-5C4EA65541BD}">
      <dgm:prSet/>
      <dgm:spPr/>
      <dgm:t>
        <a:bodyPr/>
        <a:lstStyle/>
        <a:p>
          <a:endParaRPr lang="en-US"/>
        </a:p>
      </dgm:t>
    </dgm:pt>
    <dgm:pt modelId="{9FD123F8-CC70-4A8C-9579-748D6090277B}">
      <dgm:prSet/>
      <dgm:spPr/>
      <dgm:t>
        <a:bodyPr/>
        <a:lstStyle/>
        <a:p>
          <a:pPr>
            <a:buNone/>
          </a:pPr>
          <a:r>
            <a:rPr lang="en-US" b="0" i="0" dirty="0"/>
            <a:t>ARKA PLAN İŞLEMİ (Web Worker)</a:t>
          </a:r>
          <a:endParaRPr lang="en-US" dirty="0"/>
        </a:p>
      </dgm:t>
    </dgm:pt>
    <dgm:pt modelId="{0A0A7A23-C4A9-4DB8-982F-4DFE3C9F5094}" type="parTrans" cxnId="{9CA7D4C5-CB38-4739-9E13-882286295394}">
      <dgm:prSet/>
      <dgm:spPr/>
      <dgm:t>
        <a:bodyPr/>
        <a:lstStyle/>
        <a:p>
          <a:endParaRPr lang="en-US"/>
        </a:p>
      </dgm:t>
    </dgm:pt>
    <dgm:pt modelId="{D6EC0F8B-65EE-4126-8F4F-8B80A5887B4C}" type="sibTrans" cxnId="{9CA7D4C5-CB38-4739-9E13-882286295394}">
      <dgm:prSet/>
      <dgm:spPr/>
      <dgm:t>
        <a:bodyPr/>
        <a:lstStyle/>
        <a:p>
          <a:endParaRPr lang="en-US"/>
        </a:p>
      </dgm:t>
    </dgm:pt>
    <dgm:pt modelId="{4E935BD8-8E08-4C47-98BB-16D5664A80F7}">
      <dgm:prSet/>
      <dgm:spPr/>
      <dgm:t>
        <a:bodyPr/>
        <a:lstStyle/>
        <a:p>
          <a:pPr>
            <a:buFont typeface="Arial" panose="020B0604020202020204" pitchFamily="34" charset="0"/>
            <a:buChar char="•"/>
          </a:pPr>
          <a:r>
            <a:rPr lang="en-US" b="0" i="0"/>
            <a:t>Mesh Instance'ların Render Edilmesi</a:t>
          </a:r>
          <a:endParaRPr lang="en-US"/>
        </a:p>
      </dgm:t>
    </dgm:pt>
    <dgm:pt modelId="{A89C3825-1899-4732-9D36-05F887511A5D}" type="parTrans" cxnId="{A91A21E0-C1E2-4A1E-A550-F88B065834EA}">
      <dgm:prSet/>
      <dgm:spPr/>
      <dgm:t>
        <a:bodyPr/>
        <a:lstStyle/>
        <a:p>
          <a:endParaRPr lang="en-US"/>
        </a:p>
      </dgm:t>
    </dgm:pt>
    <dgm:pt modelId="{A779F912-B265-4CAD-B6C1-C01E3CEB3559}" type="sibTrans" cxnId="{A91A21E0-C1E2-4A1E-A550-F88B065834EA}">
      <dgm:prSet/>
      <dgm:spPr/>
      <dgm:t>
        <a:bodyPr/>
        <a:lstStyle/>
        <a:p>
          <a:endParaRPr lang="en-US"/>
        </a:p>
      </dgm:t>
    </dgm:pt>
    <dgm:pt modelId="{923C2A4F-A67C-4F97-A291-B747298A138F}">
      <dgm:prSet/>
      <dgm:spPr/>
      <dgm:t>
        <a:bodyPr/>
        <a:lstStyle/>
        <a:p>
          <a:pPr>
            <a:buFont typeface="Arial" panose="020B0604020202020204" pitchFamily="34" charset="0"/>
            <a:buChar char="•"/>
          </a:pPr>
          <a:r>
            <a:rPr lang="en-US" b="0" i="0"/>
            <a:t>Kullanıcı Etkileşimi (OrbitControls, Zoom, Pan)</a:t>
          </a:r>
          <a:endParaRPr lang="en-US"/>
        </a:p>
      </dgm:t>
    </dgm:pt>
    <dgm:pt modelId="{51657C9E-F641-49E2-A078-B74E6588F850}" type="parTrans" cxnId="{C62DB66B-CDE0-4329-95D5-5FDAB84CC57D}">
      <dgm:prSet/>
      <dgm:spPr/>
      <dgm:t>
        <a:bodyPr/>
        <a:lstStyle/>
        <a:p>
          <a:endParaRPr lang="en-US"/>
        </a:p>
      </dgm:t>
    </dgm:pt>
    <dgm:pt modelId="{86EE5191-3301-45C9-B034-FB8A186E83C2}" type="sibTrans" cxnId="{C62DB66B-CDE0-4329-95D5-5FDAB84CC57D}">
      <dgm:prSet/>
      <dgm:spPr/>
      <dgm:t>
        <a:bodyPr/>
        <a:lstStyle/>
        <a:p>
          <a:endParaRPr lang="en-US"/>
        </a:p>
      </dgm:t>
    </dgm:pt>
    <dgm:pt modelId="{ACF54ED7-A5FA-4EBD-8D44-38054EF5D53C}" type="pres">
      <dgm:prSet presAssocID="{C5F68A4D-3491-4C5B-996B-A839BE77F70F}" presName="diagram" presStyleCnt="0">
        <dgm:presLayoutVars>
          <dgm:chPref val="1"/>
          <dgm:dir/>
          <dgm:animOne val="branch"/>
          <dgm:animLvl val="lvl"/>
          <dgm:resizeHandles/>
        </dgm:presLayoutVars>
      </dgm:prSet>
      <dgm:spPr/>
    </dgm:pt>
    <dgm:pt modelId="{1B45DF11-3305-47F8-AAC4-FF95AADE2859}" type="pres">
      <dgm:prSet presAssocID="{7A7D5B8A-F4F7-47CB-97C7-8E83B2F34794}" presName="root" presStyleCnt="0"/>
      <dgm:spPr/>
    </dgm:pt>
    <dgm:pt modelId="{3B6EA8C4-8025-44D9-865A-5857492160CA}" type="pres">
      <dgm:prSet presAssocID="{7A7D5B8A-F4F7-47CB-97C7-8E83B2F34794}" presName="rootComposite" presStyleCnt="0"/>
      <dgm:spPr/>
    </dgm:pt>
    <dgm:pt modelId="{FC12572A-4495-4B86-86F4-504FC645C9B7}" type="pres">
      <dgm:prSet presAssocID="{7A7D5B8A-F4F7-47CB-97C7-8E83B2F34794}" presName="rootText" presStyleLbl="node1" presStyleIdx="0" presStyleCnt="5" custLinFactNeighborX="11757" custLinFactNeighborY="-22800"/>
      <dgm:spPr/>
    </dgm:pt>
    <dgm:pt modelId="{1D90358A-7CE3-49F5-B7D2-7A6D9486B088}" type="pres">
      <dgm:prSet presAssocID="{7A7D5B8A-F4F7-47CB-97C7-8E83B2F34794}" presName="rootConnector" presStyleLbl="node1" presStyleIdx="0" presStyleCnt="5"/>
      <dgm:spPr/>
    </dgm:pt>
    <dgm:pt modelId="{A6DFFA24-B695-441D-A70D-F6C28B471FCD}" type="pres">
      <dgm:prSet presAssocID="{7A7D5B8A-F4F7-47CB-97C7-8E83B2F34794}" presName="childShape" presStyleCnt="0"/>
      <dgm:spPr/>
    </dgm:pt>
    <dgm:pt modelId="{14A6C5CF-CF75-45BC-8FF6-4A20A4517935}" type="pres">
      <dgm:prSet presAssocID="{907B8711-7810-4FF2-8C32-D37C76ADD2CB}" presName="Name13" presStyleLbl="parChTrans1D2" presStyleIdx="0" presStyleCnt="16"/>
      <dgm:spPr/>
    </dgm:pt>
    <dgm:pt modelId="{3E002F7E-A97B-43A7-81BF-19D7026C8167}" type="pres">
      <dgm:prSet presAssocID="{87E7E7C5-4C33-45F4-98EE-741632EC0B1B}" presName="childText" presStyleLbl="bgAcc1" presStyleIdx="0" presStyleCnt="16" custLinFactNeighborX="23815" custLinFactNeighborY="50157">
        <dgm:presLayoutVars>
          <dgm:bulletEnabled val="1"/>
        </dgm:presLayoutVars>
      </dgm:prSet>
      <dgm:spPr/>
    </dgm:pt>
    <dgm:pt modelId="{DB3631A0-6A13-4BDB-A28C-0C732C1216A6}" type="pres">
      <dgm:prSet presAssocID="{DA9ECAD5-CAE7-4430-855C-236AAABBFC61}" presName="Name13" presStyleLbl="parChTrans1D2" presStyleIdx="1" presStyleCnt="16"/>
      <dgm:spPr/>
    </dgm:pt>
    <dgm:pt modelId="{6CBFB111-153B-4451-9DF6-3964C58D4BAA}" type="pres">
      <dgm:prSet presAssocID="{386E4212-B965-49B3-B5DE-29D0E445FF4F}" presName="childText" presStyleLbl="bgAcc1" presStyleIdx="1" presStyleCnt="16" custLinFactNeighborX="23815" custLinFactNeighborY="50157">
        <dgm:presLayoutVars>
          <dgm:bulletEnabled val="1"/>
        </dgm:presLayoutVars>
      </dgm:prSet>
      <dgm:spPr/>
    </dgm:pt>
    <dgm:pt modelId="{F64265DB-A620-4ED3-AFBF-89E8AE61B07A}" type="pres">
      <dgm:prSet presAssocID="{099D637E-D1DA-4451-9EAE-102D35511E96}" presName="Name13" presStyleLbl="parChTrans1D2" presStyleIdx="2" presStyleCnt="16"/>
      <dgm:spPr/>
    </dgm:pt>
    <dgm:pt modelId="{8FD4ACFB-32E2-4491-B42E-B91504467552}" type="pres">
      <dgm:prSet presAssocID="{5E834B57-963D-497F-99B9-A0DDCEF3FD38}" presName="childText" presStyleLbl="bgAcc1" presStyleIdx="2" presStyleCnt="16" custLinFactNeighborX="25574" custLinFactNeighborY="46197">
        <dgm:presLayoutVars>
          <dgm:bulletEnabled val="1"/>
        </dgm:presLayoutVars>
      </dgm:prSet>
      <dgm:spPr/>
    </dgm:pt>
    <dgm:pt modelId="{BC41A4DD-A35E-4DFA-AF86-33D2DEE16AEA}" type="pres">
      <dgm:prSet presAssocID="{EA232E02-B17C-4E61-83E3-0E582CF09634}" presName="root" presStyleCnt="0"/>
      <dgm:spPr/>
    </dgm:pt>
    <dgm:pt modelId="{82D9D15C-C58A-4FF7-87A3-9DF03BCFBF34}" type="pres">
      <dgm:prSet presAssocID="{EA232E02-B17C-4E61-83E3-0E582CF09634}" presName="rootComposite" presStyleCnt="0"/>
      <dgm:spPr/>
    </dgm:pt>
    <dgm:pt modelId="{6720C755-A343-4C30-87AF-44739BA942BC}" type="pres">
      <dgm:prSet presAssocID="{EA232E02-B17C-4E61-83E3-0E582CF09634}" presName="rootText" presStyleLbl="node1" presStyleIdx="1" presStyleCnt="5" custScaleX="101852" custScaleY="111617" custLinFactNeighborX="6095" custLinFactNeighborY="-21039"/>
      <dgm:spPr/>
    </dgm:pt>
    <dgm:pt modelId="{F90C99D9-A742-4DE4-B0CF-8DF6A02C893E}" type="pres">
      <dgm:prSet presAssocID="{EA232E02-B17C-4E61-83E3-0E582CF09634}" presName="rootConnector" presStyleLbl="node1" presStyleIdx="1" presStyleCnt="5"/>
      <dgm:spPr/>
    </dgm:pt>
    <dgm:pt modelId="{90A58268-FD5F-430B-8E2D-49B23321BA4B}" type="pres">
      <dgm:prSet presAssocID="{EA232E02-B17C-4E61-83E3-0E582CF09634}" presName="childShape" presStyleCnt="0"/>
      <dgm:spPr/>
    </dgm:pt>
    <dgm:pt modelId="{332BB4A0-AA76-4261-9EED-D8E00A8FA72D}" type="pres">
      <dgm:prSet presAssocID="{C0B4982B-2EB0-4AAB-B863-E2ECDA281A84}" presName="Name13" presStyleLbl="parChTrans1D2" presStyleIdx="3" presStyleCnt="16"/>
      <dgm:spPr/>
    </dgm:pt>
    <dgm:pt modelId="{642D8CD1-3F12-4B0F-9E08-6879C1D7E3FA}" type="pres">
      <dgm:prSet presAssocID="{EDF8124B-4C40-44ED-970D-A40B6933E459}" presName="childText" presStyleLbl="bgAcc1" presStyleIdx="3" presStyleCnt="16" custLinFactNeighborX="10616" custLinFactNeighborY="14717">
        <dgm:presLayoutVars>
          <dgm:bulletEnabled val="1"/>
        </dgm:presLayoutVars>
      </dgm:prSet>
      <dgm:spPr/>
    </dgm:pt>
    <dgm:pt modelId="{ECC9EC8B-35F1-4BCA-9EC3-80DB20D24CC9}" type="pres">
      <dgm:prSet presAssocID="{9737FCD8-CBC9-4BC0-A0F2-570E72757DAC}" presName="Name13" presStyleLbl="parChTrans1D2" presStyleIdx="4" presStyleCnt="16"/>
      <dgm:spPr/>
    </dgm:pt>
    <dgm:pt modelId="{F3FA4CF2-5FF2-4348-A56E-757B970C04E2}" type="pres">
      <dgm:prSet presAssocID="{D816ED73-AA0D-431C-BBF9-65D30B38A6EB}" presName="childText" presStyleLbl="bgAcc1" presStyleIdx="4" presStyleCnt="16" custLinFactNeighborX="9427" custLinFactNeighborY="17196">
        <dgm:presLayoutVars>
          <dgm:bulletEnabled val="1"/>
        </dgm:presLayoutVars>
      </dgm:prSet>
      <dgm:spPr/>
    </dgm:pt>
    <dgm:pt modelId="{C7992435-CDDD-4A2D-BF11-318B92F95511}" type="pres">
      <dgm:prSet presAssocID="{439912A2-C67C-459D-9D73-19B3E2B201F0}" presName="Name13" presStyleLbl="parChTrans1D2" presStyleIdx="5" presStyleCnt="16"/>
      <dgm:spPr/>
    </dgm:pt>
    <dgm:pt modelId="{312C5127-5CFA-4143-BFB4-4ABBEADB4A20}" type="pres">
      <dgm:prSet presAssocID="{39B0BA5A-6D80-4487-A0FB-BC3A185BD9CB}" presName="childText" presStyleLbl="bgAcc1" presStyleIdx="5" presStyleCnt="16" custLinFactNeighborX="11485" custLinFactNeighborY="19122">
        <dgm:presLayoutVars>
          <dgm:bulletEnabled val="1"/>
        </dgm:presLayoutVars>
      </dgm:prSet>
      <dgm:spPr/>
    </dgm:pt>
    <dgm:pt modelId="{88DED00B-56DE-4F28-A347-6A5A1268B547}" type="pres">
      <dgm:prSet presAssocID="{851806C8-4B80-4438-8B4F-6979AE7D9061}" presName="Name13" presStyleLbl="parChTrans1D2" presStyleIdx="6" presStyleCnt="16"/>
      <dgm:spPr/>
    </dgm:pt>
    <dgm:pt modelId="{C1539FB4-B6F3-4C07-9698-7A1961CE1A55}" type="pres">
      <dgm:prSet presAssocID="{14A535AE-24BD-47F2-AF7C-FA8FF400A00D}" presName="childText" presStyleLbl="bgAcc1" presStyleIdx="6" presStyleCnt="16" custLinFactNeighborX="14513" custLinFactNeighborY="13659">
        <dgm:presLayoutVars>
          <dgm:bulletEnabled val="1"/>
        </dgm:presLayoutVars>
      </dgm:prSet>
      <dgm:spPr/>
    </dgm:pt>
    <dgm:pt modelId="{C45260BE-C8EE-4006-ABAE-0EEB328250E5}" type="pres">
      <dgm:prSet presAssocID="{F499CB99-7B40-4BD6-A7A6-7AB484AFD037}" presName="root" presStyleCnt="0"/>
      <dgm:spPr/>
    </dgm:pt>
    <dgm:pt modelId="{73993089-CDE6-4641-94BA-0C2A1D7CA779}" type="pres">
      <dgm:prSet presAssocID="{F499CB99-7B40-4BD6-A7A6-7AB484AFD037}" presName="rootComposite" presStyleCnt="0"/>
      <dgm:spPr/>
    </dgm:pt>
    <dgm:pt modelId="{67BFE1B0-8DE0-4C46-83C5-34007AFBE906}" type="pres">
      <dgm:prSet presAssocID="{F499CB99-7B40-4BD6-A7A6-7AB484AFD037}" presName="rootText" presStyleLbl="node1" presStyleIdx="2" presStyleCnt="5" custScaleX="97816" custScaleY="111016" custLinFactX="100000" custLinFactNeighborX="141994" custLinFactNeighborY="-19133"/>
      <dgm:spPr/>
    </dgm:pt>
    <dgm:pt modelId="{3608A3BB-8DAE-4196-8AC0-49869DB1D2DA}" type="pres">
      <dgm:prSet presAssocID="{F499CB99-7B40-4BD6-A7A6-7AB484AFD037}" presName="rootConnector" presStyleLbl="node1" presStyleIdx="2" presStyleCnt="5"/>
      <dgm:spPr/>
    </dgm:pt>
    <dgm:pt modelId="{083BC37F-D74E-4B1E-AADE-BBE7CA8522BB}" type="pres">
      <dgm:prSet presAssocID="{F499CB99-7B40-4BD6-A7A6-7AB484AFD037}" presName="childShape" presStyleCnt="0"/>
      <dgm:spPr/>
    </dgm:pt>
    <dgm:pt modelId="{977B3411-E540-42B9-828E-6CBBB2E9F2D0}" type="pres">
      <dgm:prSet presAssocID="{459A84FE-F532-4BA6-96D4-A1F92B9716A9}" presName="Name13" presStyleLbl="parChTrans1D2" presStyleIdx="7" presStyleCnt="16"/>
      <dgm:spPr/>
    </dgm:pt>
    <dgm:pt modelId="{05200319-DDA9-4BC4-9F3F-F286FDB8ACA3}" type="pres">
      <dgm:prSet presAssocID="{0CBD7AA8-CCB8-4515-9524-7316E6FD8C07}" presName="childText" presStyleLbl="bgAcc1" presStyleIdx="7" presStyleCnt="16" custLinFactX="103631" custLinFactNeighborX="200000" custLinFactNeighborY="-23918">
        <dgm:presLayoutVars>
          <dgm:bulletEnabled val="1"/>
        </dgm:presLayoutVars>
      </dgm:prSet>
      <dgm:spPr/>
    </dgm:pt>
    <dgm:pt modelId="{E8445F15-0C9B-42E8-890F-099B811C60B2}" type="pres">
      <dgm:prSet presAssocID="{A89C3825-1899-4732-9D36-05F887511A5D}" presName="Name13" presStyleLbl="parChTrans1D2" presStyleIdx="8" presStyleCnt="16"/>
      <dgm:spPr/>
    </dgm:pt>
    <dgm:pt modelId="{2827D2A2-F0F2-4FC9-A921-C9DA38AD0427}" type="pres">
      <dgm:prSet presAssocID="{4E935BD8-8E08-4C47-98BB-16D5664A80F7}" presName="childText" presStyleLbl="bgAcc1" presStyleIdx="8" presStyleCnt="16" custLinFactX="109299" custLinFactNeighborX="200000" custLinFactNeighborY="-20586">
        <dgm:presLayoutVars>
          <dgm:bulletEnabled val="1"/>
        </dgm:presLayoutVars>
      </dgm:prSet>
      <dgm:spPr/>
    </dgm:pt>
    <dgm:pt modelId="{C090DC55-AA58-40EA-B4CF-1657BF21AC50}" type="pres">
      <dgm:prSet presAssocID="{51657C9E-F641-49E2-A078-B74E6588F850}" presName="Name13" presStyleLbl="parChTrans1D2" presStyleIdx="9" presStyleCnt="16"/>
      <dgm:spPr/>
    </dgm:pt>
    <dgm:pt modelId="{9E495DF1-3068-46E5-AC9B-9A0F186C0BDB}" type="pres">
      <dgm:prSet presAssocID="{923C2A4F-A67C-4F97-A291-B747298A138F}" presName="childText" presStyleLbl="bgAcc1" presStyleIdx="9" presStyleCnt="16" custLinFactX="108312" custLinFactNeighborX="200000" custLinFactNeighborY="-9350">
        <dgm:presLayoutVars>
          <dgm:bulletEnabled val="1"/>
        </dgm:presLayoutVars>
      </dgm:prSet>
      <dgm:spPr/>
    </dgm:pt>
    <dgm:pt modelId="{70F22FE1-B52B-44D7-A16F-49F11F0CFF29}" type="pres">
      <dgm:prSet presAssocID="{9FD123F8-CC70-4A8C-9579-748D6090277B}" presName="root" presStyleCnt="0"/>
      <dgm:spPr/>
    </dgm:pt>
    <dgm:pt modelId="{4AD988C4-24E1-4AFC-B220-86796E111E58}" type="pres">
      <dgm:prSet presAssocID="{9FD123F8-CC70-4A8C-9579-748D6090277B}" presName="rootComposite" presStyleCnt="0"/>
      <dgm:spPr/>
    </dgm:pt>
    <dgm:pt modelId="{7EF54348-0182-45F1-973F-1DF4CDCC972C}" type="pres">
      <dgm:prSet presAssocID="{9FD123F8-CC70-4A8C-9579-748D6090277B}" presName="rootText" presStyleLbl="node1" presStyleIdx="3" presStyleCnt="5" custLinFactX="-20051" custLinFactNeighborX="-100000" custLinFactNeighborY="-22556"/>
      <dgm:spPr/>
    </dgm:pt>
    <dgm:pt modelId="{B4673FBB-DCCF-46F3-B322-DD61187D8721}" type="pres">
      <dgm:prSet presAssocID="{9FD123F8-CC70-4A8C-9579-748D6090277B}" presName="rootConnector" presStyleLbl="node1" presStyleIdx="3" presStyleCnt="5"/>
      <dgm:spPr/>
    </dgm:pt>
    <dgm:pt modelId="{69A83DA7-99B6-4654-87AA-0D8B7A51AC91}" type="pres">
      <dgm:prSet presAssocID="{9FD123F8-CC70-4A8C-9579-748D6090277B}" presName="childShape" presStyleCnt="0"/>
      <dgm:spPr/>
    </dgm:pt>
    <dgm:pt modelId="{6ED3C36D-D839-44B1-9BEC-3B595480F14A}" type="pres">
      <dgm:prSet presAssocID="{0F57EF00-AC13-4DF6-B483-915AF4414320}" presName="Name13" presStyleLbl="parChTrans1D2" presStyleIdx="10" presStyleCnt="16"/>
      <dgm:spPr/>
    </dgm:pt>
    <dgm:pt modelId="{8DC63758-40AD-4CC3-AAED-0E07E1A3C180}" type="pres">
      <dgm:prSet presAssocID="{4E2F5165-6F9F-48F5-97D1-C9C742E7428D}" presName="childText" presStyleLbl="bgAcc1" presStyleIdx="10" presStyleCnt="16" custLinFactX="-45625" custLinFactNeighborX="-100000" custLinFactNeighborY="14653">
        <dgm:presLayoutVars>
          <dgm:bulletEnabled val="1"/>
        </dgm:presLayoutVars>
      </dgm:prSet>
      <dgm:spPr/>
    </dgm:pt>
    <dgm:pt modelId="{019F5BF0-6526-4A0E-9440-3AD8B5EFBD5D}" type="pres">
      <dgm:prSet presAssocID="{878318A1-F78D-4D08-AE0F-31E21A5FE39D}" presName="Name13" presStyleLbl="parChTrans1D2" presStyleIdx="11" presStyleCnt="16"/>
      <dgm:spPr/>
    </dgm:pt>
    <dgm:pt modelId="{18C2CD34-AA03-4DFE-B1C1-8ACEA1F6A86D}" type="pres">
      <dgm:prSet presAssocID="{8ED1EDE1-C622-4125-9962-40E8BCC3650F}" presName="childText" presStyleLbl="bgAcc1" presStyleIdx="11" presStyleCnt="16" custLinFactX="-48886" custLinFactNeighborX="-100000" custLinFactNeighborY="30071">
        <dgm:presLayoutVars>
          <dgm:bulletEnabled val="1"/>
        </dgm:presLayoutVars>
      </dgm:prSet>
      <dgm:spPr/>
    </dgm:pt>
    <dgm:pt modelId="{9E5ED1C6-33E1-47F3-93D8-97002990AB1A}" type="pres">
      <dgm:prSet presAssocID="{F85284E3-58FA-4A68-BAFC-C729BEC17811}" presName="Name13" presStyleLbl="parChTrans1D2" presStyleIdx="12" presStyleCnt="16"/>
      <dgm:spPr/>
    </dgm:pt>
    <dgm:pt modelId="{4BCA55A8-F01F-49A5-BA81-B90526F3E90D}" type="pres">
      <dgm:prSet presAssocID="{B48C559D-AA5F-40FE-8681-3F3064839916}" presName="childText" presStyleLbl="bgAcc1" presStyleIdx="12" presStyleCnt="16" custLinFactX="-51355" custLinFactNeighborX="-100000" custLinFactNeighborY="33629">
        <dgm:presLayoutVars>
          <dgm:bulletEnabled val="1"/>
        </dgm:presLayoutVars>
      </dgm:prSet>
      <dgm:spPr/>
    </dgm:pt>
    <dgm:pt modelId="{5C8D55F4-8CC1-4C15-9E42-DAEB4F86A344}" type="pres">
      <dgm:prSet presAssocID="{E63BE4FF-3847-4C15-B95E-3B1F9F621094}" presName="root" presStyleCnt="0"/>
      <dgm:spPr/>
    </dgm:pt>
    <dgm:pt modelId="{C97930CC-ABB1-4EEE-8428-AE742AF3CBE1}" type="pres">
      <dgm:prSet presAssocID="{E63BE4FF-3847-4C15-B95E-3B1F9F621094}" presName="rootComposite" presStyleCnt="0"/>
      <dgm:spPr/>
    </dgm:pt>
    <dgm:pt modelId="{7AF4D941-32D9-4291-9AA2-F8929F392665}" type="pres">
      <dgm:prSet presAssocID="{E63BE4FF-3847-4C15-B95E-3B1F9F621094}" presName="rootText" presStyleLbl="node1" presStyleIdx="4" presStyleCnt="5" custLinFactX="-18908" custLinFactNeighborX="-100000" custLinFactNeighborY="-18981"/>
      <dgm:spPr/>
    </dgm:pt>
    <dgm:pt modelId="{B6C7DE1F-2758-4C34-BB2C-357360D7EBD2}" type="pres">
      <dgm:prSet presAssocID="{E63BE4FF-3847-4C15-B95E-3B1F9F621094}" presName="rootConnector" presStyleLbl="node1" presStyleIdx="4" presStyleCnt="5"/>
      <dgm:spPr/>
    </dgm:pt>
    <dgm:pt modelId="{A1CCD433-1737-4009-A3B9-F692C21C8EAF}" type="pres">
      <dgm:prSet presAssocID="{E63BE4FF-3847-4C15-B95E-3B1F9F621094}" presName="childShape" presStyleCnt="0"/>
      <dgm:spPr/>
    </dgm:pt>
    <dgm:pt modelId="{D7E64A3E-9340-4A92-98D4-CEB7A2252265}" type="pres">
      <dgm:prSet presAssocID="{6118DE64-1D09-4CF8-A471-57CA0EE074CE}" presName="Name13" presStyleLbl="parChTrans1D2" presStyleIdx="13" presStyleCnt="16"/>
      <dgm:spPr/>
    </dgm:pt>
    <dgm:pt modelId="{D89352FB-F5B1-4404-996C-32A4CB1D7DB8}" type="pres">
      <dgm:prSet presAssocID="{A0EEB0C0-AF00-478D-B0CA-B799C4AB00F6}" presName="childText" presStyleLbl="bgAcc1" presStyleIdx="13" presStyleCnt="16" custLinFactX="-50322" custLinFactNeighborX="-100000" custLinFactNeighborY="14993">
        <dgm:presLayoutVars>
          <dgm:bulletEnabled val="1"/>
        </dgm:presLayoutVars>
      </dgm:prSet>
      <dgm:spPr/>
    </dgm:pt>
    <dgm:pt modelId="{5EB1C6E6-12A5-437A-9BB1-2DBDC7D2FAAB}" type="pres">
      <dgm:prSet presAssocID="{64B08FB3-95D6-4368-9014-AE2CE8A8DB6A}" presName="Name13" presStyleLbl="parChTrans1D2" presStyleIdx="14" presStyleCnt="16"/>
      <dgm:spPr/>
    </dgm:pt>
    <dgm:pt modelId="{26A4C0C7-CD32-4724-B921-A1E30583EDDF}" type="pres">
      <dgm:prSet presAssocID="{2CD238E5-0226-4100-A0E4-13B97DBA8EC1}" presName="childText" presStyleLbl="bgAcc1" presStyleIdx="14" presStyleCnt="16" custLinFactX="-49410" custLinFactNeighborX="-100000" custLinFactNeighborY="13327">
        <dgm:presLayoutVars>
          <dgm:bulletEnabled val="1"/>
        </dgm:presLayoutVars>
      </dgm:prSet>
      <dgm:spPr/>
    </dgm:pt>
    <dgm:pt modelId="{DA61CA4D-EEA7-4CC8-9CBE-C87E733CC815}" type="pres">
      <dgm:prSet presAssocID="{16C22BF5-41EF-458D-B169-30AAE25C3214}" presName="Name13" presStyleLbl="parChTrans1D2" presStyleIdx="15" presStyleCnt="16"/>
      <dgm:spPr/>
    </dgm:pt>
    <dgm:pt modelId="{10B8C4B5-399A-4A66-AE34-6D861D8F188A}" type="pres">
      <dgm:prSet presAssocID="{977ADED3-1FF6-4857-8EB7-A1E0F915AFF9}" presName="childText" presStyleLbl="bgAcc1" presStyleIdx="15" presStyleCnt="16" custLinFactX="-49023" custLinFactNeighborX="-100000" custLinFactNeighborY="11053">
        <dgm:presLayoutVars>
          <dgm:bulletEnabled val="1"/>
        </dgm:presLayoutVars>
      </dgm:prSet>
      <dgm:spPr/>
    </dgm:pt>
  </dgm:ptLst>
  <dgm:cxnLst>
    <dgm:cxn modelId="{51391211-2CAC-4C07-B75B-A05D57A8EE08}" type="presOf" srcId="{A89C3825-1899-4732-9D36-05F887511A5D}" destId="{E8445F15-0C9B-42E8-890F-099B811C60B2}" srcOrd="0" destOrd="0" presId="urn:microsoft.com/office/officeart/2005/8/layout/hierarchy3"/>
    <dgm:cxn modelId="{6143FD1E-C098-43EA-BF64-B0FCA96C6195}" type="presOf" srcId="{E63BE4FF-3847-4C15-B95E-3B1F9F621094}" destId="{B6C7DE1F-2758-4C34-BB2C-357360D7EBD2}" srcOrd="1" destOrd="0" presId="urn:microsoft.com/office/officeart/2005/8/layout/hierarchy3"/>
    <dgm:cxn modelId="{EE46442D-F431-4540-A9A2-254C0C109058}" srcId="{9FD123F8-CC70-4A8C-9579-748D6090277B}" destId="{8ED1EDE1-C622-4125-9962-40E8BCC3650F}" srcOrd="1" destOrd="0" parTransId="{878318A1-F78D-4D08-AE0F-31E21A5FE39D}" sibTransId="{8FC6FBE8-86BE-4A90-85E2-9712B4FA0BCB}"/>
    <dgm:cxn modelId="{B944782E-E7E9-499E-95FE-C70A5DDA6727}" type="presOf" srcId="{9FD123F8-CC70-4A8C-9579-748D6090277B}" destId="{B4673FBB-DCCF-46F3-B322-DD61187D8721}" srcOrd="1" destOrd="0" presId="urn:microsoft.com/office/officeart/2005/8/layout/hierarchy3"/>
    <dgm:cxn modelId="{B6669B2F-9F23-4FDE-9047-4EFD25A613B4}" srcId="{EA232E02-B17C-4E61-83E3-0E582CF09634}" destId="{14A535AE-24BD-47F2-AF7C-FA8FF400A00D}" srcOrd="3" destOrd="0" parTransId="{851806C8-4B80-4438-8B4F-6979AE7D9061}" sibTransId="{D81EF36F-8053-43D3-8B78-00FDB197D88C}"/>
    <dgm:cxn modelId="{68BD3A31-38F6-4427-9783-B71EA842B022}" srcId="{9FD123F8-CC70-4A8C-9579-748D6090277B}" destId="{4E2F5165-6F9F-48F5-97D1-C9C742E7428D}" srcOrd="0" destOrd="0" parTransId="{0F57EF00-AC13-4DF6-B483-915AF4414320}" sibTransId="{EA6CAE59-3F7F-471C-9E4A-F1677FDA7DD4}"/>
    <dgm:cxn modelId="{9ABC9135-0FE1-4D74-B723-5C4EA65541BD}" srcId="{F499CB99-7B40-4BD6-A7A6-7AB484AFD037}" destId="{0CBD7AA8-CCB8-4515-9524-7316E6FD8C07}" srcOrd="0" destOrd="0" parTransId="{459A84FE-F532-4BA6-96D4-A1F92B9716A9}" sibTransId="{57C32662-C098-438B-AF2A-D3D14D50C50E}"/>
    <dgm:cxn modelId="{B8EB4540-9F6B-415B-8152-C2DEE12FAC95}" srcId="{C5F68A4D-3491-4C5B-996B-A839BE77F70F}" destId="{EA232E02-B17C-4E61-83E3-0E582CF09634}" srcOrd="1" destOrd="0" parTransId="{73D2C434-02C4-47A3-B033-08CD4FF3E189}" sibTransId="{C14876B4-08B5-4689-B0F4-D8073B40FA53}"/>
    <dgm:cxn modelId="{CE5B1F5D-D963-44ED-8B08-C72726C4CA15}" type="presOf" srcId="{F85284E3-58FA-4A68-BAFC-C729BEC17811}" destId="{9E5ED1C6-33E1-47F3-93D8-97002990AB1A}" srcOrd="0" destOrd="0" presId="urn:microsoft.com/office/officeart/2005/8/layout/hierarchy3"/>
    <dgm:cxn modelId="{81FA7741-9B47-40F4-9536-228165690A08}" srcId="{C5F68A4D-3491-4C5B-996B-A839BE77F70F}" destId="{7A7D5B8A-F4F7-47CB-97C7-8E83B2F34794}" srcOrd="0" destOrd="0" parTransId="{9DC6457C-3FEB-42A6-B730-83A7593B858E}" sibTransId="{ACEA8921-98D9-4291-81E8-AC3EEB14C20F}"/>
    <dgm:cxn modelId="{87AF6263-4C94-464B-AFBC-0EE08AE5898E}" srcId="{C5F68A4D-3491-4C5B-996B-A839BE77F70F}" destId="{F499CB99-7B40-4BD6-A7A6-7AB484AFD037}" srcOrd="2" destOrd="0" parTransId="{D4E1A062-4D3E-44E4-AB6F-4CDE831E4361}" sibTransId="{26B7FC36-F693-4996-8787-16B42DE91171}"/>
    <dgm:cxn modelId="{6C8C7943-2079-49DB-803A-A57A560AE920}" type="presOf" srcId="{64B08FB3-95D6-4368-9014-AE2CE8A8DB6A}" destId="{5EB1C6E6-12A5-437A-9BB1-2DBDC7D2FAAB}" srcOrd="0" destOrd="0" presId="urn:microsoft.com/office/officeart/2005/8/layout/hierarchy3"/>
    <dgm:cxn modelId="{7B629B63-7A05-45AF-98ED-A602B3CA6C31}" type="presOf" srcId="{4E2F5165-6F9F-48F5-97D1-C9C742E7428D}" destId="{8DC63758-40AD-4CC3-AAED-0E07E1A3C180}" srcOrd="0" destOrd="0" presId="urn:microsoft.com/office/officeart/2005/8/layout/hierarchy3"/>
    <dgm:cxn modelId="{A7961147-9F80-420F-BA10-E11CCA39BCF2}" type="presOf" srcId="{2CD238E5-0226-4100-A0E4-13B97DBA8EC1}" destId="{26A4C0C7-CD32-4724-B921-A1E30583EDDF}" srcOrd="0" destOrd="0" presId="urn:microsoft.com/office/officeart/2005/8/layout/hierarchy3"/>
    <dgm:cxn modelId="{30083747-D2AC-49C8-BB1D-D59DFE07B0AD}" type="presOf" srcId="{8ED1EDE1-C622-4125-9962-40E8BCC3650F}" destId="{18C2CD34-AA03-4DFE-B1C1-8ACEA1F6A86D}" srcOrd="0" destOrd="0" presId="urn:microsoft.com/office/officeart/2005/8/layout/hierarchy3"/>
    <dgm:cxn modelId="{1E88494B-E315-4354-B1C4-E5E9D42C507C}" type="presOf" srcId="{B48C559D-AA5F-40FE-8681-3F3064839916}" destId="{4BCA55A8-F01F-49A5-BA81-B90526F3E90D}" srcOrd="0" destOrd="0" presId="urn:microsoft.com/office/officeart/2005/8/layout/hierarchy3"/>
    <dgm:cxn modelId="{C62DB66B-CDE0-4329-95D5-5FDAB84CC57D}" srcId="{F499CB99-7B40-4BD6-A7A6-7AB484AFD037}" destId="{923C2A4F-A67C-4F97-A291-B747298A138F}" srcOrd="2" destOrd="0" parTransId="{51657C9E-F641-49E2-A078-B74E6588F850}" sibTransId="{86EE5191-3301-45C9-B034-FB8A186E83C2}"/>
    <dgm:cxn modelId="{77D9EF4C-A4C9-4BDD-AD59-148580F9AAE0}" type="presOf" srcId="{0F57EF00-AC13-4DF6-B483-915AF4414320}" destId="{6ED3C36D-D839-44B1-9BEC-3B595480F14A}" srcOrd="0" destOrd="0" presId="urn:microsoft.com/office/officeart/2005/8/layout/hierarchy3"/>
    <dgm:cxn modelId="{0163A14D-FF82-4C93-BE33-3E93069ED2F4}" type="presOf" srcId="{A0EEB0C0-AF00-478D-B0CA-B799C4AB00F6}" destId="{D89352FB-F5B1-4404-996C-32A4CB1D7DB8}" srcOrd="0" destOrd="0" presId="urn:microsoft.com/office/officeart/2005/8/layout/hierarchy3"/>
    <dgm:cxn modelId="{E498116E-1361-4C28-B48F-3D673A373D92}" type="presOf" srcId="{E63BE4FF-3847-4C15-B95E-3B1F9F621094}" destId="{7AF4D941-32D9-4291-9AA2-F8929F392665}" srcOrd="0" destOrd="0" presId="urn:microsoft.com/office/officeart/2005/8/layout/hierarchy3"/>
    <dgm:cxn modelId="{77587B4F-BC46-4ACD-8300-627996B5604D}" type="presOf" srcId="{099D637E-D1DA-4451-9EAE-102D35511E96}" destId="{F64265DB-A620-4ED3-AFBF-89E8AE61B07A}" srcOrd="0" destOrd="0" presId="urn:microsoft.com/office/officeart/2005/8/layout/hierarchy3"/>
    <dgm:cxn modelId="{29702855-A424-4D8F-B742-728E9EFF8FC8}" type="presOf" srcId="{386E4212-B965-49B3-B5DE-29D0E445FF4F}" destId="{6CBFB111-153B-4451-9DF6-3964C58D4BAA}" srcOrd="0" destOrd="0" presId="urn:microsoft.com/office/officeart/2005/8/layout/hierarchy3"/>
    <dgm:cxn modelId="{B8967D58-1ED7-4FA3-B93E-CEA3075F9B9F}" srcId="{E63BE4FF-3847-4C15-B95E-3B1F9F621094}" destId="{977ADED3-1FF6-4857-8EB7-A1E0F915AFF9}" srcOrd="2" destOrd="0" parTransId="{16C22BF5-41EF-458D-B169-30AAE25C3214}" sibTransId="{0C14B1BB-2A50-4275-97DB-7BAA0A2A3BD8}"/>
    <dgm:cxn modelId="{8F46C25A-CB66-41A5-A3D1-3F5088ED37AB}" type="presOf" srcId="{14A535AE-24BD-47F2-AF7C-FA8FF400A00D}" destId="{C1539FB4-B6F3-4C07-9698-7A1961CE1A55}" srcOrd="0" destOrd="0" presId="urn:microsoft.com/office/officeart/2005/8/layout/hierarchy3"/>
    <dgm:cxn modelId="{ED7B7D7B-4ADE-4101-81A6-A19C67167DBD}" type="presOf" srcId="{9FD123F8-CC70-4A8C-9579-748D6090277B}" destId="{7EF54348-0182-45F1-973F-1DF4CDCC972C}" srcOrd="0" destOrd="0" presId="urn:microsoft.com/office/officeart/2005/8/layout/hierarchy3"/>
    <dgm:cxn modelId="{21087D7D-799E-4A56-B345-E84A6BB56E9B}" type="presOf" srcId="{6118DE64-1D09-4CF8-A471-57CA0EE074CE}" destId="{D7E64A3E-9340-4A92-98D4-CEB7A2252265}" srcOrd="0" destOrd="0" presId="urn:microsoft.com/office/officeart/2005/8/layout/hierarchy3"/>
    <dgm:cxn modelId="{24560881-E23C-4CD6-83FB-16844780BCA3}" type="presOf" srcId="{EA232E02-B17C-4E61-83E3-0E582CF09634}" destId="{6720C755-A343-4C30-87AF-44739BA942BC}" srcOrd="0" destOrd="0" presId="urn:microsoft.com/office/officeart/2005/8/layout/hierarchy3"/>
    <dgm:cxn modelId="{593D6C82-1661-43D1-BCE8-867CD4792BF7}" type="presOf" srcId="{923C2A4F-A67C-4F97-A291-B747298A138F}" destId="{9E495DF1-3068-46E5-AC9B-9A0F186C0BDB}" srcOrd="0" destOrd="0" presId="urn:microsoft.com/office/officeart/2005/8/layout/hierarchy3"/>
    <dgm:cxn modelId="{D3C35382-0DD3-4BD8-A6A8-6ACB291D6C41}" type="presOf" srcId="{977ADED3-1FF6-4857-8EB7-A1E0F915AFF9}" destId="{10B8C4B5-399A-4A66-AE34-6D861D8F188A}" srcOrd="0" destOrd="0" presId="urn:microsoft.com/office/officeart/2005/8/layout/hierarchy3"/>
    <dgm:cxn modelId="{0D894784-956A-4E69-A9E6-3AC3FFD94564}" srcId="{E63BE4FF-3847-4C15-B95E-3B1F9F621094}" destId="{2CD238E5-0226-4100-A0E4-13B97DBA8EC1}" srcOrd="1" destOrd="0" parTransId="{64B08FB3-95D6-4368-9014-AE2CE8A8DB6A}" sibTransId="{F6707C60-C861-4AD7-8D2D-929CCA82A68C}"/>
    <dgm:cxn modelId="{0545858D-6AE7-489D-B623-6D0C0CB5C0A4}" type="presOf" srcId="{5E834B57-963D-497F-99B9-A0DDCEF3FD38}" destId="{8FD4ACFB-32E2-4491-B42E-B91504467552}" srcOrd="0" destOrd="0" presId="urn:microsoft.com/office/officeart/2005/8/layout/hierarchy3"/>
    <dgm:cxn modelId="{E6249E96-0B01-4044-B7A8-419A64BDD7FA}" srcId="{E63BE4FF-3847-4C15-B95E-3B1F9F621094}" destId="{A0EEB0C0-AF00-478D-B0CA-B799C4AB00F6}" srcOrd="0" destOrd="0" parTransId="{6118DE64-1D09-4CF8-A471-57CA0EE074CE}" sibTransId="{47118250-85A6-4AFD-A157-F9FA0B168B98}"/>
    <dgm:cxn modelId="{497BCD97-8BD3-45F7-93C7-767014B4149C}" srcId="{EA232E02-B17C-4E61-83E3-0E582CF09634}" destId="{39B0BA5A-6D80-4487-A0FB-BC3A185BD9CB}" srcOrd="2" destOrd="0" parTransId="{439912A2-C67C-459D-9D73-19B3E2B201F0}" sibTransId="{E83C56CD-D2E8-492C-B62F-AE0727590BAD}"/>
    <dgm:cxn modelId="{0548F59D-1D1A-4756-8189-58B037295FAE}" srcId="{EA232E02-B17C-4E61-83E3-0E582CF09634}" destId="{EDF8124B-4C40-44ED-970D-A40B6933E459}" srcOrd="0" destOrd="0" parTransId="{C0B4982B-2EB0-4AAB-B863-E2ECDA281A84}" sibTransId="{91D1CD75-A8C1-4503-A7CA-D04DF9D0C36D}"/>
    <dgm:cxn modelId="{AC83709E-EDCA-41D0-92FC-C6D92CADC705}" type="presOf" srcId="{878318A1-F78D-4D08-AE0F-31E21A5FE39D}" destId="{019F5BF0-6526-4A0E-9440-3AD8B5EFBD5D}" srcOrd="0" destOrd="0" presId="urn:microsoft.com/office/officeart/2005/8/layout/hierarchy3"/>
    <dgm:cxn modelId="{77016FA3-904C-43A1-8221-E7F2D7406E33}" type="presOf" srcId="{D816ED73-AA0D-431C-BBF9-65D30B38A6EB}" destId="{F3FA4CF2-5FF2-4348-A56E-757B970C04E2}" srcOrd="0" destOrd="0" presId="urn:microsoft.com/office/officeart/2005/8/layout/hierarchy3"/>
    <dgm:cxn modelId="{1BC99AA4-AF5A-4D91-8501-4E0E1DD920CA}" type="presOf" srcId="{9737FCD8-CBC9-4BC0-A0F2-570E72757DAC}" destId="{ECC9EC8B-35F1-4BCA-9EC3-80DB20D24CC9}" srcOrd="0" destOrd="0" presId="urn:microsoft.com/office/officeart/2005/8/layout/hierarchy3"/>
    <dgm:cxn modelId="{BFBB29A9-65AF-47BA-B4B1-E6CA301D719F}" type="presOf" srcId="{EDF8124B-4C40-44ED-970D-A40B6933E459}" destId="{642D8CD1-3F12-4B0F-9E08-6879C1D7E3FA}" srcOrd="0" destOrd="0" presId="urn:microsoft.com/office/officeart/2005/8/layout/hierarchy3"/>
    <dgm:cxn modelId="{9400B7B2-AF17-440F-AA55-96D445165C4A}" type="presOf" srcId="{7A7D5B8A-F4F7-47CB-97C7-8E83B2F34794}" destId="{1D90358A-7CE3-49F5-B7D2-7A6D9486B088}" srcOrd="1" destOrd="0" presId="urn:microsoft.com/office/officeart/2005/8/layout/hierarchy3"/>
    <dgm:cxn modelId="{188AC2B3-0DA0-4F75-AF84-E0436098128D}" type="presOf" srcId="{F499CB99-7B40-4BD6-A7A6-7AB484AFD037}" destId="{67BFE1B0-8DE0-4C46-83C5-34007AFBE906}" srcOrd="0" destOrd="0" presId="urn:microsoft.com/office/officeart/2005/8/layout/hierarchy3"/>
    <dgm:cxn modelId="{CBE3E5B5-CAC5-426F-9BF0-661704C229AA}" type="presOf" srcId="{51657C9E-F641-49E2-A078-B74E6588F850}" destId="{C090DC55-AA58-40EA-B4CF-1657BF21AC50}" srcOrd="0" destOrd="0" presId="urn:microsoft.com/office/officeart/2005/8/layout/hierarchy3"/>
    <dgm:cxn modelId="{5B2799B8-120A-49F8-BB61-B4285ED62285}" type="presOf" srcId="{F499CB99-7B40-4BD6-A7A6-7AB484AFD037}" destId="{3608A3BB-8DAE-4196-8AC0-49869DB1D2DA}" srcOrd="1" destOrd="0" presId="urn:microsoft.com/office/officeart/2005/8/layout/hierarchy3"/>
    <dgm:cxn modelId="{AB7515BA-E42D-490F-B9EA-ED383D5A2A1D}" type="presOf" srcId="{87E7E7C5-4C33-45F4-98EE-741632EC0B1B}" destId="{3E002F7E-A97B-43A7-81BF-19D7026C8167}" srcOrd="0" destOrd="0" presId="urn:microsoft.com/office/officeart/2005/8/layout/hierarchy3"/>
    <dgm:cxn modelId="{60A1C6BA-4A5A-498D-88CE-A62C7BD33E2D}" type="presOf" srcId="{0CBD7AA8-CCB8-4515-9524-7316E6FD8C07}" destId="{05200319-DDA9-4BC4-9F3F-F286FDB8ACA3}" srcOrd="0" destOrd="0" presId="urn:microsoft.com/office/officeart/2005/8/layout/hierarchy3"/>
    <dgm:cxn modelId="{4AD3B4C2-3D46-4702-AAAE-D1C332112C21}" srcId="{C5F68A4D-3491-4C5B-996B-A839BE77F70F}" destId="{E63BE4FF-3847-4C15-B95E-3B1F9F621094}" srcOrd="4" destOrd="0" parTransId="{A5AC0078-3345-40B2-ADE5-1EA90B2C1DA4}" sibTransId="{36E137A1-8F8A-4F7A-BA7C-62F3FEE5536E}"/>
    <dgm:cxn modelId="{9CA7D4C5-CB38-4739-9E13-882286295394}" srcId="{C5F68A4D-3491-4C5B-996B-A839BE77F70F}" destId="{9FD123F8-CC70-4A8C-9579-748D6090277B}" srcOrd="3" destOrd="0" parTransId="{0A0A7A23-C4A9-4DB8-982F-4DFE3C9F5094}" sibTransId="{D6EC0F8B-65EE-4126-8F4F-8B80A5887B4C}"/>
    <dgm:cxn modelId="{067924C8-F41A-47A9-8A04-E6A3F7167303}" type="presOf" srcId="{39B0BA5A-6D80-4487-A0FB-BC3A185BD9CB}" destId="{312C5127-5CFA-4143-BFB4-4ABBEADB4A20}" srcOrd="0" destOrd="0" presId="urn:microsoft.com/office/officeart/2005/8/layout/hierarchy3"/>
    <dgm:cxn modelId="{10C427CA-81C2-4505-9D6B-8F60B2BCB054}" type="presOf" srcId="{DA9ECAD5-CAE7-4430-855C-236AAABBFC61}" destId="{DB3631A0-6A13-4BDB-A28C-0C732C1216A6}" srcOrd="0" destOrd="0" presId="urn:microsoft.com/office/officeart/2005/8/layout/hierarchy3"/>
    <dgm:cxn modelId="{BD06ABCE-ACA8-4F3A-9882-1D14E9E147BE}" srcId="{7A7D5B8A-F4F7-47CB-97C7-8E83B2F34794}" destId="{5E834B57-963D-497F-99B9-A0DDCEF3FD38}" srcOrd="2" destOrd="0" parTransId="{099D637E-D1DA-4451-9EAE-102D35511E96}" sibTransId="{8C120129-03FD-4EC5-89AD-FBEB446F6DE1}"/>
    <dgm:cxn modelId="{568021D1-0E6D-44E2-9276-4C624046D6A3}" type="presOf" srcId="{907B8711-7810-4FF2-8C32-D37C76ADD2CB}" destId="{14A6C5CF-CF75-45BC-8FF6-4A20A4517935}" srcOrd="0" destOrd="0" presId="urn:microsoft.com/office/officeart/2005/8/layout/hierarchy3"/>
    <dgm:cxn modelId="{7111C3D5-11C8-451B-A598-FDB7A5CB8658}" type="presOf" srcId="{16C22BF5-41EF-458D-B169-30AAE25C3214}" destId="{DA61CA4D-EEA7-4CC8-9CBE-C87E733CC815}" srcOrd="0" destOrd="0" presId="urn:microsoft.com/office/officeart/2005/8/layout/hierarchy3"/>
    <dgm:cxn modelId="{8B72B8D6-5C2A-4787-8790-C14EB79CD228}" type="presOf" srcId="{4E935BD8-8E08-4C47-98BB-16D5664A80F7}" destId="{2827D2A2-F0F2-4FC9-A921-C9DA38AD0427}" srcOrd="0" destOrd="0" presId="urn:microsoft.com/office/officeart/2005/8/layout/hierarchy3"/>
    <dgm:cxn modelId="{BD0267D8-53CE-488B-9DA3-348979400487}" type="presOf" srcId="{EA232E02-B17C-4E61-83E3-0E582CF09634}" destId="{F90C99D9-A742-4DE4-B0CF-8DF6A02C893E}" srcOrd="1" destOrd="0" presId="urn:microsoft.com/office/officeart/2005/8/layout/hierarchy3"/>
    <dgm:cxn modelId="{84556AD9-78D0-472A-8B25-E2989C20E116}" srcId="{7A7D5B8A-F4F7-47CB-97C7-8E83B2F34794}" destId="{386E4212-B965-49B3-B5DE-29D0E445FF4F}" srcOrd="1" destOrd="0" parTransId="{DA9ECAD5-CAE7-4430-855C-236AAABBFC61}" sibTransId="{CFC6724D-B96D-4C7D-B977-FD0BE58ACF55}"/>
    <dgm:cxn modelId="{F7994EDD-B26F-4B17-9C78-75E2CF79E59D}" srcId="{9FD123F8-CC70-4A8C-9579-748D6090277B}" destId="{B48C559D-AA5F-40FE-8681-3F3064839916}" srcOrd="2" destOrd="0" parTransId="{F85284E3-58FA-4A68-BAFC-C729BEC17811}" sibTransId="{5FF71DF0-4664-4AAB-AA74-ADDCABF13035}"/>
    <dgm:cxn modelId="{DE47ECDF-8852-4118-BE46-4A7D1A1265B6}" type="presOf" srcId="{7A7D5B8A-F4F7-47CB-97C7-8E83B2F34794}" destId="{FC12572A-4495-4B86-86F4-504FC645C9B7}" srcOrd="0" destOrd="0" presId="urn:microsoft.com/office/officeart/2005/8/layout/hierarchy3"/>
    <dgm:cxn modelId="{A91A21E0-C1E2-4A1E-A550-F88B065834EA}" srcId="{F499CB99-7B40-4BD6-A7A6-7AB484AFD037}" destId="{4E935BD8-8E08-4C47-98BB-16D5664A80F7}" srcOrd="1" destOrd="0" parTransId="{A89C3825-1899-4732-9D36-05F887511A5D}" sibTransId="{A779F912-B265-4CAD-B6C1-C01E3CEB3559}"/>
    <dgm:cxn modelId="{EC7643E1-82B3-4FE9-85D0-70CAE2552BD0}" type="presOf" srcId="{439912A2-C67C-459D-9D73-19B3E2B201F0}" destId="{C7992435-CDDD-4A2D-BF11-318B92F95511}" srcOrd="0" destOrd="0" presId="urn:microsoft.com/office/officeart/2005/8/layout/hierarchy3"/>
    <dgm:cxn modelId="{8B4C65E2-2A9E-479B-A417-D68AC6EFDE15}" srcId="{EA232E02-B17C-4E61-83E3-0E582CF09634}" destId="{D816ED73-AA0D-431C-BBF9-65D30B38A6EB}" srcOrd="1" destOrd="0" parTransId="{9737FCD8-CBC9-4BC0-A0F2-570E72757DAC}" sibTransId="{4DF2A1A9-9C24-4E26-B299-EF1A255C33E1}"/>
    <dgm:cxn modelId="{59A519E4-AF27-4BCE-967D-9A36DBB7CB60}" type="presOf" srcId="{459A84FE-F532-4BA6-96D4-A1F92B9716A9}" destId="{977B3411-E540-42B9-828E-6CBBB2E9F2D0}" srcOrd="0" destOrd="0" presId="urn:microsoft.com/office/officeart/2005/8/layout/hierarchy3"/>
    <dgm:cxn modelId="{250E7AEE-B17D-4E4C-A0FA-B46167C30A47}" srcId="{7A7D5B8A-F4F7-47CB-97C7-8E83B2F34794}" destId="{87E7E7C5-4C33-45F4-98EE-741632EC0B1B}" srcOrd="0" destOrd="0" parTransId="{907B8711-7810-4FF2-8C32-D37C76ADD2CB}" sibTransId="{BAF2B1FB-D8D2-4D66-AFAD-5F55E81E9328}"/>
    <dgm:cxn modelId="{A7358EF4-6AEB-49B8-8D85-EC49C591C2D3}" type="presOf" srcId="{C5F68A4D-3491-4C5B-996B-A839BE77F70F}" destId="{ACF54ED7-A5FA-4EBD-8D44-38054EF5D53C}" srcOrd="0" destOrd="0" presId="urn:microsoft.com/office/officeart/2005/8/layout/hierarchy3"/>
    <dgm:cxn modelId="{66422EFB-562D-4289-BAF2-39D8940E6223}" type="presOf" srcId="{C0B4982B-2EB0-4AAB-B863-E2ECDA281A84}" destId="{332BB4A0-AA76-4261-9EED-D8E00A8FA72D}" srcOrd="0" destOrd="0" presId="urn:microsoft.com/office/officeart/2005/8/layout/hierarchy3"/>
    <dgm:cxn modelId="{E4E102FF-7F8E-42C7-B392-C2508B303EEA}" type="presOf" srcId="{851806C8-4B80-4438-8B4F-6979AE7D9061}" destId="{88DED00B-56DE-4F28-A347-6A5A1268B547}" srcOrd="0" destOrd="0" presId="urn:microsoft.com/office/officeart/2005/8/layout/hierarchy3"/>
    <dgm:cxn modelId="{50513D58-196F-482F-95AE-A063CBAFC575}" type="presParOf" srcId="{ACF54ED7-A5FA-4EBD-8D44-38054EF5D53C}" destId="{1B45DF11-3305-47F8-AAC4-FF95AADE2859}" srcOrd="0" destOrd="0" presId="urn:microsoft.com/office/officeart/2005/8/layout/hierarchy3"/>
    <dgm:cxn modelId="{5CC71DFE-53F7-4C3C-A43E-99CF49031F58}" type="presParOf" srcId="{1B45DF11-3305-47F8-AAC4-FF95AADE2859}" destId="{3B6EA8C4-8025-44D9-865A-5857492160CA}" srcOrd="0" destOrd="0" presId="urn:microsoft.com/office/officeart/2005/8/layout/hierarchy3"/>
    <dgm:cxn modelId="{19FF5AE7-F716-4091-A7C1-9752F796CC6E}" type="presParOf" srcId="{3B6EA8C4-8025-44D9-865A-5857492160CA}" destId="{FC12572A-4495-4B86-86F4-504FC645C9B7}" srcOrd="0" destOrd="0" presId="urn:microsoft.com/office/officeart/2005/8/layout/hierarchy3"/>
    <dgm:cxn modelId="{C8F54423-CFE7-4852-860A-EE59BE830A58}" type="presParOf" srcId="{3B6EA8C4-8025-44D9-865A-5857492160CA}" destId="{1D90358A-7CE3-49F5-B7D2-7A6D9486B088}" srcOrd="1" destOrd="0" presId="urn:microsoft.com/office/officeart/2005/8/layout/hierarchy3"/>
    <dgm:cxn modelId="{59F0B0F7-97B1-414C-A193-65F8C5A7EF44}" type="presParOf" srcId="{1B45DF11-3305-47F8-AAC4-FF95AADE2859}" destId="{A6DFFA24-B695-441D-A70D-F6C28B471FCD}" srcOrd="1" destOrd="0" presId="urn:microsoft.com/office/officeart/2005/8/layout/hierarchy3"/>
    <dgm:cxn modelId="{16B05951-819C-4861-890C-F74D2E2C0779}" type="presParOf" srcId="{A6DFFA24-B695-441D-A70D-F6C28B471FCD}" destId="{14A6C5CF-CF75-45BC-8FF6-4A20A4517935}" srcOrd="0" destOrd="0" presId="urn:microsoft.com/office/officeart/2005/8/layout/hierarchy3"/>
    <dgm:cxn modelId="{252CEE4B-FAC8-4A86-B30B-A6B34FBC2035}" type="presParOf" srcId="{A6DFFA24-B695-441D-A70D-F6C28B471FCD}" destId="{3E002F7E-A97B-43A7-81BF-19D7026C8167}" srcOrd="1" destOrd="0" presId="urn:microsoft.com/office/officeart/2005/8/layout/hierarchy3"/>
    <dgm:cxn modelId="{102EE759-61CA-4389-9FD5-B8DD1C933193}" type="presParOf" srcId="{A6DFFA24-B695-441D-A70D-F6C28B471FCD}" destId="{DB3631A0-6A13-4BDB-A28C-0C732C1216A6}" srcOrd="2" destOrd="0" presId="urn:microsoft.com/office/officeart/2005/8/layout/hierarchy3"/>
    <dgm:cxn modelId="{DC41712A-CFCC-488B-869D-03B295989BDF}" type="presParOf" srcId="{A6DFFA24-B695-441D-A70D-F6C28B471FCD}" destId="{6CBFB111-153B-4451-9DF6-3964C58D4BAA}" srcOrd="3" destOrd="0" presId="urn:microsoft.com/office/officeart/2005/8/layout/hierarchy3"/>
    <dgm:cxn modelId="{FA082204-6AFE-461A-8BB8-85C521324784}" type="presParOf" srcId="{A6DFFA24-B695-441D-A70D-F6C28B471FCD}" destId="{F64265DB-A620-4ED3-AFBF-89E8AE61B07A}" srcOrd="4" destOrd="0" presId="urn:microsoft.com/office/officeart/2005/8/layout/hierarchy3"/>
    <dgm:cxn modelId="{152BB0F2-7A88-4FAB-9E77-0CF11A377D19}" type="presParOf" srcId="{A6DFFA24-B695-441D-A70D-F6C28B471FCD}" destId="{8FD4ACFB-32E2-4491-B42E-B91504467552}" srcOrd="5" destOrd="0" presId="urn:microsoft.com/office/officeart/2005/8/layout/hierarchy3"/>
    <dgm:cxn modelId="{9521C43B-57C9-461F-9B22-1CC7B2999289}" type="presParOf" srcId="{ACF54ED7-A5FA-4EBD-8D44-38054EF5D53C}" destId="{BC41A4DD-A35E-4DFA-AF86-33D2DEE16AEA}" srcOrd="1" destOrd="0" presId="urn:microsoft.com/office/officeart/2005/8/layout/hierarchy3"/>
    <dgm:cxn modelId="{0A1A03C9-300C-4FBD-80D7-09455E99D9E8}" type="presParOf" srcId="{BC41A4DD-A35E-4DFA-AF86-33D2DEE16AEA}" destId="{82D9D15C-C58A-4FF7-87A3-9DF03BCFBF34}" srcOrd="0" destOrd="0" presId="urn:microsoft.com/office/officeart/2005/8/layout/hierarchy3"/>
    <dgm:cxn modelId="{C86A349D-73DB-4684-A60D-CC737E254138}" type="presParOf" srcId="{82D9D15C-C58A-4FF7-87A3-9DF03BCFBF34}" destId="{6720C755-A343-4C30-87AF-44739BA942BC}" srcOrd="0" destOrd="0" presId="urn:microsoft.com/office/officeart/2005/8/layout/hierarchy3"/>
    <dgm:cxn modelId="{F9B0921D-74DA-4B21-907A-D04C73178292}" type="presParOf" srcId="{82D9D15C-C58A-4FF7-87A3-9DF03BCFBF34}" destId="{F90C99D9-A742-4DE4-B0CF-8DF6A02C893E}" srcOrd="1" destOrd="0" presId="urn:microsoft.com/office/officeart/2005/8/layout/hierarchy3"/>
    <dgm:cxn modelId="{7724DBE9-0BFC-4D2B-B3D2-F7FF48B40272}" type="presParOf" srcId="{BC41A4DD-A35E-4DFA-AF86-33D2DEE16AEA}" destId="{90A58268-FD5F-430B-8E2D-49B23321BA4B}" srcOrd="1" destOrd="0" presId="urn:microsoft.com/office/officeart/2005/8/layout/hierarchy3"/>
    <dgm:cxn modelId="{590D7552-4F6D-4CE7-876E-605A97B6AE76}" type="presParOf" srcId="{90A58268-FD5F-430B-8E2D-49B23321BA4B}" destId="{332BB4A0-AA76-4261-9EED-D8E00A8FA72D}" srcOrd="0" destOrd="0" presId="urn:microsoft.com/office/officeart/2005/8/layout/hierarchy3"/>
    <dgm:cxn modelId="{A64FF761-C4B4-49FE-A4FF-3ADA8605B5D8}" type="presParOf" srcId="{90A58268-FD5F-430B-8E2D-49B23321BA4B}" destId="{642D8CD1-3F12-4B0F-9E08-6879C1D7E3FA}" srcOrd="1" destOrd="0" presId="urn:microsoft.com/office/officeart/2005/8/layout/hierarchy3"/>
    <dgm:cxn modelId="{4D8DFC82-F1AA-449C-A93A-8ECD17F68664}" type="presParOf" srcId="{90A58268-FD5F-430B-8E2D-49B23321BA4B}" destId="{ECC9EC8B-35F1-4BCA-9EC3-80DB20D24CC9}" srcOrd="2" destOrd="0" presId="urn:microsoft.com/office/officeart/2005/8/layout/hierarchy3"/>
    <dgm:cxn modelId="{72F68FC1-61F2-44AB-B36E-CBB4AA63BAD7}" type="presParOf" srcId="{90A58268-FD5F-430B-8E2D-49B23321BA4B}" destId="{F3FA4CF2-5FF2-4348-A56E-757B970C04E2}" srcOrd="3" destOrd="0" presId="urn:microsoft.com/office/officeart/2005/8/layout/hierarchy3"/>
    <dgm:cxn modelId="{AEEAB16D-1D70-435F-9298-43D248AD00A9}" type="presParOf" srcId="{90A58268-FD5F-430B-8E2D-49B23321BA4B}" destId="{C7992435-CDDD-4A2D-BF11-318B92F95511}" srcOrd="4" destOrd="0" presId="urn:microsoft.com/office/officeart/2005/8/layout/hierarchy3"/>
    <dgm:cxn modelId="{B385AA5D-E3C9-462B-BB3D-338A239B9EF8}" type="presParOf" srcId="{90A58268-FD5F-430B-8E2D-49B23321BA4B}" destId="{312C5127-5CFA-4143-BFB4-4ABBEADB4A20}" srcOrd="5" destOrd="0" presId="urn:microsoft.com/office/officeart/2005/8/layout/hierarchy3"/>
    <dgm:cxn modelId="{F0BA7FA8-1215-4960-B9F2-F5F79FDC2B1F}" type="presParOf" srcId="{90A58268-FD5F-430B-8E2D-49B23321BA4B}" destId="{88DED00B-56DE-4F28-A347-6A5A1268B547}" srcOrd="6" destOrd="0" presId="urn:microsoft.com/office/officeart/2005/8/layout/hierarchy3"/>
    <dgm:cxn modelId="{D1D94FAF-EFD8-4DE6-8F85-E86B607DB530}" type="presParOf" srcId="{90A58268-FD5F-430B-8E2D-49B23321BA4B}" destId="{C1539FB4-B6F3-4C07-9698-7A1961CE1A55}" srcOrd="7" destOrd="0" presId="urn:microsoft.com/office/officeart/2005/8/layout/hierarchy3"/>
    <dgm:cxn modelId="{434AFCB6-C283-46F1-A699-74A08461A774}" type="presParOf" srcId="{ACF54ED7-A5FA-4EBD-8D44-38054EF5D53C}" destId="{C45260BE-C8EE-4006-ABAE-0EEB328250E5}" srcOrd="2" destOrd="0" presId="urn:microsoft.com/office/officeart/2005/8/layout/hierarchy3"/>
    <dgm:cxn modelId="{934B1F0C-A892-4746-8CDF-69FBC97ABC6F}" type="presParOf" srcId="{C45260BE-C8EE-4006-ABAE-0EEB328250E5}" destId="{73993089-CDE6-4641-94BA-0C2A1D7CA779}" srcOrd="0" destOrd="0" presId="urn:microsoft.com/office/officeart/2005/8/layout/hierarchy3"/>
    <dgm:cxn modelId="{9F0598D9-8AC8-4C61-8EF5-8FDFF7E7AE66}" type="presParOf" srcId="{73993089-CDE6-4641-94BA-0C2A1D7CA779}" destId="{67BFE1B0-8DE0-4C46-83C5-34007AFBE906}" srcOrd="0" destOrd="0" presId="urn:microsoft.com/office/officeart/2005/8/layout/hierarchy3"/>
    <dgm:cxn modelId="{3F53C7FA-D8DA-4AE0-BF44-C00484703774}" type="presParOf" srcId="{73993089-CDE6-4641-94BA-0C2A1D7CA779}" destId="{3608A3BB-8DAE-4196-8AC0-49869DB1D2DA}" srcOrd="1" destOrd="0" presId="urn:microsoft.com/office/officeart/2005/8/layout/hierarchy3"/>
    <dgm:cxn modelId="{205A8BC4-61D0-4C47-BACB-1081BD2A5ED1}" type="presParOf" srcId="{C45260BE-C8EE-4006-ABAE-0EEB328250E5}" destId="{083BC37F-D74E-4B1E-AADE-BBE7CA8522BB}" srcOrd="1" destOrd="0" presId="urn:microsoft.com/office/officeart/2005/8/layout/hierarchy3"/>
    <dgm:cxn modelId="{C6433354-3AA3-4523-9737-8DF2664A5D21}" type="presParOf" srcId="{083BC37F-D74E-4B1E-AADE-BBE7CA8522BB}" destId="{977B3411-E540-42B9-828E-6CBBB2E9F2D0}" srcOrd="0" destOrd="0" presId="urn:microsoft.com/office/officeart/2005/8/layout/hierarchy3"/>
    <dgm:cxn modelId="{F660E19E-01B9-4DB8-A20A-1D9E463D3891}" type="presParOf" srcId="{083BC37F-D74E-4B1E-AADE-BBE7CA8522BB}" destId="{05200319-DDA9-4BC4-9F3F-F286FDB8ACA3}" srcOrd="1" destOrd="0" presId="urn:microsoft.com/office/officeart/2005/8/layout/hierarchy3"/>
    <dgm:cxn modelId="{FD4A1644-9539-4156-BB30-30C53D111BEE}" type="presParOf" srcId="{083BC37F-D74E-4B1E-AADE-BBE7CA8522BB}" destId="{E8445F15-0C9B-42E8-890F-099B811C60B2}" srcOrd="2" destOrd="0" presId="urn:microsoft.com/office/officeart/2005/8/layout/hierarchy3"/>
    <dgm:cxn modelId="{70390CF2-99A8-4F0B-A7CE-3507300910F3}" type="presParOf" srcId="{083BC37F-D74E-4B1E-AADE-BBE7CA8522BB}" destId="{2827D2A2-F0F2-4FC9-A921-C9DA38AD0427}" srcOrd="3" destOrd="0" presId="urn:microsoft.com/office/officeart/2005/8/layout/hierarchy3"/>
    <dgm:cxn modelId="{1690EFD2-DED7-4F83-B779-820D7789FE99}" type="presParOf" srcId="{083BC37F-D74E-4B1E-AADE-BBE7CA8522BB}" destId="{C090DC55-AA58-40EA-B4CF-1657BF21AC50}" srcOrd="4" destOrd="0" presId="urn:microsoft.com/office/officeart/2005/8/layout/hierarchy3"/>
    <dgm:cxn modelId="{F71D67BA-6ABE-401C-9B03-A7C5174DDDAB}" type="presParOf" srcId="{083BC37F-D74E-4B1E-AADE-BBE7CA8522BB}" destId="{9E495DF1-3068-46E5-AC9B-9A0F186C0BDB}" srcOrd="5" destOrd="0" presId="urn:microsoft.com/office/officeart/2005/8/layout/hierarchy3"/>
    <dgm:cxn modelId="{4E931129-AC3B-4989-B286-FCBCC949B3EA}" type="presParOf" srcId="{ACF54ED7-A5FA-4EBD-8D44-38054EF5D53C}" destId="{70F22FE1-B52B-44D7-A16F-49F11F0CFF29}" srcOrd="3" destOrd="0" presId="urn:microsoft.com/office/officeart/2005/8/layout/hierarchy3"/>
    <dgm:cxn modelId="{63404279-FDC5-46E6-A328-8700A92A743C}" type="presParOf" srcId="{70F22FE1-B52B-44D7-A16F-49F11F0CFF29}" destId="{4AD988C4-24E1-4AFC-B220-86796E111E58}" srcOrd="0" destOrd="0" presId="urn:microsoft.com/office/officeart/2005/8/layout/hierarchy3"/>
    <dgm:cxn modelId="{B7B2A3F2-1F14-4DB3-A509-A7E436E38821}" type="presParOf" srcId="{4AD988C4-24E1-4AFC-B220-86796E111E58}" destId="{7EF54348-0182-45F1-973F-1DF4CDCC972C}" srcOrd="0" destOrd="0" presId="urn:microsoft.com/office/officeart/2005/8/layout/hierarchy3"/>
    <dgm:cxn modelId="{5EC01114-9652-4074-BBB7-9C466E44BDC5}" type="presParOf" srcId="{4AD988C4-24E1-4AFC-B220-86796E111E58}" destId="{B4673FBB-DCCF-46F3-B322-DD61187D8721}" srcOrd="1" destOrd="0" presId="urn:microsoft.com/office/officeart/2005/8/layout/hierarchy3"/>
    <dgm:cxn modelId="{CCECE45F-F0FA-46E3-A787-90CE52EDA43B}" type="presParOf" srcId="{70F22FE1-B52B-44D7-A16F-49F11F0CFF29}" destId="{69A83DA7-99B6-4654-87AA-0D8B7A51AC91}" srcOrd="1" destOrd="0" presId="urn:microsoft.com/office/officeart/2005/8/layout/hierarchy3"/>
    <dgm:cxn modelId="{DC3892CF-1D13-4925-B9D6-9BCBF6D93729}" type="presParOf" srcId="{69A83DA7-99B6-4654-87AA-0D8B7A51AC91}" destId="{6ED3C36D-D839-44B1-9BEC-3B595480F14A}" srcOrd="0" destOrd="0" presId="urn:microsoft.com/office/officeart/2005/8/layout/hierarchy3"/>
    <dgm:cxn modelId="{099FDB23-E3EB-4EFF-BD26-B2CCA9CD4618}" type="presParOf" srcId="{69A83DA7-99B6-4654-87AA-0D8B7A51AC91}" destId="{8DC63758-40AD-4CC3-AAED-0E07E1A3C180}" srcOrd="1" destOrd="0" presId="urn:microsoft.com/office/officeart/2005/8/layout/hierarchy3"/>
    <dgm:cxn modelId="{425B8769-DF6C-4254-9E64-BCDB0DF4013A}" type="presParOf" srcId="{69A83DA7-99B6-4654-87AA-0D8B7A51AC91}" destId="{019F5BF0-6526-4A0E-9440-3AD8B5EFBD5D}" srcOrd="2" destOrd="0" presId="urn:microsoft.com/office/officeart/2005/8/layout/hierarchy3"/>
    <dgm:cxn modelId="{3DF47A69-020C-470F-86E5-7ADFF00C7943}" type="presParOf" srcId="{69A83DA7-99B6-4654-87AA-0D8B7A51AC91}" destId="{18C2CD34-AA03-4DFE-B1C1-8ACEA1F6A86D}" srcOrd="3" destOrd="0" presId="urn:microsoft.com/office/officeart/2005/8/layout/hierarchy3"/>
    <dgm:cxn modelId="{736948C6-AD8D-4E31-B83A-FF0265423E46}" type="presParOf" srcId="{69A83DA7-99B6-4654-87AA-0D8B7A51AC91}" destId="{9E5ED1C6-33E1-47F3-93D8-97002990AB1A}" srcOrd="4" destOrd="0" presId="urn:microsoft.com/office/officeart/2005/8/layout/hierarchy3"/>
    <dgm:cxn modelId="{FC88BF2C-EC9A-489B-A4A8-542F971FA820}" type="presParOf" srcId="{69A83DA7-99B6-4654-87AA-0D8B7A51AC91}" destId="{4BCA55A8-F01F-49A5-BA81-B90526F3E90D}" srcOrd="5" destOrd="0" presId="urn:microsoft.com/office/officeart/2005/8/layout/hierarchy3"/>
    <dgm:cxn modelId="{4FC94B83-8709-4C35-9792-2442DF248BC3}" type="presParOf" srcId="{ACF54ED7-A5FA-4EBD-8D44-38054EF5D53C}" destId="{5C8D55F4-8CC1-4C15-9E42-DAEB4F86A344}" srcOrd="4" destOrd="0" presId="urn:microsoft.com/office/officeart/2005/8/layout/hierarchy3"/>
    <dgm:cxn modelId="{EE6320BA-EDB1-4600-ABBC-7A892062C830}" type="presParOf" srcId="{5C8D55F4-8CC1-4C15-9E42-DAEB4F86A344}" destId="{C97930CC-ABB1-4EEE-8428-AE742AF3CBE1}" srcOrd="0" destOrd="0" presId="urn:microsoft.com/office/officeart/2005/8/layout/hierarchy3"/>
    <dgm:cxn modelId="{822459DC-E796-4198-B648-BB6348A2F9FA}" type="presParOf" srcId="{C97930CC-ABB1-4EEE-8428-AE742AF3CBE1}" destId="{7AF4D941-32D9-4291-9AA2-F8929F392665}" srcOrd="0" destOrd="0" presId="urn:microsoft.com/office/officeart/2005/8/layout/hierarchy3"/>
    <dgm:cxn modelId="{5FA3E702-A1DD-4C36-8B4A-0A9EF19E1642}" type="presParOf" srcId="{C97930CC-ABB1-4EEE-8428-AE742AF3CBE1}" destId="{B6C7DE1F-2758-4C34-BB2C-357360D7EBD2}" srcOrd="1" destOrd="0" presId="urn:microsoft.com/office/officeart/2005/8/layout/hierarchy3"/>
    <dgm:cxn modelId="{0273E606-A3A8-4303-ABDD-81086C008472}" type="presParOf" srcId="{5C8D55F4-8CC1-4C15-9E42-DAEB4F86A344}" destId="{A1CCD433-1737-4009-A3B9-F692C21C8EAF}" srcOrd="1" destOrd="0" presId="urn:microsoft.com/office/officeart/2005/8/layout/hierarchy3"/>
    <dgm:cxn modelId="{5268DCDB-984C-45E8-8EE9-C9A1AF0E6F55}" type="presParOf" srcId="{A1CCD433-1737-4009-A3B9-F692C21C8EAF}" destId="{D7E64A3E-9340-4A92-98D4-CEB7A2252265}" srcOrd="0" destOrd="0" presId="urn:microsoft.com/office/officeart/2005/8/layout/hierarchy3"/>
    <dgm:cxn modelId="{1F1D2481-F9BF-48AD-9D62-50877B14DC93}" type="presParOf" srcId="{A1CCD433-1737-4009-A3B9-F692C21C8EAF}" destId="{D89352FB-F5B1-4404-996C-32A4CB1D7DB8}" srcOrd="1" destOrd="0" presId="urn:microsoft.com/office/officeart/2005/8/layout/hierarchy3"/>
    <dgm:cxn modelId="{62330628-CFA4-4CEA-8E5C-AC110583B9A6}" type="presParOf" srcId="{A1CCD433-1737-4009-A3B9-F692C21C8EAF}" destId="{5EB1C6E6-12A5-437A-9BB1-2DBDC7D2FAAB}" srcOrd="2" destOrd="0" presId="urn:microsoft.com/office/officeart/2005/8/layout/hierarchy3"/>
    <dgm:cxn modelId="{D2D56E1E-032F-45F3-AF0B-9DB5FFD6A202}" type="presParOf" srcId="{A1CCD433-1737-4009-A3B9-F692C21C8EAF}" destId="{26A4C0C7-CD32-4724-B921-A1E30583EDDF}" srcOrd="3" destOrd="0" presId="urn:microsoft.com/office/officeart/2005/8/layout/hierarchy3"/>
    <dgm:cxn modelId="{F1059677-E744-4A45-86B0-204EA289D974}" type="presParOf" srcId="{A1CCD433-1737-4009-A3B9-F692C21C8EAF}" destId="{DA61CA4D-EEA7-4CC8-9CBE-C87E733CC815}" srcOrd="4" destOrd="0" presId="urn:microsoft.com/office/officeart/2005/8/layout/hierarchy3"/>
    <dgm:cxn modelId="{36F839DC-1576-4DC0-87F0-29C371698FEC}" type="presParOf" srcId="{A1CCD433-1737-4009-A3B9-F692C21C8EAF}" destId="{10B8C4B5-399A-4A66-AE34-6D861D8F188A}" srcOrd="5"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12572A-4495-4B86-86F4-504FC645C9B7}">
      <dsp:nvSpPr>
        <dsp:cNvPr id="0" name=""/>
        <dsp:cNvSpPr/>
      </dsp:nvSpPr>
      <dsp:spPr>
        <a:xfrm>
          <a:off x="215475" y="295021"/>
          <a:ext cx="1829692" cy="9148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t>KULLANICI KATMANI (Client Interface)</a:t>
          </a:r>
          <a:endParaRPr lang="en-US" sz="1800" kern="1200" dirty="0"/>
        </a:p>
      </dsp:txBody>
      <dsp:txXfrm>
        <a:off x="242270" y="321816"/>
        <a:ext cx="1776102" cy="861256"/>
      </dsp:txXfrm>
    </dsp:sp>
    <dsp:sp modelId="{14A6C5CF-CF75-45BC-8FF6-4A20A4517935}">
      <dsp:nvSpPr>
        <dsp:cNvPr id="0" name=""/>
        <dsp:cNvSpPr/>
      </dsp:nvSpPr>
      <dsp:spPr>
        <a:xfrm>
          <a:off x="398444" y="1209868"/>
          <a:ext cx="316445" cy="1353579"/>
        </a:xfrm>
        <a:custGeom>
          <a:avLst/>
          <a:gdLst/>
          <a:ahLst/>
          <a:cxnLst/>
          <a:rect l="0" t="0" r="0" b="0"/>
          <a:pathLst>
            <a:path>
              <a:moveTo>
                <a:pt x="0" y="0"/>
              </a:moveTo>
              <a:lnTo>
                <a:pt x="0" y="1353579"/>
              </a:lnTo>
              <a:lnTo>
                <a:pt x="316445" y="135357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002F7E-A97B-43A7-81BF-19D7026C8167}">
      <dsp:nvSpPr>
        <dsp:cNvPr id="0" name=""/>
        <dsp:cNvSpPr/>
      </dsp:nvSpPr>
      <dsp:spPr>
        <a:xfrm>
          <a:off x="714890" y="2106024"/>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Veri Girişi (Boyutlar, Miktarlar)</a:t>
          </a:r>
          <a:endParaRPr lang="en-US" sz="1200" kern="1200"/>
        </a:p>
      </dsp:txBody>
      <dsp:txXfrm>
        <a:off x="741685" y="2132819"/>
        <a:ext cx="1410164" cy="861256"/>
      </dsp:txXfrm>
    </dsp:sp>
    <dsp:sp modelId="{DB3631A0-6A13-4BDB-A28C-0C732C1216A6}">
      <dsp:nvSpPr>
        <dsp:cNvPr id="0" name=""/>
        <dsp:cNvSpPr/>
      </dsp:nvSpPr>
      <dsp:spPr>
        <a:xfrm>
          <a:off x="398444" y="1209868"/>
          <a:ext cx="316445" cy="2497137"/>
        </a:xfrm>
        <a:custGeom>
          <a:avLst/>
          <a:gdLst/>
          <a:ahLst/>
          <a:cxnLst/>
          <a:rect l="0" t="0" r="0" b="0"/>
          <a:pathLst>
            <a:path>
              <a:moveTo>
                <a:pt x="0" y="0"/>
              </a:moveTo>
              <a:lnTo>
                <a:pt x="0" y="2497137"/>
              </a:lnTo>
              <a:lnTo>
                <a:pt x="316445" y="249713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BFB111-153B-4451-9DF6-3964C58D4BAA}">
      <dsp:nvSpPr>
        <dsp:cNvPr id="0" name=""/>
        <dsp:cNvSpPr/>
      </dsp:nvSpPr>
      <dsp:spPr>
        <a:xfrm>
          <a:off x="714890" y="3249582"/>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just" defTabSz="533400">
            <a:lnSpc>
              <a:spcPct val="90000"/>
            </a:lnSpc>
            <a:spcBef>
              <a:spcPct val="0"/>
            </a:spcBef>
            <a:spcAft>
              <a:spcPct val="35000"/>
            </a:spcAft>
            <a:buFont typeface="Arial" panose="020B0604020202020204" pitchFamily="34" charset="0"/>
            <a:buNone/>
          </a:pPr>
          <a:r>
            <a:rPr lang="en-US" sz="1200" b="0" i="0" kern="1200"/>
            <a:t>Algoritma Seçimi (GA, Best-Fit)</a:t>
          </a:r>
          <a:endParaRPr lang="en-US" sz="1200" kern="1200"/>
        </a:p>
      </dsp:txBody>
      <dsp:txXfrm>
        <a:off x="741685" y="3276377"/>
        <a:ext cx="1410164" cy="861256"/>
      </dsp:txXfrm>
    </dsp:sp>
    <dsp:sp modelId="{F64265DB-A620-4ED3-AFBF-89E8AE61B07A}">
      <dsp:nvSpPr>
        <dsp:cNvPr id="0" name=""/>
        <dsp:cNvSpPr/>
      </dsp:nvSpPr>
      <dsp:spPr>
        <a:xfrm>
          <a:off x="398444" y="1209868"/>
          <a:ext cx="342192" cy="3604467"/>
        </a:xfrm>
        <a:custGeom>
          <a:avLst/>
          <a:gdLst/>
          <a:ahLst/>
          <a:cxnLst/>
          <a:rect l="0" t="0" r="0" b="0"/>
          <a:pathLst>
            <a:path>
              <a:moveTo>
                <a:pt x="0" y="0"/>
              </a:moveTo>
              <a:lnTo>
                <a:pt x="0" y="3604467"/>
              </a:lnTo>
              <a:lnTo>
                <a:pt x="342192" y="36044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D4ACFB-32E2-4491-B42E-B91504467552}">
      <dsp:nvSpPr>
        <dsp:cNvPr id="0" name=""/>
        <dsp:cNvSpPr/>
      </dsp:nvSpPr>
      <dsp:spPr>
        <a:xfrm>
          <a:off x="740637" y="4356912"/>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mj-lt"/>
            <a:buNone/>
          </a:pPr>
          <a:r>
            <a:rPr lang="en-US" sz="1200" b="0" i="0" kern="1200"/>
            <a:t>Tetikleyici: "Hesapla" Butonu</a:t>
          </a:r>
          <a:endParaRPr lang="en-US" sz="1200" kern="1200"/>
        </a:p>
      </dsp:txBody>
      <dsp:txXfrm>
        <a:off x="767432" y="4383707"/>
        <a:ext cx="1410164" cy="861256"/>
      </dsp:txXfrm>
    </dsp:sp>
    <dsp:sp modelId="{6720C755-A343-4C30-87AF-44739BA942BC}">
      <dsp:nvSpPr>
        <dsp:cNvPr id="0" name=""/>
        <dsp:cNvSpPr/>
      </dsp:nvSpPr>
      <dsp:spPr>
        <a:xfrm>
          <a:off x="2398994" y="311132"/>
          <a:ext cx="1863578" cy="10211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t>ANA İŞ PARÇACIĞI (Main Thread)</a:t>
          </a:r>
          <a:endParaRPr lang="en-US" sz="1800" kern="1200" dirty="0"/>
        </a:p>
      </dsp:txBody>
      <dsp:txXfrm>
        <a:off x="2428902" y="341040"/>
        <a:ext cx="1803762" cy="961308"/>
      </dsp:txXfrm>
    </dsp:sp>
    <dsp:sp modelId="{332BB4A0-AA76-4261-9EED-D8E00A8FA72D}">
      <dsp:nvSpPr>
        <dsp:cNvPr id="0" name=""/>
        <dsp:cNvSpPr/>
      </dsp:nvSpPr>
      <dsp:spPr>
        <a:xfrm>
          <a:off x="2585352" y="1332256"/>
          <a:ext cx="230230" cy="1013247"/>
        </a:xfrm>
        <a:custGeom>
          <a:avLst/>
          <a:gdLst/>
          <a:ahLst/>
          <a:cxnLst/>
          <a:rect l="0" t="0" r="0" b="0"/>
          <a:pathLst>
            <a:path>
              <a:moveTo>
                <a:pt x="0" y="0"/>
              </a:moveTo>
              <a:lnTo>
                <a:pt x="0" y="1013247"/>
              </a:lnTo>
              <a:lnTo>
                <a:pt x="230230" y="101324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2D8CD1-3F12-4B0F-9E08-6879C1D7E3FA}">
      <dsp:nvSpPr>
        <dsp:cNvPr id="0" name=""/>
        <dsp:cNvSpPr/>
      </dsp:nvSpPr>
      <dsp:spPr>
        <a:xfrm>
          <a:off x="2815582" y="1888080"/>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UI State Güncellemesi ("Hesaplanıyor...")</a:t>
          </a:r>
          <a:endParaRPr lang="en-US" sz="1200" kern="1200"/>
        </a:p>
      </dsp:txBody>
      <dsp:txXfrm>
        <a:off x="2842377" y="1914875"/>
        <a:ext cx="1410164" cy="861256"/>
      </dsp:txXfrm>
    </dsp:sp>
    <dsp:sp modelId="{ECC9EC8B-35F1-4BCA-9EC3-80DB20D24CC9}">
      <dsp:nvSpPr>
        <dsp:cNvPr id="0" name=""/>
        <dsp:cNvSpPr/>
      </dsp:nvSpPr>
      <dsp:spPr>
        <a:xfrm>
          <a:off x="2585352" y="1332256"/>
          <a:ext cx="212826" cy="2179484"/>
        </a:xfrm>
        <a:custGeom>
          <a:avLst/>
          <a:gdLst/>
          <a:ahLst/>
          <a:cxnLst/>
          <a:rect l="0" t="0" r="0" b="0"/>
          <a:pathLst>
            <a:path>
              <a:moveTo>
                <a:pt x="0" y="0"/>
              </a:moveTo>
              <a:lnTo>
                <a:pt x="0" y="2179484"/>
              </a:lnTo>
              <a:lnTo>
                <a:pt x="212826" y="21794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FA4CF2-5FF2-4348-A56E-757B970C04E2}">
      <dsp:nvSpPr>
        <dsp:cNvPr id="0" name=""/>
        <dsp:cNvSpPr/>
      </dsp:nvSpPr>
      <dsp:spPr>
        <a:xfrm>
          <a:off x="2798178" y="3054317"/>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Veri Paketleme (JSON Serialization)</a:t>
          </a:r>
          <a:endParaRPr lang="en-US" sz="1200" kern="1200"/>
        </a:p>
      </dsp:txBody>
      <dsp:txXfrm>
        <a:off x="2824973" y="3081112"/>
        <a:ext cx="1410164" cy="861256"/>
      </dsp:txXfrm>
    </dsp:sp>
    <dsp:sp modelId="{C7992435-CDDD-4A2D-BF11-318B92F95511}">
      <dsp:nvSpPr>
        <dsp:cNvPr id="0" name=""/>
        <dsp:cNvSpPr/>
      </dsp:nvSpPr>
      <dsp:spPr>
        <a:xfrm>
          <a:off x="2585352" y="1332256"/>
          <a:ext cx="242950" cy="3340662"/>
        </a:xfrm>
        <a:custGeom>
          <a:avLst/>
          <a:gdLst/>
          <a:ahLst/>
          <a:cxnLst/>
          <a:rect l="0" t="0" r="0" b="0"/>
          <a:pathLst>
            <a:path>
              <a:moveTo>
                <a:pt x="0" y="0"/>
              </a:moveTo>
              <a:lnTo>
                <a:pt x="0" y="3340662"/>
              </a:lnTo>
              <a:lnTo>
                <a:pt x="242950" y="334066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2C5127-5CFA-4143-BFB4-4ABBEADB4A20}">
      <dsp:nvSpPr>
        <dsp:cNvPr id="0" name=""/>
        <dsp:cNvSpPr/>
      </dsp:nvSpPr>
      <dsp:spPr>
        <a:xfrm>
          <a:off x="2828302" y="4215495"/>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mj-lt"/>
            <a:buNone/>
          </a:pPr>
          <a:r>
            <a:rPr lang="en-US" sz="1200" b="0" i="0" kern="1200"/>
            <a:t>Worker Başlatma (new Worker)</a:t>
          </a:r>
          <a:endParaRPr lang="en-US" sz="1200" kern="1200"/>
        </a:p>
      </dsp:txBody>
      <dsp:txXfrm>
        <a:off x="2855097" y="4242290"/>
        <a:ext cx="1410164" cy="861256"/>
      </dsp:txXfrm>
    </dsp:sp>
    <dsp:sp modelId="{88DED00B-56DE-4F28-A347-6A5A1268B547}">
      <dsp:nvSpPr>
        <dsp:cNvPr id="0" name=""/>
        <dsp:cNvSpPr/>
      </dsp:nvSpPr>
      <dsp:spPr>
        <a:xfrm>
          <a:off x="2585352" y="1332256"/>
          <a:ext cx="287272" cy="4434242"/>
        </a:xfrm>
        <a:custGeom>
          <a:avLst/>
          <a:gdLst/>
          <a:ahLst/>
          <a:cxnLst/>
          <a:rect l="0" t="0" r="0" b="0"/>
          <a:pathLst>
            <a:path>
              <a:moveTo>
                <a:pt x="0" y="0"/>
              </a:moveTo>
              <a:lnTo>
                <a:pt x="0" y="4434242"/>
              </a:lnTo>
              <a:lnTo>
                <a:pt x="287272" y="443424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539FB4-B6F3-4C07-9698-7A1961CE1A55}">
      <dsp:nvSpPr>
        <dsp:cNvPr id="0" name=""/>
        <dsp:cNvSpPr/>
      </dsp:nvSpPr>
      <dsp:spPr>
        <a:xfrm>
          <a:off x="2872625" y="5309075"/>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a:t>SİSTEM ÇALIŞMA MİMARİSİ</a:t>
          </a:r>
          <a:endParaRPr lang="en-US" sz="1200" kern="1200"/>
        </a:p>
      </dsp:txBody>
      <dsp:txXfrm>
        <a:off x="2899420" y="5335870"/>
        <a:ext cx="1410164" cy="861256"/>
      </dsp:txXfrm>
    </dsp:sp>
    <dsp:sp modelId="{67BFE1B0-8DE0-4C46-83C5-34007AFBE906}">
      <dsp:nvSpPr>
        <dsp:cNvPr id="0" name=""/>
        <dsp:cNvSpPr/>
      </dsp:nvSpPr>
      <dsp:spPr>
        <a:xfrm>
          <a:off x="9036223" y="328569"/>
          <a:ext cx="1789732" cy="101562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t>GÖRSELLEŞTİRME (Three.js)</a:t>
          </a:r>
          <a:endParaRPr lang="en-US" sz="1800" kern="1200"/>
        </a:p>
      </dsp:txBody>
      <dsp:txXfrm>
        <a:off x="9065970" y="358316"/>
        <a:ext cx="1730238" cy="956131"/>
      </dsp:txXfrm>
    </dsp:sp>
    <dsp:sp modelId="{977B3411-E540-42B9-828E-6CBBB2E9F2D0}">
      <dsp:nvSpPr>
        <dsp:cNvPr id="0" name=""/>
        <dsp:cNvSpPr/>
      </dsp:nvSpPr>
      <dsp:spPr>
        <a:xfrm>
          <a:off x="9215197" y="1344195"/>
          <a:ext cx="195638" cy="642359"/>
        </a:xfrm>
        <a:custGeom>
          <a:avLst/>
          <a:gdLst/>
          <a:ahLst/>
          <a:cxnLst/>
          <a:rect l="0" t="0" r="0" b="0"/>
          <a:pathLst>
            <a:path>
              <a:moveTo>
                <a:pt x="0" y="0"/>
              </a:moveTo>
              <a:lnTo>
                <a:pt x="0" y="642359"/>
              </a:lnTo>
              <a:lnTo>
                <a:pt x="195638" y="64235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200319-DDA9-4BC4-9F3F-F286FDB8ACA3}">
      <dsp:nvSpPr>
        <dsp:cNvPr id="0" name=""/>
        <dsp:cNvSpPr/>
      </dsp:nvSpPr>
      <dsp:spPr>
        <a:xfrm>
          <a:off x="9410835" y="1529131"/>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a:t>Scene Graph Oluşturma</a:t>
          </a:r>
          <a:endParaRPr lang="en-US" sz="1200" kern="1200"/>
        </a:p>
      </dsp:txBody>
      <dsp:txXfrm>
        <a:off x="9437630" y="1555926"/>
        <a:ext cx="1410164" cy="861256"/>
      </dsp:txXfrm>
    </dsp:sp>
    <dsp:sp modelId="{E8445F15-0C9B-42E8-890F-099B811C60B2}">
      <dsp:nvSpPr>
        <dsp:cNvPr id="0" name=""/>
        <dsp:cNvSpPr/>
      </dsp:nvSpPr>
      <dsp:spPr>
        <a:xfrm>
          <a:off x="9215197" y="1344195"/>
          <a:ext cx="278603" cy="1816400"/>
        </a:xfrm>
        <a:custGeom>
          <a:avLst/>
          <a:gdLst/>
          <a:ahLst/>
          <a:cxnLst/>
          <a:rect l="0" t="0" r="0" b="0"/>
          <a:pathLst>
            <a:path>
              <a:moveTo>
                <a:pt x="0" y="0"/>
              </a:moveTo>
              <a:lnTo>
                <a:pt x="0" y="1816400"/>
              </a:lnTo>
              <a:lnTo>
                <a:pt x="278603" y="181640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27D2A2-F0F2-4FC9-A921-C9DA38AD0427}">
      <dsp:nvSpPr>
        <dsp:cNvPr id="0" name=""/>
        <dsp:cNvSpPr/>
      </dsp:nvSpPr>
      <dsp:spPr>
        <a:xfrm>
          <a:off x="9493800" y="2703172"/>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Mesh Instance'ların Render Edilmesi</a:t>
          </a:r>
          <a:endParaRPr lang="en-US" sz="1200" kern="1200"/>
        </a:p>
      </dsp:txBody>
      <dsp:txXfrm>
        <a:off x="9520595" y="2729967"/>
        <a:ext cx="1410164" cy="861256"/>
      </dsp:txXfrm>
    </dsp:sp>
    <dsp:sp modelId="{C090DC55-AA58-40EA-B4CF-1657BF21AC50}">
      <dsp:nvSpPr>
        <dsp:cNvPr id="0" name=""/>
        <dsp:cNvSpPr/>
      </dsp:nvSpPr>
      <dsp:spPr>
        <a:xfrm>
          <a:off x="9215197" y="1344195"/>
          <a:ext cx="264156" cy="3062750"/>
        </a:xfrm>
        <a:custGeom>
          <a:avLst/>
          <a:gdLst/>
          <a:ahLst/>
          <a:cxnLst/>
          <a:rect l="0" t="0" r="0" b="0"/>
          <a:pathLst>
            <a:path>
              <a:moveTo>
                <a:pt x="0" y="0"/>
              </a:moveTo>
              <a:lnTo>
                <a:pt x="0" y="3062750"/>
              </a:lnTo>
              <a:lnTo>
                <a:pt x="264156" y="306275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495DF1-3068-46E5-AC9B-9A0F186C0BDB}">
      <dsp:nvSpPr>
        <dsp:cNvPr id="0" name=""/>
        <dsp:cNvSpPr/>
      </dsp:nvSpPr>
      <dsp:spPr>
        <a:xfrm>
          <a:off x="9479353" y="3949522"/>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Kullanıcı Etkileşimi (OrbitControls, Zoom, Pan)</a:t>
          </a:r>
          <a:endParaRPr lang="en-US" sz="1200" kern="1200"/>
        </a:p>
      </dsp:txBody>
      <dsp:txXfrm>
        <a:off x="9506148" y="3976317"/>
        <a:ext cx="1410164" cy="861256"/>
      </dsp:txXfrm>
    </dsp:sp>
    <dsp:sp modelId="{7EF54348-0182-45F1-973F-1DF4CDCC972C}">
      <dsp:nvSpPr>
        <dsp:cNvPr id="0" name=""/>
        <dsp:cNvSpPr/>
      </dsp:nvSpPr>
      <dsp:spPr>
        <a:xfrm>
          <a:off x="4659067" y="297253"/>
          <a:ext cx="1829692" cy="9148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t>ARKA PLAN İŞLEMİ (Web Worker)</a:t>
          </a:r>
          <a:endParaRPr lang="en-US" sz="1800" kern="1200" dirty="0"/>
        </a:p>
      </dsp:txBody>
      <dsp:txXfrm>
        <a:off x="4685862" y="324048"/>
        <a:ext cx="1776102" cy="861256"/>
      </dsp:txXfrm>
    </dsp:sp>
    <dsp:sp modelId="{6ED3C36D-D839-44B1-9BEC-3B595480F14A}">
      <dsp:nvSpPr>
        <dsp:cNvPr id="0" name=""/>
        <dsp:cNvSpPr/>
      </dsp:nvSpPr>
      <dsp:spPr>
        <a:xfrm>
          <a:off x="4842037" y="1212100"/>
          <a:ext cx="247941" cy="1026540"/>
        </a:xfrm>
        <a:custGeom>
          <a:avLst/>
          <a:gdLst/>
          <a:ahLst/>
          <a:cxnLst/>
          <a:rect l="0" t="0" r="0" b="0"/>
          <a:pathLst>
            <a:path>
              <a:moveTo>
                <a:pt x="0" y="0"/>
              </a:moveTo>
              <a:lnTo>
                <a:pt x="0" y="1026540"/>
              </a:lnTo>
              <a:lnTo>
                <a:pt x="247941" y="102654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C63758-40AD-4CC3-AAED-0E07E1A3C180}">
      <dsp:nvSpPr>
        <dsp:cNvPr id="0" name=""/>
        <dsp:cNvSpPr/>
      </dsp:nvSpPr>
      <dsp:spPr>
        <a:xfrm>
          <a:off x="5089978" y="1781217"/>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Queue: Veriyi Al</a:t>
          </a:r>
          <a:endParaRPr lang="en-US" sz="1200" kern="1200"/>
        </a:p>
      </dsp:txBody>
      <dsp:txXfrm>
        <a:off x="5116773" y="1808012"/>
        <a:ext cx="1410164" cy="861256"/>
      </dsp:txXfrm>
    </dsp:sp>
    <dsp:sp modelId="{019F5BF0-6526-4A0E-9440-3AD8B5EFBD5D}">
      <dsp:nvSpPr>
        <dsp:cNvPr id="0" name=""/>
        <dsp:cNvSpPr/>
      </dsp:nvSpPr>
      <dsp:spPr>
        <a:xfrm>
          <a:off x="4842037" y="1212100"/>
          <a:ext cx="200208" cy="2311149"/>
        </a:xfrm>
        <a:custGeom>
          <a:avLst/>
          <a:gdLst/>
          <a:ahLst/>
          <a:cxnLst/>
          <a:rect l="0" t="0" r="0" b="0"/>
          <a:pathLst>
            <a:path>
              <a:moveTo>
                <a:pt x="0" y="0"/>
              </a:moveTo>
              <a:lnTo>
                <a:pt x="0" y="2311149"/>
              </a:lnTo>
              <a:lnTo>
                <a:pt x="200208" y="231114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C2CD34-AA03-4DFE-B1C1-8ACEA1F6A86D}">
      <dsp:nvSpPr>
        <dsp:cNvPr id="0" name=""/>
        <dsp:cNvSpPr/>
      </dsp:nvSpPr>
      <dsp:spPr>
        <a:xfrm>
          <a:off x="5042245" y="3065826"/>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0" i="0" kern="1200"/>
            <a:t>Core Logic: Optimizasyon Döngüsü</a:t>
          </a:r>
          <a:endParaRPr lang="en-US" sz="1200" kern="1200"/>
        </a:p>
      </dsp:txBody>
      <dsp:txXfrm>
        <a:off x="5069040" y="3092621"/>
        <a:ext cx="1410164" cy="861256"/>
      </dsp:txXfrm>
    </dsp:sp>
    <dsp:sp modelId="{9E5ED1C6-33E1-47F3-93D8-97002990AB1A}">
      <dsp:nvSpPr>
        <dsp:cNvPr id="0" name=""/>
        <dsp:cNvSpPr/>
      </dsp:nvSpPr>
      <dsp:spPr>
        <a:xfrm>
          <a:off x="4842037" y="1212100"/>
          <a:ext cx="164068" cy="3487257"/>
        </a:xfrm>
        <a:custGeom>
          <a:avLst/>
          <a:gdLst/>
          <a:ahLst/>
          <a:cxnLst/>
          <a:rect l="0" t="0" r="0" b="0"/>
          <a:pathLst>
            <a:path>
              <a:moveTo>
                <a:pt x="0" y="0"/>
              </a:moveTo>
              <a:lnTo>
                <a:pt x="0" y="3487257"/>
              </a:lnTo>
              <a:lnTo>
                <a:pt x="164068" y="348725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CA55A8-F01F-49A5-BA81-B90526F3E90D}">
      <dsp:nvSpPr>
        <dsp:cNvPr id="0" name=""/>
        <dsp:cNvSpPr/>
      </dsp:nvSpPr>
      <dsp:spPr>
        <a:xfrm>
          <a:off x="5006105" y="4241934"/>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Real-time Progress: İlerleme Yüzdesi Raporla</a:t>
          </a:r>
          <a:endParaRPr lang="en-US" sz="1200" kern="1200"/>
        </a:p>
      </dsp:txBody>
      <dsp:txXfrm>
        <a:off x="5032900" y="4268729"/>
        <a:ext cx="1410164" cy="861256"/>
      </dsp:txXfrm>
    </dsp:sp>
    <dsp:sp modelId="{7AF4D941-32D9-4291-9AA2-F8929F392665}">
      <dsp:nvSpPr>
        <dsp:cNvPr id="0" name=""/>
        <dsp:cNvSpPr/>
      </dsp:nvSpPr>
      <dsp:spPr>
        <a:xfrm>
          <a:off x="6967097" y="329959"/>
          <a:ext cx="1829692" cy="9148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t>SONUÇ İLETİMİ (Callback)</a:t>
          </a:r>
          <a:endParaRPr lang="en-US" sz="1800" kern="1200"/>
        </a:p>
      </dsp:txBody>
      <dsp:txXfrm>
        <a:off x="6993892" y="356754"/>
        <a:ext cx="1776102" cy="861256"/>
      </dsp:txXfrm>
    </dsp:sp>
    <dsp:sp modelId="{D7E64A3E-9340-4A92-98D4-CEB7A2252265}">
      <dsp:nvSpPr>
        <dsp:cNvPr id="0" name=""/>
        <dsp:cNvSpPr/>
      </dsp:nvSpPr>
      <dsp:spPr>
        <a:xfrm>
          <a:off x="7150066" y="1244806"/>
          <a:ext cx="158275" cy="996944"/>
        </a:xfrm>
        <a:custGeom>
          <a:avLst/>
          <a:gdLst/>
          <a:ahLst/>
          <a:cxnLst/>
          <a:rect l="0" t="0" r="0" b="0"/>
          <a:pathLst>
            <a:path>
              <a:moveTo>
                <a:pt x="0" y="0"/>
              </a:moveTo>
              <a:lnTo>
                <a:pt x="0" y="996944"/>
              </a:lnTo>
              <a:lnTo>
                <a:pt x="158275" y="9969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9352FB-F5B1-4404-996C-32A4CB1D7DB8}">
      <dsp:nvSpPr>
        <dsp:cNvPr id="0" name=""/>
        <dsp:cNvSpPr/>
      </dsp:nvSpPr>
      <dsp:spPr>
        <a:xfrm>
          <a:off x="7308342" y="1784327"/>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En İyi Çözümün Bulunması</a:t>
          </a:r>
          <a:endParaRPr lang="en-US" sz="1200" kern="1200"/>
        </a:p>
      </dsp:txBody>
      <dsp:txXfrm>
        <a:off x="7335137" y="1811122"/>
        <a:ext cx="1410164" cy="861256"/>
      </dsp:txXfrm>
    </dsp:sp>
    <dsp:sp modelId="{5EB1C6E6-12A5-437A-9BB1-2DBDC7D2FAAB}">
      <dsp:nvSpPr>
        <dsp:cNvPr id="0" name=""/>
        <dsp:cNvSpPr/>
      </dsp:nvSpPr>
      <dsp:spPr>
        <a:xfrm>
          <a:off x="7150066" y="1244806"/>
          <a:ext cx="171625" cy="2125261"/>
        </a:xfrm>
        <a:custGeom>
          <a:avLst/>
          <a:gdLst/>
          <a:ahLst/>
          <a:cxnLst/>
          <a:rect l="0" t="0" r="0" b="0"/>
          <a:pathLst>
            <a:path>
              <a:moveTo>
                <a:pt x="0" y="0"/>
              </a:moveTo>
              <a:lnTo>
                <a:pt x="0" y="2125261"/>
              </a:lnTo>
              <a:lnTo>
                <a:pt x="171625" y="21252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A4C0C7-CD32-4724-B921-A1E30583EDDF}">
      <dsp:nvSpPr>
        <dsp:cNvPr id="0" name=""/>
        <dsp:cNvSpPr/>
      </dsp:nvSpPr>
      <dsp:spPr>
        <a:xfrm>
          <a:off x="7321691" y="2912644"/>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PackedItem Listesi Oluşturma</a:t>
          </a:r>
          <a:endParaRPr lang="en-US" sz="1200" kern="1200"/>
        </a:p>
      </dsp:txBody>
      <dsp:txXfrm>
        <a:off x="7348486" y="2939439"/>
        <a:ext cx="1410164" cy="861256"/>
      </dsp:txXfrm>
    </dsp:sp>
    <dsp:sp modelId="{DA61CA4D-EEA7-4CC8-9CBE-C87E733CC815}">
      <dsp:nvSpPr>
        <dsp:cNvPr id="0" name=""/>
        <dsp:cNvSpPr/>
      </dsp:nvSpPr>
      <dsp:spPr>
        <a:xfrm>
          <a:off x="7150066" y="1244806"/>
          <a:ext cx="177289" cy="3248016"/>
        </a:xfrm>
        <a:custGeom>
          <a:avLst/>
          <a:gdLst/>
          <a:ahLst/>
          <a:cxnLst/>
          <a:rect l="0" t="0" r="0" b="0"/>
          <a:pathLst>
            <a:path>
              <a:moveTo>
                <a:pt x="0" y="0"/>
              </a:moveTo>
              <a:lnTo>
                <a:pt x="0" y="3248016"/>
              </a:lnTo>
              <a:lnTo>
                <a:pt x="177289" y="324801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B8C4B5-399A-4A66-AE34-6D861D8F188A}">
      <dsp:nvSpPr>
        <dsp:cNvPr id="0" name=""/>
        <dsp:cNvSpPr/>
      </dsp:nvSpPr>
      <dsp:spPr>
        <a:xfrm>
          <a:off x="7327356" y="4035398"/>
          <a:ext cx="1463754" cy="9148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b="0" i="0" kern="1200"/>
            <a:t>postMessage(Result) ile İletim</a:t>
          </a:r>
          <a:endParaRPr lang="en-US" sz="1200" kern="1200"/>
        </a:p>
      </dsp:txBody>
      <dsp:txXfrm>
        <a:off x="7354151" y="4062193"/>
        <a:ext cx="1410164" cy="8612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BA81A-9CEA-4088-8BE1-3CBB8AC5C3BE}" type="datetimeFigureOut">
              <a:rPr lang="tr-TR" smtClean="0"/>
              <a:t>20.01.2026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872ECC-9ADF-4B53-82FC-298EC6DE05FD}" type="slidenum">
              <a:rPr lang="tr-TR" smtClean="0"/>
              <a:t>‹#›</a:t>
            </a:fld>
            <a:endParaRPr lang="tr-TR"/>
          </a:p>
        </p:txBody>
      </p:sp>
    </p:spTree>
    <p:extLst>
      <p:ext uri="{BB962C8B-B14F-4D97-AF65-F5344CB8AC3E}">
        <p14:creationId xmlns:p14="http://schemas.microsoft.com/office/powerpoint/2010/main" val="295829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B872ECC-9ADF-4B53-82FC-298EC6DE05FD}" type="slidenum">
              <a:rPr lang="tr-TR" smtClean="0"/>
              <a:t>14</a:t>
            </a:fld>
            <a:endParaRPr lang="tr-TR"/>
          </a:p>
        </p:txBody>
      </p:sp>
    </p:spTree>
    <p:extLst>
      <p:ext uri="{BB962C8B-B14F-4D97-AF65-F5344CB8AC3E}">
        <p14:creationId xmlns:p14="http://schemas.microsoft.com/office/powerpoint/2010/main" val="679481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9BB77-E486-1EEB-9799-F37B65AFC60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817E99D-5ACD-9F2D-7898-7B9B14815C7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289CB89-EBBA-2FC6-3D66-030E75A9AE2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C770B7E-9BDC-86D0-F55D-2DB1E3403F19}"/>
              </a:ext>
            </a:extLst>
          </p:cNvPr>
          <p:cNvSpPr>
            <a:spLocks noGrp="1"/>
          </p:cNvSpPr>
          <p:nvPr>
            <p:ph type="sldNum" sz="quarter" idx="5"/>
          </p:nvPr>
        </p:nvSpPr>
        <p:spPr/>
        <p:txBody>
          <a:bodyPr/>
          <a:lstStyle/>
          <a:p>
            <a:fld id="{4B872ECC-9ADF-4B53-82FC-298EC6DE05FD}" type="slidenum">
              <a:rPr lang="tr-TR" smtClean="0"/>
              <a:t>15</a:t>
            </a:fld>
            <a:endParaRPr lang="tr-TR"/>
          </a:p>
        </p:txBody>
      </p:sp>
    </p:spTree>
    <p:extLst>
      <p:ext uri="{BB962C8B-B14F-4D97-AF65-F5344CB8AC3E}">
        <p14:creationId xmlns:p14="http://schemas.microsoft.com/office/powerpoint/2010/main" val="1602877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BF16-3218-F95C-94E4-8F135493198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8545C48-C5A5-A6FD-2534-35CDCDA7F00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101791E-ECE3-E37B-04D2-43F53CFCC89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E3D5A6B-23AF-344D-F75F-851C7F5FF4C7}"/>
              </a:ext>
            </a:extLst>
          </p:cNvPr>
          <p:cNvSpPr>
            <a:spLocks noGrp="1"/>
          </p:cNvSpPr>
          <p:nvPr>
            <p:ph type="sldNum" sz="quarter" idx="5"/>
          </p:nvPr>
        </p:nvSpPr>
        <p:spPr/>
        <p:txBody>
          <a:bodyPr/>
          <a:lstStyle/>
          <a:p>
            <a:fld id="{4B872ECC-9ADF-4B53-82FC-298EC6DE05FD}" type="slidenum">
              <a:rPr lang="tr-TR" smtClean="0"/>
              <a:t>16</a:t>
            </a:fld>
            <a:endParaRPr lang="tr-TR"/>
          </a:p>
        </p:txBody>
      </p:sp>
    </p:spTree>
    <p:extLst>
      <p:ext uri="{BB962C8B-B14F-4D97-AF65-F5344CB8AC3E}">
        <p14:creationId xmlns:p14="http://schemas.microsoft.com/office/powerpoint/2010/main" val="2980676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39AAB-D1BC-B1F7-002C-1FC56FAC1D1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49B221B-3BA8-AAF9-F73C-0D6C78EF239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0FB6A57-DF41-FA22-314C-12CE878E435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56FBC02-7921-FA99-7A82-4F9A257E77FF}"/>
              </a:ext>
            </a:extLst>
          </p:cNvPr>
          <p:cNvSpPr>
            <a:spLocks noGrp="1"/>
          </p:cNvSpPr>
          <p:nvPr>
            <p:ph type="sldNum" sz="quarter" idx="5"/>
          </p:nvPr>
        </p:nvSpPr>
        <p:spPr/>
        <p:txBody>
          <a:bodyPr/>
          <a:lstStyle/>
          <a:p>
            <a:fld id="{4B872ECC-9ADF-4B53-82FC-298EC6DE05FD}" type="slidenum">
              <a:rPr lang="tr-TR" smtClean="0"/>
              <a:t>17</a:t>
            </a:fld>
            <a:endParaRPr lang="tr-TR"/>
          </a:p>
        </p:txBody>
      </p:sp>
    </p:spTree>
    <p:extLst>
      <p:ext uri="{BB962C8B-B14F-4D97-AF65-F5344CB8AC3E}">
        <p14:creationId xmlns:p14="http://schemas.microsoft.com/office/powerpoint/2010/main" val="4258109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ABDC-D946-80AF-BD90-6404C8F8FF9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CE3DD6F-71FE-AB64-4284-D9CF477876E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1D405A8-CD01-03D9-3E37-2A50CE12A23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50BBA61-7A9B-7EF6-A35B-600CD55CAD8B}"/>
              </a:ext>
            </a:extLst>
          </p:cNvPr>
          <p:cNvSpPr>
            <a:spLocks noGrp="1"/>
          </p:cNvSpPr>
          <p:nvPr>
            <p:ph type="sldNum" sz="quarter" idx="5"/>
          </p:nvPr>
        </p:nvSpPr>
        <p:spPr/>
        <p:txBody>
          <a:bodyPr/>
          <a:lstStyle/>
          <a:p>
            <a:fld id="{4B872ECC-9ADF-4B53-82FC-298EC6DE05FD}" type="slidenum">
              <a:rPr lang="tr-TR" smtClean="0"/>
              <a:t>18</a:t>
            </a:fld>
            <a:endParaRPr lang="tr-TR"/>
          </a:p>
        </p:txBody>
      </p:sp>
    </p:spTree>
    <p:extLst>
      <p:ext uri="{BB962C8B-B14F-4D97-AF65-F5344CB8AC3E}">
        <p14:creationId xmlns:p14="http://schemas.microsoft.com/office/powerpoint/2010/main" val="2028671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39F4DC1-C08C-4045-880F-E749CF1CB721}" type="datetime1">
              <a:rPr lang="tr-TR" smtClean="0"/>
              <a:t>20.01.2026</a:t>
            </a:fld>
            <a:endParaRPr lang="en-US"/>
          </a:p>
        </p:txBody>
      </p:sp>
      <p:sp>
        <p:nvSpPr>
          <p:cNvPr id="5" name="Footer Placeholder 4"/>
          <p:cNvSpPr>
            <a:spLocks noGrp="1"/>
          </p:cNvSpPr>
          <p:nvPr>
            <p:ph type="ftr" sz="quarter" idx="11"/>
          </p:nvPr>
        </p:nvSpPr>
        <p:spPr/>
        <p:txBody>
          <a:bodyPr/>
          <a:lstStyle/>
          <a:p>
            <a:r>
              <a:rPr lang="en-US"/>
              <a:t>PAÜ Endüstri Mühendisliği Bölümü</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AB2372-DAF8-48CC-8CD9-D56B46C32A2C}" type="datetime1">
              <a:rPr lang="tr-TR" smtClean="0"/>
              <a:t>20.01.2026</a:t>
            </a:fld>
            <a:endParaRPr lang="en-US"/>
          </a:p>
        </p:txBody>
      </p:sp>
      <p:sp>
        <p:nvSpPr>
          <p:cNvPr id="5" name="Footer Placeholder 4"/>
          <p:cNvSpPr>
            <a:spLocks noGrp="1"/>
          </p:cNvSpPr>
          <p:nvPr>
            <p:ph type="ftr" sz="quarter" idx="11"/>
          </p:nvPr>
        </p:nvSpPr>
        <p:spPr/>
        <p:txBody>
          <a:bodyPr/>
          <a:lstStyle/>
          <a:p>
            <a:r>
              <a:rPr lang="en-US"/>
              <a:t>PAÜ Endüstri Mühendisliği Bölümü</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D0E752-24E1-41BA-9B23-38E7EA202F84}" type="datetime1">
              <a:rPr lang="tr-TR" smtClean="0"/>
              <a:t>20.01.2026</a:t>
            </a:fld>
            <a:endParaRPr lang="en-US"/>
          </a:p>
        </p:txBody>
      </p:sp>
      <p:sp>
        <p:nvSpPr>
          <p:cNvPr id="5" name="Footer Placeholder 4"/>
          <p:cNvSpPr>
            <a:spLocks noGrp="1"/>
          </p:cNvSpPr>
          <p:nvPr>
            <p:ph type="ftr" sz="quarter" idx="11"/>
          </p:nvPr>
        </p:nvSpPr>
        <p:spPr/>
        <p:txBody>
          <a:bodyPr/>
          <a:lstStyle/>
          <a:p>
            <a:r>
              <a:rPr lang="en-US"/>
              <a:t>PAÜ Endüstri Mühendisliği Bölümü</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762300-16C7-43E5-BA76-AE1CC6A13F2B}" type="datetime1">
              <a:rPr lang="tr-TR" smtClean="0"/>
              <a:t>20.01.2026</a:t>
            </a:fld>
            <a:endParaRPr lang="en-US"/>
          </a:p>
        </p:txBody>
      </p:sp>
      <p:sp>
        <p:nvSpPr>
          <p:cNvPr id="6" name="Footer Placeholder 5"/>
          <p:cNvSpPr>
            <a:spLocks noGrp="1"/>
          </p:cNvSpPr>
          <p:nvPr>
            <p:ph type="ftr" sz="quarter" idx="11"/>
          </p:nvPr>
        </p:nvSpPr>
        <p:spPr/>
        <p:txBody>
          <a:bodyPr/>
          <a:lstStyle/>
          <a:p>
            <a:r>
              <a:rPr lang="en-US"/>
              <a:t>PAÜ Endüstri Mühendisliği Bölümü</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51AA429-30CD-4EAD-B494-13C90EE2CC65}" type="datetime1">
              <a:rPr lang="tr-TR" smtClean="0"/>
              <a:t>20.01.2026</a:t>
            </a:fld>
            <a:endParaRPr lang="en-US"/>
          </a:p>
        </p:txBody>
      </p:sp>
      <p:sp>
        <p:nvSpPr>
          <p:cNvPr id="8" name="Footer Placeholder 7"/>
          <p:cNvSpPr>
            <a:spLocks noGrp="1"/>
          </p:cNvSpPr>
          <p:nvPr>
            <p:ph type="ftr" sz="quarter" idx="11"/>
          </p:nvPr>
        </p:nvSpPr>
        <p:spPr/>
        <p:txBody>
          <a:bodyPr/>
          <a:lstStyle/>
          <a:p>
            <a:r>
              <a:rPr lang="en-US"/>
              <a:t>PAÜ Endüstri Mühendisliği Bölümü</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3C33A2-AB31-4D17-BE94-8A5A976E4546}" type="datetime1">
              <a:rPr lang="tr-TR" smtClean="0"/>
              <a:t>20.01.2026</a:t>
            </a:fld>
            <a:endParaRPr lang="en-US"/>
          </a:p>
        </p:txBody>
      </p:sp>
      <p:sp>
        <p:nvSpPr>
          <p:cNvPr id="4" name="Footer Placeholder 3"/>
          <p:cNvSpPr>
            <a:spLocks noGrp="1"/>
          </p:cNvSpPr>
          <p:nvPr>
            <p:ph type="ftr" sz="quarter" idx="11"/>
          </p:nvPr>
        </p:nvSpPr>
        <p:spPr/>
        <p:txBody>
          <a:bodyPr/>
          <a:lstStyle/>
          <a:p>
            <a:r>
              <a:rPr lang="en-US"/>
              <a:t>PAÜ Endüstri Mühendisliği Bölümü</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FE111-E0DF-41AC-8FBF-58211B7A205D}" type="datetime1">
              <a:rPr lang="tr-TR" smtClean="0"/>
              <a:t>20.01.2026</a:t>
            </a:fld>
            <a:endParaRPr lang="en-US"/>
          </a:p>
        </p:txBody>
      </p:sp>
      <p:sp>
        <p:nvSpPr>
          <p:cNvPr id="3" name="Footer Placeholder 2"/>
          <p:cNvSpPr>
            <a:spLocks noGrp="1"/>
          </p:cNvSpPr>
          <p:nvPr>
            <p:ph type="ftr" sz="quarter" idx="11"/>
          </p:nvPr>
        </p:nvSpPr>
        <p:spPr/>
        <p:txBody>
          <a:bodyPr/>
          <a:lstStyle/>
          <a:p>
            <a:r>
              <a:rPr lang="en-US"/>
              <a:t>PAÜ Endüstri Mühendisliği Bölümü</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E3687F-1987-4DFE-8E08-70D34F14E740}" type="datetime1">
              <a:rPr lang="tr-TR" smtClean="0"/>
              <a:t>20.01.2026</a:t>
            </a:fld>
            <a:endParaRPr lang="en-US"/>
          </a:p>
        </p:txBody>
      </p:sp>
      <p:sp>
        <p:nvSpPr>
          <p:cNvPr id="6" name="Footer Placeholder 5"/>
          <p:cNvSpPr>
            <a:spLocks noGrp="1"/>
          </p:cNvSpPr>
          <p:nvPr>
            <p:ph type="ftr" sz="quarter" idx="11"/>
          </p:nvPr>
        </p:nvSpPr>
        <p:spPr/>
        <p:txBody>
          <a:bodyPr/>
          <a:lstStyle/>
          <a:p>
            <a:r>
              <a:rPr lang="en-US"/>
              <a:t>PAÜ Endüstri Mühendisliği Bölümü</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7E3888-A096-453F-8368-B92BB54CCBF4}" type="datetime1">
              <a:rPr lang="tr-TR" smtClean="0"/>
              <a:t>20.01.2026</a:t>
            </a:fld>
            <a:endParaRPr lang="en-US"/>
          </a:p>
        </p:txBody>
      </p:sp>
      <p:sp>
        <p:nvSpPr>
          <p:cNvPr id="6" name="Footer Placeholder 5"/>
          <p:cNvSpPr>
            <a:spLocks noGrp="1"/>
          </p:cNvSpPr>
          <p:nvPr>
            <p:ph type="ftr" sz="quarter" idx="11"/>
          </p:nvPr>
        </p:nvSpPr>
        <p:spPr/>
        <p:txBody>
          <a:bodyPr/>
          <a:lstStyle/>
          <a:p>
            <a:r>
              <a:rPr lang="en-US"/>
              <a:t>PAÜ Endüstri Mühendisliği Bölümü</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797CC8-6E22-4079-AE4E-BDEBC2C627CB}" type="datetime1">
              <a:rPr lang="tr-TR" smtClean="0"/>
              <a:t>20.01.2026</a:t>
            </a:fld>
            <a:endParaRPr lang="en-US"/>
          </a:p>
        </p:txBody>
      </p:sp>
      <p:sp>
        <p:nvSpPr>
          <p:cNvPr id="5" name="Footer Placeholder 4"/>
          <p:cNvSpPr>
            <a:spLocks noGrp="1"/>
          </p:cNvSpPr>
          <p:nvPr>
            <p:ph type="ftr" sz="quarter" idx="11"/>
          </p:nvPr>
        </p:nvSpPr>
        <p:spPr/>
        <p:txBody>
          <a:bodyPr/>
          <a:lstStyle/>
          <a:p>
            <a:r>
              <a:rPr lang="en-US"/>
              <a:t>PAÜ Endüstri Mühendisliği Bölümü</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CA3D9A-8234-4EE9-9CBF-9FFCF4412999}" type="datetime1">
              <a:rPr lang="tr-TR" smtClean="0"/>
              <a:t>20.01.2026</a:t>
            </a:fld>
            <a:endParaRPr lang="en-US"/>
          </a:p>
        </p:txBody>
      </p:sp>
      <p:sp>
        <p:nvSpPr>
          <p:cNvPr id="5" name="Footer Placeholder 4"/>
          <p:cNvSpPr>
            <a:spLocks noGrp="1"/>
          </p:cNvSpPr>
          <p:nvPr>
            <p:ph type="ftr" sz="quarter" idx="11"/>
          </p:nvPr>
        </p:nvSpPr>
        <p:spPr/>
        <p:txBody>
          <a:bodyPr/>
          <a:lstStyle/>
          <a:p>
            <a:r>
              <a:rPr lang="en-US"/>
              <a:t>PAÜ Endüstri Mühendisliği Bölümü</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F0F361-679C-4424-8501-FE5D7C1AD063}" type="datetime1">
              <a:rPr lang="tr-TR" smtClean="0"/>
              <a:t>20.01.2026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PAÜ Endüstri Mühendisliği Bölümü</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sv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0.png"/><Relationship Id="rId3" Type="http://schemas.openxmlformats.org/officeDocument/2006/relationships/image" Target="../media/image3.svg"/><Relationship Id="rId7" Type="http://schemas.openxmlformats.org/officeDocument/2006/relationships/image" Target="../media/image13.png"/><Relationship Id="rId12"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8.png"/><Relationship Id="rId5" Type="http://schemas.openxmlformats.org/officeDocument/2006/relationships/image" Target="../media/image11.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svg"/><Relationship Id="rId7"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svg"/><Relationship Id="rId7"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5.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2388" y="-543859"/>
            <a:ext cx="18570388" cy="10818159"/>
          </a:xfrm>
          <a:custGeom>
            <a:avLst/>
            <a:gdLst/>
            <a:ahLst/>
            <a:cxnLst/>
            <a:rect l="l" t="t" r="r" b="b"/>
            <a:pathLst>
              <a:path w="18570388" h="10818159">
                <a:moveTo>
                  <a:pt x="0" y="0"/>
                </a:moveTo>
                <a:lnTo>
                  <a:pt x="18570388" y="0"/>
                </a:lnTo>
                <a:lnTo>
                  <a:pt x="18570388" y="10818159"/>
                </a:lnTo>
                <a:lnTo>
                  <a:pt x="0" y="10818159"/>
                </a:lnTo>
                <a:lnTo>
                  <a:pt x="0" y="0"/>
                </a:lnTo>
                <a:close/>
              </a:path>
            </a:pathLst>
          </a:custGeom>
          <a:blipFill>
            <a:blip r:embed="rId2"/>
            <a:stretch>
              <a:fillRect t="-35829" b="-35829"/>
            </a:stretch>
          </a:blipFill>
        </p:spPr>
        <p:txBody>
          <a:bodyPr/>
          <a:lstStyle/>
          <a:p>
            <a:endParaRPr lang="tr-TR"/>
          </a:p>
        </p:txBody>
      </p:sp>
      <p:grpSp>
        <p:nvGrpSpPr>
          <p:cNvPr id="3" name="Group 3"/>
          <p:cNvGrpSpPr/>
          <p:nvPr/>
        </p:nvGrpSpPr>
        <p:grpSpPr>
          <a:xfrm>
            <a:off x="5906053" y="8324715"/>
            <a:ext cx="6475894" cy="1466985"/>
            <a:chOff x="0" y="-28575"/>
            <a:chExt cx="1705585" cy="230835"/>
          </a:xfrm>
        </p:grpSpPr>
        <p:sp>
          <p:nvSpPr>
            <p:cNvPr id="4" name="Freeform 4"/>
            <p:cNvSpPr/>
            <p:nvPr/>
          </p:nvSpPr>
          <p:spPr>
            <a:xfrm>
              <a:off x="0" y="0"/>
              <a:ext cx="1705585" cy="173685"/>
            </a:xfrm>
            <a:custGeom>
              <a:avLst/>
              <a:gdLst/>
              <a:ahLst/>
              <a:cxnLst/>
              <a:rect l="l" t="t" r="r" b="b"/>
              <a:pathLst>
                <a:path w="1705585" h="173685">
                  <a:moveTo>
                    <a:pt x="0" y="0"/>
                  </a:moveTo>
                  <a:lnTo>
                    <a:pt x="1705585" y="0"/>
                  </a:lnTo>
                  <a:lnTo>
                    <a:pt x="1705585" y="173685"/>
                  </a:lnTo>
                  <a:lnTo>
                    <a:pt x="0" y="173685"/>
                  </a:lnTo>
                  <a:close/>
                </a:path>
              </a:pathLst>
            </a:custGeom>
            <a:solidFill>
              <a:srgbClr val="000000">
                <a:alpha val="0"/>
              </a:srgbClr>
            </a:solidFill>
            <a:ln w="9525" cap="sq">
              <a:solidFill>
                <a:srgbClr val="2D6BA7"/>
              </a:solidFill>
              <a:prstDash val="solid"/>
              <a:miter/>
            </a:ln>
          </p:spPr>
          <p:txBody>
            <a:bodyPr/>
            <a:lstStyle/>
            <a:p>
              <a:endParaRPr lang="tr-TR"/>
            </a:p>
          </p:txBody>
        </p:sp>
        <p:sp>
          <p:nvSpPr>
            <p:cNvPr id="5" name="TextBox 5"/>
            <p:cNvSpPr txBox="1"/>
            <p:nvPr/>
          </p:nvSpPr>
          <p:spPr>
            <a:xfrm>
              <a:off x="0" y="-28575"/>
              <a:ext cx="1705585" cy="230835"/>
            </a:xfrm>
            <a:prstGeom prst="rect">
              <a:avLst/>
            </a:prstGeom>
          </p:spPr>
          <p:txBody>
            <a:bodyPr lIns="50800" tIns="50800" rIns="50800" bIns="50800" rtlCol="0" anchor="ctr"/>
            <a:lstStyle/>
            <a:p>
              <a:pPr algn="ctr">
                <a:lnSpc>
                  <a:spcPts val="3219"/>
                </a:lnSpc>
              </a:pPr>
              <a:r>
                <a:rPr lang="en-US" sz="2299" dirty="0">
                  <a:solidFill>
                    <a:srgbClr val="5F81A3"/>
                  </a:solidFill>
                  <a:latin typeface="Poppins"/>
                  <a:ea typeface="Poppins"/>
                  <a:cs typeface="Poppins"/>
                  <a:sym typeface="Poppins"/>
                </a:rPr>
                <a:t>20</a:t>
              </a:r>
              <a:r>
                <a:rPr lang="tr-TR" sz="2299" dirty="0">
                  <a:solidFill>
                    <a:srgbClr val="5F81A3"/>
                  </a:solidFill>
                  <a:latin typeface="Poppins"/>
                  <a:ea typeface="Poppins"/>
                  <a:cs typeface="Poppins"/>
                  <a:sym typeface="Poppins"/>
                </a:rPr>
                <a:t>/</a:t>
              </a:r>
              <a:r>
                <a:rPr lang="en-US" sz="2299" dirty="0">
                  <a:solidFill>
                    <a:srgbClr val="5F81A3"/>
                  </a:solidFill>
                  <a:latin typeface="Poppins"/>
                  <a:ea typeface="Poppins"/>
                  <a:cs typeface="Poppins"/>
                  <a:sym typeface="Poppins"/>
                </a:rPr>
                <a:t>01</a:t>
              </a:r>
              <a:r>
                <a:rPr lang="tr-TR" sz="2299" dirty="0">
                  <a:solidFill>
                    <a:srgbClr val="5F81A3"/>
                  </a:solidFill>
                  <a:latin typeface="Poppins"/>
                  <a:ea typeface="Poppins"/>
                  <a:cs typeface="Poppins"/>
                  <a:sym typeface="Poppins"/>
                </a:rPr>
                <a:t>/</a:t>
              </a:r>
              <a:r>
                <a:rPr lang="en-US" sz="2299" dirty="0">
                  <a:solidFill>
                    <a:srgbClr val="5F81A3"/>
                  </a:solidFill>
                  <a:latin typeface="Poppins"/>
                  <a:ea typeface="Poppins"/>
                  <a:cs typeface="Poppins"/>
                  <a:sym typeface="Poppins"/>
                </a:rPr>
                <a:t>2026</a:t>
              </a:r>
              <a:endParaRPr lang="tr-TR" sz="2299" dirty="0">
                <a:solidFill>
                  <a:srgbClr val="5F81A3"/>
                </a:solidFill>
                <a:latin typeface="Poppins"/>
                <a:ea typeface="Poppins"/>
                <a:cs typeface="Poppins"/>
                <a:sym typeface="Poppins"/>
              </a:endParaRPr>
            </a:p>
            <a:p>
              <a:pPr algn="ctr">
                <a:lnSpc>
                  <a:spcPts val="3219"/>
                </a:lnSpc>
              </a:pPr>
              <a:r>
                <a:rPr lang="tr-TR" sz="2299" dirty="0">
                  <a:solidFill>
                    <a:srgbClr val="5F81A3"/>
                  </a:solidFill>
                  <a:latin typeface="Poppins"/>
                  <a:ea typeface="Poppins"/>
                  <a:cs typeface="Poppins"/>
                  <a:sym typeface="Poppins"/>
                </a:rPr>
                <a:t>Denizli, Türkiye</a:t>
              </a:r>
              <a:endParaRPr lang="en-US" sz="2299" dirty="0">
                <a:solidFill>
                  <a:srgbClr val="5F81A3"/>
                </a:solidFill>
                <a:latin typeface="Poppins"/>
                <a:ea typeface="Poppins"/>
                <a:cs typeface="Poppins"/>
                <a:sym typeface="Poppins"/>
              </a:endParaRPr>
            </a:p>
          </p:txBody>
        </p:sp>
      </p:grpSp>
      <p:sp>
        <p:nvSpPr>
          <p:cNvPr id="7" name="TextBox 7"/>
          <p:cNvSpPr txBox="1"/>
          <p:nvPr/>
        </p:nvSpPr>
        <p:spPr>
          <a:xfrm>
            <a:off x="1822073" y="495300"/>
            <a:ext cx="13789106" cy="3385542"/>
          </a:xfrm>
          <a:prstGeom prst="rect">
            <a:avLst/>
          </a:prstGeom>
        </p:spPr>
        <p:txBody>
          <a:bodyPr wrap="square" lIns="0" tIns="0" rIns="0" bIns="0" rtlCol="0" anchor="t">
            <a:spAutoFit/>
          </a:bodyPr>
          <a:lstStyle/>
          <a:p>
            <a:pPr algn="ctr"/>
            <a:r>
              <a:rPr lang="en-US"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PAMUKKALE ÜN</a:t>
            </a:r>
            <a:r>
              <a:rPr lang="tr-TR"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İ</a:t>
            </a:r>
            <a:r>
              <a:rPr lang="en-US"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VERS</a:t>
            </a:r>
            <a:r>
              <a:rPr lang="tr-TR"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İ</a:t>
            </a:r>
            <a:r>
              <a:rPr lang="en-US"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TES</a:t>
            </a:r>
            <a:r>
              <a:rPr lang="tr-TR" sz="4400" b="1" dirty="0">
                <a:solidFill>
                  <a:srgbClr val="5F81A3"/>
                </a:solidFill>
                <a:latin typeface="Times New Roman" panose="02020603050405020304" pitchFamily="18" charset="0"/>
                <a:ea typeface="Poppins Semi-Bold"/>
                <a:cs typeface="Times New Roman" panose="02020603050405020304" pitchFamily="18" charset="0"/>
                <a:sym typeface="Poppins Semi-Bold"/>
              </a:rPr>
              <a:t>İ</a:t>
            </a:r>
            <a:endParaRPr lang="tr-TR" sz="4400" b="1" dirty="0">
              <a:solidFill>
                <a:srgbClr val="5F81A3"/>
              </a:solidFill>
              <a:latin typeface="Times New Roman" panose="02020603050405020304" pitchFamily="18" charset="0"/>
              <a:ea typeface="Poppins Semi-Bold"/>
              <a:cs typeface="Times New Roman" panose="02020603050405020304" pitchFamily="18" charset="0"/>
              <a:sym typeface="Poppins Bold"/>
            </a:endParaRPr>
          </a:p>
          <a:p>
            <a:pPr algn="ctr"/>
            <a:r>
              <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rPr>
              <a:t>MÜHENDİSLİK FAKÜLTESİ</a:t>
            </a:r>
          </a:p>
          <a:p>
            <a:pPr algn="ctr"/>
            <a:r>
              <a:rPr lang="en-US" sz="4400" b="1" dirty="0">
                <a:solidFill>
                  <a:srgbClr val="5F81A3"/>
                </a:solidFill>
                <a:latin typeface="Times New Roman" panose="02020603050405020304" pitchFamily="18" charset="0"/>
                <a:ea typeface="Poppins Bold"/>
                <a:cs typeface="Times New Roman" panose="02020603050405020304" pitchFamily="18" charset="0"/>
                <a:sym typeface="Poppins Bold"/>
              </a:rPr>
              <a:t>ENDÜSTRİ MÜHENDİSLİĞİ BÖLÜMÜ</a:t>
            </a:r>
            <a:endPar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endParaRPr>
          </a:p>
          <a:p>
            <a:pPr algn="ctr"/>
            <a:r>
              <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rPr>
              <a:t>2</a:t>
            </a:r>
            <a:r>
              <a:rPr lang="en-US" sz="4400" b="1" dirty="0">
                <a:solidFill>
                  <a:srgbClr val="5F81A3"/>
                </a:solidFill>
                <a:latin typeface="Times New Roman" panose="02020603050405020304" pitchFamily="18" charset="0"/>
                <a:ea typeface="Poppins Bold"/>
                <a:cs typeface="Times New Roman" panose="02020603050405020304" pitchFamily="18" charset="0"/>
                <a:sym typeface="Poppins Bold"/>
              </a:rPr>
              <a:t>025</a:t>
            </a:r>
            <a:r>
              <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rPr>
              <a:t>-20</a:t>
            </a:r>
            <a:r>
              <a:rPr lang="en-US" sz="4400" b="1" dirty="0">
                <a:solidFill>
                  <a:srgbClr val="5F81A3"/>
                </a:solidFill>
                <a:latin typeface="Times New Roman" panose="02020603050405020304" pitchFamily="18" charset="0"/>
                <a:ea typeface="Poppins Bold"/>
                <a:cs typeface="Times New Roman" panose="02020603050405020304" pitchFamily="18" charset="0"/>
                <a:sym typeface="Poppins Bold"/>
              </a:rPr>
              <a:t>26</a:t>
            </a:r>
            <a:r>
              <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rPr>
              <a:t> EĞİTİM ÖĞRETİM YILI</a:t>
            </a:r>
            <a:r>
              <a:rPr lang="en-US" sz="4400" b="1" dirty="0">
                <a:solidFill>
                  <a:srgbClr val="5F81A3"/>
                </a:solidFill>
                <a:latin typeface="Times New Roman" panose="02020603050405020304" pitchFamily="18" charset="0"/>
                <a:ea typeface="Poppins Bold"/>
                <a:cs typeface="Times New Roman" panose="02020603050405020304" pitchFamily="18" charset="0"/>
                <a:sym typeface="Poppins Bold"/>
              </a:rPr>
              <a:t> GÜZ</a:t>
            </a:r>
            <a:r>
              <a:rPr lang="tr-TR" sz="4400" b="1" dirty="0">
                <a:solidFill>
                  <a:srgbClr val="5F81A3"/>
                </a:solidFill>
                <a:latin typeface="Times New Roman" panose="02020603050405020304" pitchFamily="18" charset="0"/>
                <a:ea typeface="Poppins Bold"/>
                <a:cs typeface="Times New Roman" panose="02020603050405020304" pitchFamily="18" charset="0"/>
                <a:sym typeface="Poppins Bold"/>
              </a:rPr>
              <a:t> DÖNEMİ</a:t>
            </a:r>
          </a:p>
          <a:p>
            <a:pPr algn="ctr"/>
            <a:r>
              <a:rPr lang="en-US" sz="4400" b="1" dirty="0">
                <a:solidFill>
                  <a:srgbClr val="5F81A3"/>
                </a:solidFill>
                <a:latin typeface="Poppins" panose="00000500000000000000" pitchFamily="2" charset="-94"/>
                <a:ea typeface="Poppins Bold"/>
                <a:cs typeface="Poppins" panose="00000500000000000000" pitchFamily="2" charset="-94"/>
                <a:sym typeface="Poppins Bold"/>
              </a:rPr>
              <a:t> </a:t>
            </a:r>
            <a:endParaRPr lang="en-US" sz="4400" b="1" dirty="0">
              <a:solidFill>
                <a:srgbClr val="5F81A3"/>
              </a:solidFill>
              <a:latin typeface="Poppins" panose="00000500000000000000" pitchFamily="2" charset="-94"/>
              <a:ea typeface="Poppins Semi-Bold"/>
              <a:cs typeface="Poppins" panose="00000500000000000000" pitchFamily="2" charset="-94"/>
              <a:sym typeface="Poppins Semi-Bold"/>
            </a:endParaRPr>
          </a:p>
        </p:txBody>
      </p:sp>
      <p:sp>
        <p:nvSpPr>
          <p:cNvPr id="9" name="TextBox 9"/>
          <p:cNvSpPr txBox="1"/>
          <p:nvPr/>
        </p:nvSpPr>
        <p:spPr>
          <a:xfrm>
            <a:off x="-6485" y="4061579"/>
            <a:ext cx="17995927" cy="3385542"/>
          </a:xfrm>
          <a:prstGeom prst="rect">
            <a:avLst/>
          </a:prstGeom>
        </p:spPr>
        <p:txBody>
          <a:bodyPr wrap="square" lIns="0" tIns="0" rIns="0" bIns="0" rtlCol="0" anchor="t">
            <a:spAutoFit/>
          </a:bodyPr>
          <a:lstStyle/>
          <a:p>
            <a:pPr algn="ctr"/>
            <a:r>
              <a:rPr lang="tr-TR" sz="4800" b="1" dirty="0">
                <a:latin typeface="Times New Roman" panose="02020603050405020304" pitchFamily="18" charset="0"/>
                <a:cs typeface="Times New Roman" panose="02020603050405020304" pitchFamily="18" charset="0"/>
              </a:rPr>
              <a:t>Web Tabanlı 3 Boyutlu Konteyner Yükleme için Sezgisel ve Meta-Sezgisel Algoritma Tabanlı Bir Karar Destek Sistemi</a:t>
            </a:r>
            <a:endParaRPr lang="tr-TR" sz="7200" b="1" noProof="0" dirty="0">
              <a:solidFill>
                <a:srgbClr val="5F81A3"/>
              </a:solidFill>
              <a:latin typeface="Times New Roman" panose="02020603050405020304" pitchFamily="18" charset="0"/>
              <a:ea typeface="Poppins Bold"/>
              <a:cs typeface="Times New Roman" panose="02020603050405020304" pitchFamily="18" charset="0"/>
              <a:sym typeface="Poppins Bold"/>
            </a:endParaRPr>
          </a:p>
          <a:p>
            <a:pPr algn="ctr"/>
            <a:endParaRPr lang="tr-TR" sz="4400" b="1" noProof="0" dirty="0">
              <a:solidFill>
                <a:srgbClr val="5F81A3"/>
              </a:solidFill>
              <a:latin typeface="Times New Roman" panose="02020603050405020304" pitchFamily="18" charset="0"/>
              <a:ea typeface="Poppins Bold"/>
              <a:cs typeface="Times New Roman" panose="02020603050405020304" pitchFamily="18" charset="0"/>
              <a:sym typeface="Poppins Bold"/>
            </a:endParaRPr>
          </a:p>
          <a:p>
            <a:pPr algn="ctr"/>
            <a:r>
              <a:rPr lang="tr-TR" sz="4000" b="1" u="sng" noProof="0" dirty="0">
                <a:solidFill>
                  <a:srgbClr val="5F81A3"/>
                </a:solidFill>
                <a:latin typeface="Times New Roman" panose="02020603050405020304" pitchFamily="18" charset="0"/>
                <a:ea typeface="Poppins Bold"/>
                <a:cs typeface="Times New Roman" panose="02020603050405020304" pitchFamily="18" charset="0"/>
                <a:sym typeface="Poppins Bold"/>
              </a:rPr>
              <a:t>TEZ YAZARLARI</a:t>
            </a:r>
            <a:r>
              <a:rPr lang="tr-TR" sz="4000" b="1" noProof="0" dirty="0">
                <a:solidFill>
                  <a:srgbClr val="5F81A3"/>
                </a:solidFill>
                <a:latin typeface="Times New Roman" panose="02020603050405020304" pitchFamily="18" charset="0"/>
                <a:ea typeface="Poppins Bold"/>
                <a:cs typeface="Times New Roman" panose="02020603050405020304" pitchFamily="18" charset="0"/>
                <a:sym typeface="Poppins Bold"/>
              </a:rPr>
              <a:t>: </a:t>
            </a:r>
            <a:r>
              <a:rPr lang="en-US" sz="4000" b="1" noProof="0" dirty="0">
                <a:solidFill>
                  <a:srgbClr val="5F81A3"/>
                </a:solidFill>
                <a:latin typeface="Times New Roman" panose="02020603050405020304" pitchFamily="18" charset="0"/>
                <a:ea typeface="Poppins Bold"/>
                <a:cs typeface="Times New Roman" panose="02020603050405020304" pitchFamily="18" charset="0"/>
                <a:sym typeface="Poppins Bold"/>
              </a:rPr>
              <a:t>Burak Haydar Konca , Osman Şahin Benli</a:t>
            </a:r>
            <a:endParaRPr lang="tr-TR" sz="4000" b="1" noProof="0" dirty="0">
              <a:solidFill>
                <a:srgbClr val="5F81A3"/>
              </a:solidFill>
              <a:latin typeface="Times New Roman" panose="02020603050405020304" pitchFamily="18" charset="0"/>
              <a:ea typeface="Poppins Bold"/>
              <a:cs typeface="Times New Roman" panose="02020603050405020304" pitchFamily="18" charset="0"/>
              <a:sym typeface="Poppins Bold"/>
            </a:endParaRPr>
          </a:p>
          <a:p>
            <a:pPr algn="ctr"/>
            <a:r>
              <a:rPr lang="tr-TR" sz="4000" b="1" u="sng" noProof="0" dirty="0">
                <a:solidFill>
                  <a:srgbClr val="5F81A3"/>
                </a:solidFill>
                <a:latin typeface="Times New Roman" panose="02020603050405020304" pitchFamily="18" charset="0"/>
                <a:ea typeface="Poppins Bold"/>
                <a:cs typeface="Times New Roman" panose="02020603050405020304" pitchFamily="18" charset="0"/>
                <a:sym typeface="Poppins Bold"/>
              </a:rPr>
              <a:t>TEZ DANIŞMANI</a:t>
            </a:r>
            <a:r>
              <a:rPr lang="en-US" sz="4000" b="1" u="sng" noProof="0" dirty="0">
                <a:solidFill>
                  <a:srgbClr val="5F81A3"/>
                </a:solidFill>
                <a:latin typeface="Times New Roman" panose="02020603050405020304" pitchFamily="18" charset="0"/>
                <a:ea typeface="Poppins Bold"/>
                <a:cs typeface="Times New Roman" panose="02020603050405020304" pitchFamily="18" charset="0"/>
                <a:sym typeface="Poppins Bold"/>
              </a:rPr>
              <a:t>: </a:t>
            </a:r>
            <a:r>
              <a:rPr lang="en-US" sz="4000" b="1" u="sng" noProof="0" dirty="0" err="1">
                <a:solidFill>
                  <a:srgbClr val="5F81A3"/>
                </a:solidFill>
                <a:latin typeface="Times New Roman" panose="02020603050405020304" pitchFamily="18" charset="0"/>
                <a:ea typeface="Poppins Bold"/>
                <a:cs typeface="Times New Roman" panose="02020603050405020304" pitchFamily="18" charset="0"/>
                <a:sym typeface="Poppins Bold"/>
              </a:rPr>
              <a:t>Profesör</a:t>
            </a:r>
            <a:r>
              <a:rPr lang="en-US" sz="4000" b="1" u="sng" noProof="0" dirty="0">
                <a:solidFill>
                  <a:srgbClr val="5F81A3"/>
                </a:solidFill>
                <a:latin typeface="Times New Roman" panose="02020603050405020304" pitchFamily="18" charset="0"/>
                <a:ea typeface="Poppins Bold"/>
                <a:cs typeface="Times New Roman" panose="02020603050405020304" pitchFamily="18" charset="0"/>
                <a:sym typeface="Poppins Bold"/>
              </a:rPr>
              <a:t> D</a:t>
            </a:r>
            <a:r>
              <a:rPr lang="en-US" sz="4000" b="1" u="sng" dirty="0">
                <a:solidFill>
                  <a:srgbClr val="5F81A3"/>
                </a:solidFill>
                <a:latin typeface="Times New Roman" panose="02020603050405020304" pitchFamily="18" charset="0"/>
                <a:ea typeface="Poppins Bold"/>
                <a:cs typeface="Times New Roman" panose="02020603050405020304" pitchFamily="18" charset="0"/>
                <a:sym typeface="Poppins Bold"/>
              </a:rPr>
              <a:t>r. Can Berk </a:t>
            </a:r>
            <a:r>
              <a:rPr lang="en-US" sz="4000" b="1" u="sng" dirty="0" err="1">
                <a:solidFill>
                  <a:srgbClr val="5F81A3"/>
                </a:solidFill>
                <a:latin typeface="Times New Roman" panose="02020603050405020304" pitchFamily="18" charset="0"/>
                <a:ea typeface="Poppins Bold"/>
                <a:cs typeface="Times New Roman" panose="02020603050405020304" pitchFamily="18" charset="0"/>
                <a:sym typeface="Poppins Bold"/>
              </a:rPr>
              <a:t>Kalaycı</a:t>
            </a:r>
            <a:endParaRPr lang="tr-TR" sz="4000" b="1" noProof="0" dirty="0">
              <a:solidFill>
                <a:srgbClr val="5F81A3"/>
              </a:solidFill>
              <a:latin typeface="Times New Roman" panose="02020603050405020304" pitchFamily="18" charset="0"/>
              <a:ea typeface="Poppins Bold"/>
              <a:cs typeface="Times New Roman" panose="02020603050405020304" pitchFamily="18" charset="0"/>
              <a:sym typeface="Poppins Bold"/>
            </a:endParaRPr>
          </a:p>
        </p:txBody>
      </p:sp>
      <p:sp>
        <p:nvSpPr>
          <p:cNvPr id="10" name="Freeform 10"/>
          <p:cNvSpPr/>
          <p:nvPr/>
        </p:nvSpPr>
        <p:spPr>
          <a:xfrm>
            <a:off x="292072" y="495300"/>
            <a:ext cx="1620000" cy="1620000"/>
          </a:xfrm>
          <a:custGeom>
            <a:avLst/>
            <a:gdLst/>
            <a:ahLst/>
            <a:cxnLst/>
            <a:rect l="l" t="t" r="r" b="b"/>
            <a:pathLst>
              <a:path w="2269181" h="2269181">
                <a:moveTo>
                  <a:pt x="0" y="0"/>
                </a:moveTo>
                <a:lnTo>
                  <a:pt x="2269181" y="0"/>
                </a:lnTo>
                <a:lnTo>
                  <a:pt x="2269181" y="2269182"/>
                </a:lnTo>
                <a:lnTo>
                  <a:pt x="0" y="22691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1" name="Freeform 11"/>
          <p:cNvSpPr/>
          <p:nvPr/>
        </p:nvSpPr>
        <p:spPr>
          <a:xfrm>
            <a:off x="388490" y="635925"/>
            <a:ext cx="1440000" cy="1440000"/>
          </a:xfrm>
          <a:custGeom>
            <a:avLst/>
            <a:gdLst/>
            <a:ahLst/>
            <a:cxnLst/>
            <a:rect l="l" t="t" r="r" b="b"/>
            <a:pathLst>
              <a:path w="2070398" h="2070398">
                <a:moveTo>
                  <a:pt x="0" y="0"/>
                </a:moveTo>
                <a:lnTo>
                  <a:pt x="2070398" y="0"/>
                </a:lnTo>
                <a:lnTo>
                  <a:pt x="2070398" y="2070398"/>
                </a:lnTo>
                <a:lnTo>
                  <a:pt x="0" y="2070398"/>
                </a:lnTo>
                <a:lnTo>
                  <a:pt x="0" y="0"/>
                </a:lnTo>
                <a:close/>
              </a:path>
            </a:pathLst>
          </a:custGeom>
          <a:blipFill>
            <a:blip r:embed="rId5"/>
            <a:stretch>
              <a:fillRect/>
            </a:stretch>
          </a:blipFill>
        </p:spPr>
        <p:txBody>
          <a:bodyPr/>
          <a:lstStyle/>
          <a:p>
            <a:endParaRPr lang="tr-TR"/>
          </a:p>
        </p:txBody>
      </p:sp>
      <p:sp>
        <p:nvSpPr>
          <p:cNvPr id="12" name="Freeform 12"/>
          <p:cNvSpPr/>
          <p:nvPr/>
        </p:nvSpPr>
        <p:spPr>
          <a:xfrm>
            <a:off x="15726747" y="495300"/>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3" name="Freeform 13"/>
          <p:cNvSpPr/>
          <p:nvPr/>
        </p:nvSpPr>
        <p:spPr>
          <a:xfrm>
            <a:off x="15816747" y="667760"/>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6"/>
            <a:stretch>
              <a:fillRect/>
            </a:stretch>
          </a:blipFill>
        </p:spPr>
        <p:txBody>
          <a:bodyPr/>
          <a:lstStyle/>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FB7C5C-9B70-F969-5041-E38E17C3312B}"/>
              </a:ext>
            </a:extLst>
          </p:cNvPr>
          <p:cNvSpPr>
            <a:spLocks noGrp="1"/>
          </p:cNvSpPr>
          <p:nvPr>
            <p:ph type="title"/>
          </p:nvPr>
        </p:nvSpPr>
        <p:spPr>
          <a:xfrm>
            <a:off x="457200" y="456385"/>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SUNUM PLANI</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3" name="İçerik Yer Tutucusu 2">
            <a:extLst>
              <a:ext uri="{FF2B5EF4-FFF2-40B4-BE49-F238E27FC236}">
                <a16:creationId xmlns:a16="http://schemas.microsoft.com/office/drawing/2014/main" id="{1B690D59-A695-B926-F99C-7021FD5C1037}"/>
              </a:ext>
            </a:extLst>
          </p:cNvPr>
          <p:cNvSpPr>
            <a:spLocks noGrp="1"/>
          </p:cNvSpPr>
          <p:nvPr>
            <p:ph idx="1"/>
          </p:nvPr>
        </p:nvSpPr>
        <p:spPr>
          <a:xfrm>
            <a:off x="1480758" y="2366172"/>
            <a:ext cx="10439400" cy="4800598"/>
          </a:xfrm>
        </p:spPr>
        <p:txBody>
          <a:bodyPr>
            <a:normAutofit/>
          </a:bodyPr>
          <a:lstStyle/>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Giriş</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Literatür taraması</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Problem tanımı</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Yöntem</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Uygulama</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Bulgular</a:t>
            </a:r>
          </a:p>
          <a:p>
            <a:pPr>
              <a:buFont typeface="Wingdings" panose="05000000000000000000" pitchFamily="2" charset="2"/>
              <a:buChar char="§"/>
            </a:pPr>
            <a:r>
              <a:rPr lang="tr-TR" sz="3000" dirty="0">
                <a:latin typeface="Times New Roman" panose="02020603050405020304" pitchFamily="18" charset="0"/>
                <a:cs typeface="Times New Roman" panose="02020603050405020304" pitchFamily="18" charset="0"/>
              </a:rPr>
              <a:t>Sonuçlar ve öneriler</a:t>
            </a:r>
          </a:p>
        </p:txBody>
      </p:sp>
      <p:sp>
        <p:nvSpPr>
          <p:cNvPr id="8" name="AutoShape 16">
            <a:extLst>
              <a:ext uri="{FF2B5EF4-FFF2-40B4-BE49-F238E27FC236}">
                <a16:creationId xmlns:a16="http://schemas.microsoft.com/office/drawing/2014/main" id="{B1255170-A477-C6D2-B708-00C9ECEB2B77}"/>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FBC6D982-425F-924A-4A4D-039F0EDDF9B6}"/>
              </a:ext>
            </a:extLst>
          </p:cNvPr>
          <p:cNvSpPr>
            <a:spLocks noGrp="1"/>
          </p:cNvSpPr>
          <p:nvPr>
            <p:ph type="dt" sz="half" idx="10"/>
          </p:nvPr>
        </p:nvSpPr>
        <p:spPr>
          <a:xfrm>
            <a:off x="413958" y="9475788"/>
            <a:ext cx="2133600" cy="365125"/>
          </a:xfrm>
        </p:spPr>
        <p:txBody>
          <a:bodyPr/>
          <a:lstStyle/>
          <a:p>
            <a:fld id="{04D3AAE8-05F1-4306-80BD-B254EDFEA656}"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973918F7-3A63-7946-A4CA-5FCE32A9F881}"/>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59C2F111-28EC-7A4F-AED7-3044A9A483F3}"/>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2</a:t>
            </a:fld>
            <a:endParaRPr lang="en-US" sz="2000">
              <a:solidFill>
                <a:schemeClr val="tx1"/>
              </a:solidFill>
              <a:latin typeface="Poppins" panose="00000500000000000000" pitchFamily="2" charset="-94"/>
              <a:cs typeface="Poppins" panose="00000500000000000000" pitchFamily="2" charset="-94"/>
            </a:endParaRPr>
          </a:p>
        </p:txBody>
      </p:sp>
      <p:sp>
        <p:nvSpPr>
          <p:cNvPr id="14" name="Freeform 12">
            <a:extLst>
              <a:ext uri="{FF2B5EF4-FFF2-40B4-BE49-F238E27FC236}">
                <a16:creationId xmlns:a16="http://schemas.microsoft.com/office/drawing/2014/main" id="{1D8BCA33-E475-6A85-94B8-2ABCE4D33F9D}"/>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13">
            <a:extLst>
              <a:ext uri="{FF2B5EF4-FFF2-40B4-BE49-F238E27FC236}">
                <a16:creationId xmlns:a16="http://schemas.microsoft.com/office/drawing/2014/main" id="{087C5AC5-0E2A-3554-FC6B-F364F18353BD}"/>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spTree>
    <p:extLst>
      <p:ext uri="{BB962C8B-B14F-4D97-AF65-F5344CB8AC3E}">
        <p14:creationId xmlns:p14="http://schemas.microsoft.com/office/powerpoint/2010/main" val="1881832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DC268-3C8D-6DAC-EBAB-77020AF894CC}"/>
            </a:ext>
          </a:extLst>
        </p:cNvPr>
        <p:cNvGrpSpPr/>
        <p:nvPr/>
      </p:nvGrpSpPr>
      <p:grpSpPr>
        <a:xfrm>
          <a:off x="0" y="0"/>
          <a:ext cx="0" cy="0"/>
          <a:chOff x="0" y="0"/>
          <a:chExt cx="0" cy="0"/>
        </a:xfrm>
      </p:grpSpPr>
      <p:pic>
        <p:nvPicPr>
          <p:cNvPr id="24" name="Resim 23">
            <a:extLst>
              <a:ext uri="{FF2B5EF4-FFF2-40B4-BE49-F238E27FC236}">
                <a16:creationId xmlns:a16="http://schemas.microsoft.com/office/drawing/2014/main" id="{466693CF-2B76-CDD1-3E7B-FA08479EA223}"/>
              </a:ext>
            </a:extLst>
          </p:cNvPr>
          <p:cNvPicPr>
            <a:picLocks noChangeAspect="1"/>
          </p:cNvPicPr>
          <p:nvPr/>
        </p:nvPicPr>
        <p:blipFill>
          <a:blip r:embed="rId2"/>
          <a:stretch>
            <a:fillRect/>
          </a:stretch>
        </p:blipFill>
        <p:spPr>
          <a:xfrm>
            <a:off x="13227515" y="2109399"/>
            <a:ext cx="4240783" cy="2885284"/>
          </a:xfrm>
          <a:prstGeom prst="rect">
            <a:avLst/>
          </a:prstGeom>
        </p:spPr>
      </p:pic>
      <p:sp>
        <p:nvSpPr>
          <p:cNvPr id="2" name="Başlık 1">
            <a:extLst>
              <a:ext uri="{FF2B5EF4-FFF2-40B4-BE49-F238E27FC236}">
                <a16:creationId xmlns:a16="http://schemas.microsoft.com/office/drawing/2014/main" id="{40138E9B-03B1-D28B-D26C-09B945A3A194}"/>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Poppins Bold"/>
                <a:cs typeface="Poppins Bold"/>
                <a:sym typeface="Poppins Bold"/>
              </a:rPr>
              <a:t>GİRİŞ</a:t>
            </a:r>
            <a:endParaRPr lang="tr-TR" sz="7200" b="1" dirty="0">
              <a:solidFill>
                <a:srgbClr val="5F81A3"/>
              </a:solidFill>
              <a:latin typeface="Poppins Bold"/>
              <a:cs typeface="Poppins Bold"/>
            </a:endParaRPr>
          </a:p>
        </p:txBody>
      </p:sp>
      <p:sp>
        <p:nvSpPr>
          <p:cNvPr id="8" name="AutoShape 16">
            <a:extLst>
              <a:ext uri="{FF2B5EF4-FFF2-40B4-BE49-F238E27FC236}">
                <a16:creationId xmlns:a16="http://schemas.microsoft.com/office/drawing/2014/main" id="{26D11848-16B5-967D-DC04-F8447C8C1762}"/>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7557A35C-1898-0D86-8E2F-28F61B4F0378}"/>
              </a:ext>
            </a:extLst>
          </p:cNvPr>
          <p:cNvSpPr>
            <a:spLocks noGrp="1"/>
          </p:cNvSpPr>
          <p:nvPr>
            <p:ph type="dt" sz="half" idx="10"/>
          </p:nvPr>
        </p:nvSpPr>
        <p:spPr>
          <a:xfrm>
            <a:off x="413958" y="9475788"/>
            <a:ext cx="2133600" cy="365125"/>
          </a:xfrm>
        </p:spPr>
        <p:txBody>
          <a:bodyPr/>
          <a:lstStyle/>
          <a:p>
            <a:fld id="{E1D460D9-0A50-43F2-819E-8AA5C70D9838}"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DECDF6BD-1B3B-8E81-3CAB-6CC16820DC72}"/>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67226F1A-11FB-5957-C846-1C368B1D5342}"/>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3</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27111652-AD64-82F4-35F8-A0EE7952446B}"/>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BFAF800D-AA55-D4C2-F221-3BBD64D1732B}"/>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sp>
        <p:nvSpPr>
          <p:cNvPr id="20" name="Rectangle 9">
            <a:extLst>
              <a:ext uri="{FF2B5EF4-FFF2-40B4-BE49-F238E27FC236}">
                <a16:creationId xmlns:a16="http://schemas.microsoft.com/office/drawing/2014/main" id="{22247D0B-B7E7-BD76-20C7-5B5E5B971F35}"/>
              </a:ext>
            </a:extLst>
          </p:cNvPr>
          <p:cNvSpPr>
            <a:spLocks noGrp="1" noChangeArrowheads="1"/>
          </p:cNvSpPr>
          <p:nvPr>
            <p:ph idx="1"/>
          </p:nvPr>
        </p:nvSpPr>
        <p:spPr bwMode="auto">
          <a:xfrm>
            <a:off x="3086100" y="5627455"/>
            <a:ext cx="1211579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ctr" eaLnBrk="0" fontAlgn="base" hangingPunct="0">
              <a:spcBef>
                <a:spcPct val="0"/>
              </a:spcBef>
              <a:spcAft>
                <a:spcPct val="0"/>
              </a:spcAft>
              <a:buNone/>
            </a:pPr>
            <a:r>
              <a:rPr lang="en-US" dirty="0" err="1">
                <a:latin typeface="Times New Roman" panose="02020603050405020304" pitchFamily="18" charset="0"/>
                <a:cs typeface="Times New Roman" panose="02020603050405020304" pitchFamily="18" charset="0"/>
              </a:rPr>
              <a:t>Küresel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ekonominin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yapısal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omurgasını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oluşturan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lojistik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sektörü</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yıllık</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10 </a:t>
            </a:r>
            <a:r>
              <a:rPr lang="en-US" b="1" dirty="0" err="1">
                <a:latin typeface="Times New Roman" panose="02020603050405020304" pitchFamily="18" charset="0"/>
                <a:cs typeface="Times New Roman" panose="02020603050405020304" pitchFamily="18" charset="0"/>
              </a:rPr>
              <a:t>trilyon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doları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aşan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işlem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hacmiyle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dünya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ticaretinin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sürdürülebilirliğinde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belirleyici</a:t>
            </a:r>
            <a:r>
              <a:rPr lang="en-US" dirty="0">
                <a:latin typeface="Times New Roman" panose="02020603050405020304" pitchFamily="18" charset="0"/>
                <a:cs typeface="Times New Roman" panose="02020603050405020304" pitchFamily="18" charset="0"/>
              </a:rPr>
              <a:t> bir </a:t>
            </a:r>
            <a:r>
              <a:rPr lang="en-US" dirty="0" err="1">
                <a:latin typeface="Times New Roman" panose="02020603050405020304" pitchFamily="18" charset="0"/>
                <a:cs typeface="Times New Roman" panose="02020603050405020304" pitchFamily="18" charset="0"/>
              </a:rPr>
              <a:t>rol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oynamaktadır</a:t>
            </a:r>
            <a:r>
              <a:rPr lang="en-US" dirty="0">
                <a:latin typeface="Times New Roman" panose="02020603050405020304" pitchFamily="18" charset="0"/>
                <a:cs typeface="Times New Roman" panose="02020603050405020304" pitchFamily="18" charset="0"/>
              </a:rPr>
              <a:t>. Bu </a:t>
            </a:r>
            <a:r>
              <a:rPr lang="en-US" dirty="0" err="1">
                <a:latin typeface="Times New Roman" panose="02020603050405020304" pitchFamily="18" charset="0"/>
                <a:cs typeface="Times New Roman" panose="02020603050405020304" pitchFamily="18" charset="0"/>
              </a:rPr>
              <a:t>devasa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ekosistem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üretim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tüketim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noktaları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arasında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sağladığı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katma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değer</a:t>
            </a:r>
            <a:r>
              <a:rPr lang="en-US" dirty="0">
                <a:latin typeface="Times New Roman" panose="02020603050405020304" pitchFamily="18" charset="0"/>
                <a:cs typeface="Times New Roman" panose="02020603050405020304" pitchFamily="18" charset="0"/>
              </a:rPr>
              <a:t> ile modern </a:t>
            </a:r>
            <a:r>
              <a:rPr lang="en-US" dirty="0" err="1">
                <a:latin typeface="Times New Roman" panose="02020603050405020304" pitchFamily="18" charset="0"/>
                <a:cs typeface="Times New Roman" panose="02020603050405020304" pitchFamily="18" charset="0"/>
              </a:rPr>
              <a:t>ekonomilerin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büyüme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dinamiklerinin</a:t>
            </a:r>
            <a:r>
              <a:rPr lang="en-US" dirty="0">
                <a:latin typeface="Times New Roman" panose="02020603050405020304" pitchFamily="18" charset="0"/>
                <a:cs typeface="Times New Roman" panose="02020603050405020304" pitchFamily="18" charset="0"/>
              </a:rPr>
              <a:t> temel </a:t>
            </a:r>
            <a:r>
              <a:rPr lang="en-US" dirty="0" err="1">
                <a:latin typeface="Times New Roman" panose="02020603050405020304" pitchFamily="18" charset="0"/>
                <a:cs typeface="Times New Roman" panose="02020603050405020304" pitchFamily="18" charset="0"/>
              </a:rPr>
              <a:t>dayanağıdır</a:t>
            </a:r>
            <a:r>
              <a:rPr lang="en-US" dirty="0">
                <a:latin typeface="Times New Roman" panose="02020603050405020304" pitchFamily="18" charset="0"/>
                <a:cs typeface="Times New Roman" panose="02020603050405020304" pitchFamily="18" charset="0"/>
              </a:rPr>
              <a:t>.</a:t>
            </a:r>
          </a:p>
          <a:p>
            <a:pPr marL="0" lvl="0" indent="0" eaLnBrk="0" fontAlgn="base" hangingPunct="0">
              <a:spcBef>
                <a:spcPct val="0"/>
              </a:spcBef>
              <a:spcAft>
                <a:spcPct val="0"/>
              </a:spcAft>
              <a:buNone/>
            </a:pPr>
            <a:b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Resim 5" descr="metin, ekran görüntüsü, yazı tipi, tasarım içeren bir resim">
            <a:extLst>
              <a:ext uri="{FF2B5EF4-FFF2-40B4-BE49-F238E27FC236}">
                <a16:creationId xmlns:a16="http://schemas.microsoft.com/office/drawing/2014/main" id="{53ECA621-D91B-8399-216E-B005F2F0A5A4}"/>
              </a:ext>
            </a:extLst>
          </p:cNvPr>
          <p:cNvPicPr>
            <a:picLocks noChangeAspect="1"/>
          </p:cNvPicPr>
          <p:nvPr/>
        </p:nvPicPr>
        <p:blipFill>
          <a:blip r:embed="rId6"/>
          <a:stretch>
            <a:fillRect/>
          </a:stretch>
        </p:blipFill>
        <p:spPr>
          <a:xfrm>
            <a:off x="819702" y="2127597"/>
            <a:ext cx="11741799" cy="2848889"/>
          </a:xfrm>
          <a:prstGeom prst="rect">
            <a:avLst/>
          </a:prstGeom>
        </p:spPr>
      </p:pic>
    </p:spTree>
    <p:extLst>
      <p:ext uri="{BB962C8B-B14F-4D97-AF65-F5344CB8AC3E}">
        <p14:creationId xmlns:p14="http://schemas.microsoft.com/office/powerpoint/2010/main" val="3147790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FF093-DACE-CE07-B111-B406A4A5F1E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78CB032-08A0-B749-79B4-195AA93890AA}"/>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GİRİŞ (DEVAM)</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2E3DC167-B736-9525-6F22-0C2DEA250689}"/>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Times New Roman" panose="02020603050405020304" pitchFamily="18" charset="0"/>
              <a:cs typeface="Times New Roman" panose="02020603050405020304" pitchFamily="18" charset="0"/>
            </a:endParaRPr>
          </a:p>
        </p:txBody>
      </p:sp>
      <p:sp>
        <p:nvSpPr>
          <p:cNvPr id="9" name="Veri Yer Tutucusu 18">
            <a:extLst>
              <a:ext uri="{FF2B5EF4-FFF2-40B4-BE49-F238E27FC236}">
                <a16:creationId xmlns:a16="http://schemas.microsoft.com/office/drawing/2014/main" id="{4237149C-FCD3-7F6F-5B01-4E3B5F187C84}"/>
              </a:ext>
            </a:extLst>
          </p:cNvPr>
          <p:cNvSpPr>
            <a:spLocks noGrp="1"/>
          </p:cNvSpPr>
          <p:nvPr>
            <p:ph type="dt" sz="half" idx="10"/>
          </p:nvPr>
        </p:nvSpPr>
        <p:spPr>
          <a:xfrm>
            <a:off x="413958" y="9475788"/>
            <a:ext cx="2133600" cy="365125"/>
          </a:xfrm>
        </p:spPr>
        <p:txBody>
          <a:bodyPr/>
          <a:lstStyle/>
          <a:p>
            <a:fld id="{A42114F4-DEA9-4743-806A-773D456CFDDE}" type="datetime1">
              <a:rPr lang="tr-TR" sz="2000" smtClean="0">
                <a:solidFill>
                  <a:schemeClr val="tx1"/>
                </a:solidFill>
                <a:latin typeface="Times New Roman" panose="02020603050405020304" pitchFamily="18" charset="0"/>
                <a:cs typeface="Times New Roman" panose="02020603050405020304" pitchFamily="18" charset="0"/>
              </a:rPr>
              <a:t>20.01.2026</a:t>
            </a:fld>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0" name="Alt Bilgi Yer Tutucusu 19">
            <a:extLst>
              <a:ext uri="{FF2B5EF4-FFF2-40B4-BE49-F238E27FC236}">
                <a16:creationId xmlns:a16="http://schemas.microsoft.com/office/drawing/2014/main" id="{A62E804E-2092-67F4-5C45-09107A98337D}"/>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Times New Roman" panose="02020603050405020304" pitchFamily="18" charset="0"/>
                <a:cs typeface="Times New Roman" panose="02020603050405020304" pitchFamily="18" charset="0"/>
              </a:rPr>
              <a:t>PAÜ </a:t>
            </a:r>
            <a:r>
              <a:rPr lang="en-US" sz="2000" dirty="0" err="1">
                <a:solidFill>
                  <a:schemeClr val="tx1"/>
                </a:solidFill>
                <a:latin typeface="Times New Roman" panose="02020603050405020304" pitchFamily="18" charset="0"/>
                <a:cs typeface="Times New Roman" panose="02020603050405020304" pitchFamily="18" charset="0"/>
              </a:rPr>
              <a:t>Endüstri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Mühendisliği</a:t>
            </a:r>
            <a:r>
              <a:rPr lang="en-US" sz="2000" dirty="0">
                <a:solidFill>
                  <a:schemeClr val="tx1"/>
                </a:solidFill>
                <a:latin typeface="Times New Roman" panose="02020603050405020304" pitchFamily="18" charset="0"/>
                <a:cs typeface="Times New Roman" panose="02020603050405020304" pitchFamily="18" charset="0"/>
              </a:rPr>
              <a:t> Bölümü</a:t>
            </a:r>
          </a:p>
        </p:txBody>
      </p:sp>
      <p:sp>
        <p:nvSpPr>
          <p:cNvPr id="11" name="Slayt Numarası Yer Tutucusu 21">
            <a:extLst>
              <a:ext uri="{FF2B5EF4-FFF2-40B4-BE49-F238E27FC236}">
                <a16:creationId xmlns:a16="http://schemas.microsoft.com/office/drawing/2014/main" id="{18F95E1B-21A7-7522-7B0D-BDFE28339FDE}"/>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Times New Roman" panose="02020603050405020304" pitchFamily="18" charset="0"/>
                <a:cs typeface="Times New Roman" panose="02020603050405020304" pitchFamily="18" charset="0"/>
              </a:rPr>
              <a:pPr/>
              <a:t>4</a:t>
            </a:fld>
            <a:endParaRPr lang="en-US" sz="2000">
              <a:solidFill>
                <a:schemeClr val="tx1"/>
              </a:solidFill>
              <a:latin typeface="Times New Roman" panose="02020603050405020304" pitchFamily="18" charset="0"/>
              <a:cs typeface="Times New Roman" panose="02020603050405020304" pitchFamily="18" charset="0"/>
            </a:endParaRPr>
          </a:p>
        </p:txBody>
      </p:sp>
      <p:sp>
        <p:nvSpPr>
          <p:cNvPr id="4" name="Freeform 12">
            <a:extLst>
              <a:ext uri="{FF2B5EF4-FFF2-40B4-BE49-F238E27FC236}">
                <a16:creationId xmlns:a16="http://schemas.microsoft.com/office/drawing/2014/main" id="{1426F285-F84C-E683-3560-A9E6B4725C46}"/>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latin typeface="Times New Roman" panose="02020603050405020304" pitchFamily="18" charset="0"/>
              <a:cs typeface="Times New Roman" panose="02020603050405020304" pitchFamily="18" charset="0"/>
            </a:endParaRPr>
          </a:p>
        </p:txBody>
      </p:sp>
      <p:sp>
        <p:nvSpPr>
          <p:cNvPr id="5" name="Freeform 13">
            <a:extLst>
              <a:ext uri="{FF2B5EF4-FFF2-40B4-BE49-F238E27FC236}">
                <a16:creationId xmlns:a16="http://schemas.microsoft.com/office/drawing/2014/main" id="{8736B46C-A599-8A21-8661-249AFB457FAA}"/>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latin typeface="Times New Roman" panose="02020603050405020304" pitchFamily="18" charset="0"/>
              <a:cs typeface="Times New Roman" panose="02020603050405020304" pitchFamily="18" charset="0"/>
            </a:endParaRPr>
          </a:p>
        </p:txBody>
      </p:sp>
      <p:sp>
        <p:nvSpPr>
          <p:cNvPr id="13" name="İçerik Yer Tutucusu 2">
            <a:extLst>
              <a:ext uri="{FF2B5EF4-FFF2-40B4-BE49-F238E27FC236}">
                <a16:creationId xmlns:a16="http://schemas.microsoft.com/office/drawing/2014/main" id="{2B8B6EAD-5E85-C22F-4A34-27F428C8D00D}"/>
              </a:ext>
            </a:extLst>
          </p:cNvPr>
          <p:cNvSpPr>
            <a:spLocks noGrp="1"/>
          </p:cNvSpPr>
          <p:nvPr>
            <p:ph idx="1"/>
          </p:nvPr>
        </p:nvSpPr>
        <p:spPr>
          <a:xfrm>
            <a:off x="982762" y="5797546"/>
            <a:ext cx="16322475" cy="2861134"/>
          </a:xfrm>
        </p:spPr>
        <p:txBody>
          <a:bodyPr>
            <a:normAutofit/>
          </a:bodyPr>
          <a:lstStyle/>
          <a:p>
            <a:pPr marL="0" indent="0" algn="ctr">
              <a:buNone/>
            </a:pPr>
            <a:r>
              <a:rPr lang="tr-TR" sz="2800" dirty="0">
                <a:latin typeface="Times New Roman" panose="02020603050405020304" pitchFamily="18" charset="0"/>
                <a:cs typeface="Times New Roman" panose="02020603050405020304" pitchFamily="18" charset="0"/>
              </a:rPr>
              <a:t>	Çalışmada, klasik sezgisel algoritmalar ile meta-sezgisel optimizasyon yöntemlerinin konteyner yükleme verimliliği üzerindeki etkileri karşılaştırmalı olarak analiz edilmesi hedeflenmiştir. Ayrıca geliştirilen sistem aracılığıyla, karar vericilere yükleme sürecini üç boyutlu olarak inceleme ve farklı algoritmaların performanslarını karşılaştırma imkânı sunulması amaçlanmaktadır.</a:t>
            </a:r>
            <a:endParaRPr lang="en-US" sz="2800" dirty="0">
              <a:latin typeface="Times New Roman" panose="02020603050405020304" pitchFamily="18" charset="0"/>
              <a:cs typeface="Times New Roman" panose="02020603050405020304" pitchFamily="18" charset="0"/>
            </a:endParaRPr>
          </a:p>
        </p:txBody>
      </p:sp>
      <p:pic>
        <p:nvPicPr>
          <p:cNvPr id="7" name="Resim 6" descr="metin, yazı tipi, çizgi, ekran görüntüsü içeren bir resim&#10;&#10;Yapay zeka tarafından oluşturulmuş içerik yanlış olabilir.">
            <a:extLst>
              <a:ext uri="{FF2B5EF4-FFF2-40B4-BE49-F238E27FC236}">
                <a16:creationId xmlns:a16="http://schemas.microsoft.com/office/drawing/2014/main" id="{F3EF0711-AD42-3CB0-C704-AFCA67BD936E}"/>
              </a:ext>
            </a:extLst>
          </p:cNvPr>
          <p:cNvPicPr>
            <a:picLocks noChangeAspect="1"/>
          </p:cNvPicPr>
          <p:nvPr/>
        </p:nvPicPr>
        <p:blipFill>
          <a:blip r:embed="rId5"/>
          <a:stretch>
            <a:fillRect/>
          </a:stretch>
        </p:blipFill>
        <p:spPr>
          <a:xfrm>
            <a:off x="3292913" y="2282366"/>
            <a:ext cx="11702172" cy="2861134"/>
          </a:xfrm>
          <a:prstGeom prst="rect">
            <a:avLst/>
          </a:prstGeom>
        </p:spPr>
      </p:pic>
    </p:spTree>
    <p:extLst>
      <p:ext uri="{BB962C8B-B14F-4D97-AF65-F5344CB8AC3E}">
        <p14:creationId xmlns:p14="http://schemas.microsoft.com/office/powerpoint/2010/main" val="215750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6A1E-6E2A-124F-605B-4299CF43BED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62022D3-6334-1465-80B4-7DEC8FA02FED}"/>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LİTERATÜR TARAMASI</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47E7C3E2-9C20-D9FB-C682-56D7CABF7A16}"/>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9176D28E-8B03-10D7-44D0-9E24E77779C2}"/>
              </a:ext>
            </a:extLst>
          </p:cNvPr>
          <p:cNvSpPr>
            <a:spLocks noGrp="1"/>
          </p:cNvSpPr>
          <p:nvPr>
            <p:ph type="dt" sz="half" idx="10"/>
          </p:nvPr>
        </p:nvSpPr>
        <p:spPr>
          <a:xfrm>
            <a:off x="413958" y="9475788"/>
            <a:ext cx="2133600" cy="365125"/>
          </a:xfrm>
        </p:spPr>
        <p:txBody>
          <a:bodyPr/>
          <a:lstStyle/>
          <a:p>
            <a:fld id="{66BA7DED-D49E-4F33-8202-90A136DE34C0}"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0BA60586-B8FF-F969-CC77-4E7183AAA909}"/>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68B11B30-FF42-EEF2-C69D-95B67655F294}"/>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5</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3836123A-CF7C-E973-5AF2-70EC19D1A2D6}"/>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23A44D5C-D28A-99E6-A14C-D1AD8A0D3F04}"/>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graphicFrame>
        <p:nvGraphicFramePr>
          <p:cNvPr id="13" name="Tablo 12">
            <a:extLst>
              <a:ext uri="{FF2B5EF4-FFF2-40B4-BE49-F238E27FC236}">
                <a16:creationId xmlns:a16="http://schemas.microsoft.com/office/drawing/2014/main" id="{9830D16E-3C2F-B04C-3277-8A9B297E650D}"/>
              </a:ext>
            </a:extLst>
          </p:cNvPr>
          <p:cNvGraphicFramePr>
            <a:graphicFrameLocks noGrp="1"/>
          </p:cNvGraphicFramePr>
          <p:nvPr>
            <p:extLst>
              <p:ext uri="{D42A27DB-BD31-4B8C-83A1-F6EECF244321}">
                <p14:modId xmlns:p14="http://schemas.microsoft.com/office/powerpoint/2010/main" val="4219019540"/>
              </p:ext>
            </p:extLst>
          </p:nvPr>
        </p:nvGraphicFramePr>
        <p:xfrm>
          <a:off x="1431317" y="2762344"/>
          <a:ext cx="15316200" cy="5745024"/>
        </p:xfrm>
        <a:graphic>
          <a:graphicData uri="http://schemas.openxmlformats.org/drawingml/2006/table">
            <a:tbl>
              <a:tblPr>
                <a:tableStyleId>{69CF1AB2-1976-4502-BF36-3FF5EA218861}</a:tableStyleId>
              </a:tblPr>
              <a:tblGrid>
                <a:gridCol w="3829050">
                  <a:extLst>
                    <a:ext uri="{9D8B030D-6E8A-4147-A177-3AD203B41FA5}">
                      <a16:colId xmlns:a16="http://schemas.microsoft.com/office/drawing/2014/main" val="3123269459"/>
                    </a:ext>
                  </a:extLst>
                </a:gridCol>
                <a:gridCol w="3829050">
                  <a:extLst>
                    <a:ext uri="{9D8B030D-6E8A-4147-A177-3AD203B41FA5}">
                      <a16:colId xmlns:a16="http://schemas.microsoft.com/office/drawing/2014/main" val="1170985919"/>
                    </a:ext>
                  </a:extLst>
                </a:gridCol>
                <a:gridCol w="3829050">
                  <a:extLst>
                    <a:ext uri="{9D8B030D-6E8A-4147-A177-3AD203B41FA5}">
                      <a16:colId xmlns:a16="http://schemas.microsoft.com/office/drawing/2014/main" val="1943522271"/>
                    </a:ext>
                  </a:extLst>
                </a:gridCol>
                <a:gridCol w="3829050">
                  <a:extLst>
                    <a:ext uri="{9D8B030D-6E8A-4147-A177-3AD203B41FA5}">
                      <a16:colId xmlns:a16="http://schemas.microsoft.com/office/drawing/2014/main" val="2967883281"/>
                    </a:ext>
                  </a:extLst>
                </a:gridCol>
              </a:tblGrid>
              <a:tr h="301731">
                <a:tc>
                  <a:txBody>
                    <a:bodyPr/>
                    <a:lstStyle/>
                    <a:p>
                      <a:pPr>
                        <a:buNone/>
                      </a:pPr>
                      <a:r>
                        <a:rPr lang="en-US" sz="2000" b="1"/>
                        <a:t>Yazar (Yıl)</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Çalışmanın Amacı</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Kullanılan Yöntem / Algoritma</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Temel Katkı / Bulgular</a:t>
                      </a:r>
                      <a:endParaRPr lang="en-US" sz="200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2468638125"/>
                  </a:ext>
                </a:extLst>
              </a:tr>
              <a:tr h="1077610">
                <a:tc>
                  <a:txBody>
                    <a:bodyPr/>
                    <a:lstStyle/>
                    <a:p>
                      <a:pPr>
                        <a:buNone/>
                      </a:pPr>
                      <a:r>
                        <a:rPr lang="nl-NL" sz="2000" b="1"/>
                        <a:t>Li Wang &amp; Xiaoning Zhu (2019)</a:t>
                      </a:r>
                      <a:endParaRPr lang="nl-NL"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Konteyner yükleme sırasını optimize ederek toplam elleçleme süresini azaltmak</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sv-SE" sz="2000" dirty="0"/>
                        <a:t>Özel olarak tasarlanmış </a:t>
                      </a:r>
                      <a:r>
                        <a:rPr lang="sv-SE" sz="2000" b="1" dirty="0"/>
                        <a:t>Genetik Algoritma (GA)</a:t>
                      </a:r>
                      <a:endParaRPr lang="sv-SE" sz="2000" dirty="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Yükleme sırasını da karar değişkeni olarak ele alan ve operasyonel süreyi azaltan etkin bir genetik algoritma modeli geliştirilmiştir</a:t>
                      </a:r>
                      <a:endParaRPr lang="en-US" sz="200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3946821931"/>
                  </a:ext>
                </a:extLst>
              </a:tr>
              <a:tr h="818984">
                <a:tc>
                  <a:txBody>
                    <a:bodyPr/>
                    <a:lstStyle/>
                    <a:p>
                      <a:pPr>
                        <a:buNone/>
                      </a:pPr>
                      <a:r>
                        <a:rPr lang="en-US" sz="2000" b="1"/>
                        <a:t>Türkay Dereli &amp; Gülesin Sena Daş (2010)</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Konteyner yükleme problemini çok amaçlı olarak ele almak</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dirty="0" err="1"/>
                        <a:t>Hibrit</a:t>
                      </a:r>
                      <a:r>
                        <a:rPr lang="en-US" sz="2000" b="1" dirty="0"/>
                        <a:t> </a:t>
                      </a:r>
                      <a:r>
                        <a:rPr lang="en-US" sz="2000" b="1" dirty="0" err="1"/>
                        <a:t>Tavlama</a:t>
                      </a:r>
                      <a:r>
                        <a:rPr lang="en-US" sz="2000" b="1" dirty="0"/>
                        <a:t> </a:t>
                      </a:r>
                      <a:r>
                        <a:rPr lang="en-US" sz="2000" b="1" dirty="0" err="1"/>
                        <a:t>Benzetimi</a:t>
                      </a:r>
                      <a:r>
                        <a:rPr lang="en-US" sz="2000" b="1" dirty="0"/>
                        <a:t> (Simulated Annealing)</a:t>
                      </a:r>
                      <a:endParaRPr lang="en-US" sz="2000" dirty="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dirty="0" err="1"/>
                        <a:t>Hacimsel</a:t>
                      </a:r>
                      <a:r>
                        <a:rPr lang="en-US" sz="2000" dirty="0"/>
                        <a:t> </a:t>
                      </a:r>
                      <a:r>
                        <a:rPr lang="en-US" sz="2000" dirty="0" err="1"/>
                        <a:t>doluluk</a:t>
                      </a:r>
                      <a:r>
                        <a:rPr lang="en-US" sz="2000" dirty="0"/>
                        <a:t> </a:t>
                      </a:r>
                      <a:r>
                        <a:rPr lang="en-US" sz="2000" dirty="0" err="1"/>
                        <a:t>oranının</a:t>
                      </a:r>
                      <a:r>
                        <a:rPr lang="en-US" sz="2000" dirty="0"/>
                        <a:t> </a:t>
                      </a:r>
                      <a:r>
                        <a:rPr lang="en-US" sz="2000" dirty="0" err="1"/>
                        <a:t>yanı</a:t>
                      </a:r>
                      <a:r>
                        <a:rPr lang="en-US" sz="2000" dirty="0"/>
                        <a:t> </a:t>
                      </a:r>
                      <a:r>
                        <a:rPr lang="en-US" sz="2000" dirty="0" err="1"/>
                        <a:t>sıra</a:t>
                      </a:r>
                      <a:r>
                        <a:rPr lang="en-US" sz="2000" dirty="0"/>
                        <a:t> </a:t>
                      </a:r>
                      <a:r>
                        <a:rPr lang="en-US" sz="2000" dirty="0" err="1"/>
                        <a:t>yük</a:t>
                      </a:r>
                      <a:r>
                        <a:rPr lang="en-US" sz="2000" dirty="0"/>
                        <a:t> </a:t>
                      </a:r>
                      <a:r>
                        <a:rPr lang="en-US" sz="2000" dirty="0" err="1"/>
                        <a:t>dengesi</a:t>
                      </a:r>
                      <a:r>
                        <a:rPr lang="en-US" sz="2000" dirty="0"/>
                        <a:t> </a:t>
                      </a:r>
                      <a:r>
                        <a:rPr lang="en-US" sz="2000" dirty="0" err="1"/>
                        <a:t>gibi</a:t>
                      </a:r>
                      <a:r>
                        <a:rPr lang="en-US" sz="2000" dirty="0"/>
                        <a:t> </a:t>
                      </a:r>
                      <a:r>
                        <a:rPr lang="en-US" sz="2000" dirty="0" err="1"/>
                        <a:t>gerçekçi</a:t>
                      </a:r>
                      <a:r>
                        <a:rPr lang="en-US" sz="2000" dirty="0"/>
                        <a:t> </a:t>
                      </a:r>
                      <a:r>
                        <a:rPr lang="en-US" sz="2000" dirty="0" err="1"/>
                        <a:t>kısıtlar</a:t>
                      </a:r>
                      <a:r>
                        <a:rPr lang="en-US" sz="2000" dirty="0"/>
                        <a:t> </a:t>
                      </a:r>
                      <a:r>
                        <a:rPr lang="en-US" sz="2000" dirty="0" err="1"/>
                        <a:t>modele</a:t>
                      </a:r>
                      <a:r>
                        <a:rPr lang="en-US" sz="2000" dirty="0"/>
                        <a:t> </a:t>
                      </a:r>
                      <a:r>
                        <a:rPr lang="en-US" sz="2000" dirty="0" err="1"/>
                        <a:t>dahil</a:t>
                      </a:r>
                      <a:r>
                        <a:rPr lang="en-US" sz="2000" dirty="0"/>
                        <a:t> </a:t>
                      </a:r>
                      <a:r>
                        <a:rPr lang="en-US" sz="2000" dirty="0" err="1"/>
                        <a:t>edilmiştir</a:t>
                      </a:r>
                      <a:endParaRPr lang="en-US" sz="2000" dirty="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1132271641"/>
                  </a:ext>
                </a:extLst>
              </a:tr>
              <a:tr h="689670">
                <a:tc>
                  <a:txBody>
                    <a:bodyPr/>
                    <a:lstStyle/>
                    <a:p>
                      <a:pPr>
                        <a:buNone/>
                      </a:pPr>
                      <a:r>
                        <a:rPr lang="en-US" sz="2000" b="1"/>
                        <a:t>Shigeyuki Takahara (2008)</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dirty="0"/>
                        <a:t>Kutu </a:t>
                      </a:r>
                      <a:r>
                        <a:rPr lang="en-US" sz="2000" dirty="0" err="1"/>
                        <a:t>paketleme</a:t>
                      </a:r>
                      <a:r>
                        <a:rPr lang="en-US" sz="2000" dirty="0"/>
                        <a:t> </a:t>
                      </a:r>
                      <a:r>
                        <a:rPr lang="en-US" sz="2000" dirty="0" err="1"/>
                        <a:t>problemlerinde</a:t>
                      </a:r>
                      <a:r>
                        <a:rPr lang="en-US" sz="2000" dirty="0"/>
                        <a:t> </a:t>
                      </a:r>
                      <a:r>
                        <a:rPr lang="en-US" sz="2000" dirty="0" err="1"/>
                        <a:t>yerleştirme</a:t>
                      </a:r>
                      <a:r>
                        <a:rPr lang="en-US" sz="2000" dirty="0"/>
                        <a:t> </a:t>
                      </a:r>
                      <a:r>
                        <a:rPr lang="en-US" sz="2000" dirty="0" err="1"/>
                        <a:t>verimliliğini</a:t>
                      </a:r>
                      <a:r>
                        <a:rPr lang="en-US" sz="2000" dirty="0"/>
                        <a:t> </a:t>
                      </a:r>
                      <a:r>
                        <a:rPr lang="en-US" sz="2000" dirty="0" err="1"/>
                        <a:t>artırmak</a:t>
                      </a:r>
                      <a:endParaRPr lang="en-US" sz="2000" dirty="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First-Fit tabanlı</a:t>
                      </a:r>
                      <a:r>
                        <a:rPr lang="en-US" sz="2000"/>
                        <a:t>, çoklu başlangıçlı </a:t>
                      </a:r>
                      <a:r>
                        <a:rPr lang="en-US" sz="2000" b="1"/>
                        <a:t>yerel arama stratejileri</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Kutu sıralama ve yerleştirme esasına dayalı sezgisel yaklaşımlar geliştirilmiştir</a:t>
                      </a:r>
                      <a:endParaRPr lang="en-US" sz="200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1967676879"/>
                  </a:ext>
                </a:extLst>
              </a:tr>
              <a:tr h="818984">
                <a:tc>
                  <a:txBody>
                    <a:bodyPr/>
                    <a:lstStyle/>
                    <a:p>
                      <a:pPr>
                        <a:buNone/>
                      </a:pPr>
                      <a:r>
                        <a:rPr lang="en-US" sz="2000" b="1"/>
                        <a:t>David Pisinger (2002)</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Kutu paketleme problemleri için sezgisel optimizasyon yöntemleri geliştirmek</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Best-Fit</a:t>
                      </a:r>
                      <a:r>
                        <a:rPr lang="en-US" sz="2000"/>
                        <a:t>, </a:t>
                      </a:r>
                      <a:r>
                        <a:rPr lang="en-US" sz="2000" b="1"/>
                        <a:t>Wall-Building (Duvar İnşa Etme)</a:t>
                      </a:r>
                      <a:r>
                        <a:rPr lang="en-US" sz="2000"/>
                        <a:t> stratejileri</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Modern paketleme sezgisel algoritmalarının temelini oluşturan yöntemler literatüre kazandırılmıştır</a:t>
                      </a:r>
                      <a:endParaRPr lang="en-US" sz="200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3228888846"/>
                  </a:ext>
                </a:extLst>
              </a:tr>
              <a:tr h="818984">
                <a:tc>
                  <a:txBody>
                    <a:bodyPr/>
                    <a:lstStyle/>
                    <a:p>
                      <a:pPr>
                        <a:buNone/>
                      </a:pPr>
                      <a:r>
                        <a:rPr lang="en-US" sz="2000" b="1"/>
                        <a:t>Aykut Şen (2023)</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a:t>3 boyutlu yükleme süreçlerinin görsel olarak sunulması</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b="1"/>
                        <a:t>Three.js</a:t>
                      </a:r>
                      <a:r>
                        <a:rPr lang="en-US" sz="2000"/>
                        <a:t>, </a:t>
                      </a:r>
                      <a:r>
                        <a:rPr lang="en-US" sz="2000" b="1"/>
                        <a:t>React-Three-Fiber</a:t>
                      </a:r>
                      <a:endParaRPr lang="en-US" sz="2000">
                        <a:latin typeface="Times New Roman" panose="02020603050405020304" pitchFamily="18" charset="0"/>
                        <a:cs typeface="Times New Roman" panose="02020603050405020304" pitchFamily="18" charset="0"/>
                      </a:endParaRPr>
                    </a:p>
                  </a:txBody>
                  <a:tcPr marL="43104" marR="43104" marT="21552" marB="21552" anchor="ctr"/>
                </a:tc>
                <a:tc>
                  <a:txBody>
                    <a:bodyPr/>
                    <a:lstStyle/>
                    <a:p>
                      <a:pPr>
                        <a:buNone/>
                      </a:pPr>
                      <a:r>
                        <a:rPr lang="en-US" sz="2000" dirty="0"/>
                        <a:t>3B </a:t>
                      </a:r>
                      <a:r>
                        <a:rPr lang="en-US" sz="2000" dirty="0" err="1"/>
                        <a:t>görselleştirme</a:t>
                      </a:r>
                      <a:r>
                        <a:rPr lang="en-US" sz="2000" dirty="0"/>
                        <a:t> </a:t>
                      </a:r>
                      <a:r>
                        <a:rPr lang="en-US" sz="2000" dirty="0" err="1"/>
                        <a:t>ve</a:t>
                      </a:r>
                      <a:r>
                        <a:rPr lang="en-US" sz="2000" dirty="0"/>
                        <a:t> render </a:t>
                      </a:r>
                      <a:r>
                        <a:rPr lang="en-US" sz="2000" dirty="0" err="1"/>
                        <a:t>teknikleri</a:t>
                      </a:r>
                      <a:r>
                        <a:rPr lang="en-US" sz="2000" dirty="0"/>
                        <a:t> </a:t>
                      </a:r>
                      <a:r>
                        <a:rPr lang="en-US" sz="2000" dirty="0" err="1"/>
                        <a:t>kullanılarak</a:t>
                      </a:r>
                      <a:r>
                        <a:rPr lang="en-US" sz="2000" dirty="0"/>
                        <a:t> </a:t>
                      </a:r>
                      <a:r>
                        <a:rPr lang="en-US" sz="2000" dirty="0" err="1"/>
                        <a:t>etkileşimli</a:t>
                      </a:r>
                      <a:r>
                        <a:rPr lang="en-US" sz="2000" dirty="0"/>
                        <a:t> </a:t>
                      </a:r>
                      <a:r>
                        <a:rPr lang="en-US" sz="2000" dirty="0" err="1"/>
                        <a:t>ve</a:t>
                      </a:r>
                      <a:r>
                        <a:rPr lang="en-US" sz="2000" dirty="0"/>
                        <a:t> </a:t>
                      </a:r>
                      <a:r>
                        <a:rPr lang="en-US" sz="2000" dirty="0" err="1"/>
                        <a:t>anlaşılır</a:t>
                      </a:r>
                      <a:r>
                        <a:rPr lang="en-US" sz="2000" dirty="0"/>
                        <a:t> </a:t>
                      </a:r>
                      <a:r>
                        <a:rPr lang="en-US" sz="2000" dirty="0" err="1"/>
                        <a:t>bir</a:t>
                      </a:r>
                      <a:r>
                        <a:rPr lang="en-US" sz="2000" dirty="0"/>
                        <a:t> </a:t>
                      </a:r>
                      <a:r>
                        <a:rPr lang="en-US" sz="2000" dirty="0" err="1"/>
                        <a:t>görsel</a:t>
                      </a:r>
                      <a:r>
                        <a:rPr lang="en-US" sz="2000" dirty="0"/>
                        <a:t> </a:t>
                      </a:r>
                      <a:r>
                        <a:rPr lang="en-US" sz="2000" dirty="0" err="1"/>
                        <a:t>sunum</a:t>
                      </a:r>
                      <a:r>
                        <a:rPr lang="en-US" sz="2000" dirty="0"/>
                        <a:t> </a:t>
                      </a:r>
                      <a:r>
                        <a:rPr lang="en-US" sz="2000" dirty="0" err="1"/>
                        <a:t>sağlanmıştır</a:t>
                      </a:r>
                      <a:endParaRPr lang="en-US" sz="2000" dirty="0">
                        <a:latin typeface="Times New Roman" panose="02020603050405020304" pitchFamily="18" charset="0"/>
                        <a:cs typeface="Times New Roman" panose="02020603050405020304" pitchFamily="18" charset="0"/>
                      </a:endParaRPr>
                    </a:p>
                  </a:txBody>
                  <a:tcPr marL="43104" marR="43104" marT="21552" marB="21552" anchor="ctr"/>
                </a:tc>
                <a:extLst>
                  <a:ext uri="{0D108BD9-81ED-4DB2-BD59-A6C34878D82A}">
                    <a16:rowId xmlns:a16="http://schemas.microsoft.com/office/drawing/2014/main" val="1262498253"/>
                  </a:ext>
                </a:extLst>
              </a:tr>
            </a:tbl>
          </a:graphicData>
        </a:graphic>
      </p:graphicFrame>
    </p:spTree>
    <p:extLst>
      <p:ext uri="{BB962C8B-B14F-4D97-AF65-F5344CB8AC3E}">
        <p14:creationId xmlns:p14="http://schemas.microsoft.com/office/powerpoint/2010/main" val="264138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46377-B013-1389-9A5A-2315999AD6D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1E0E7A2-3BEC-BE9A-95CD-7C6D1F32DB68}"/>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rPr>
              <a:t>PROBLEM TANIMI</a:t>
            </a:r>
          </a:p>
        </p:txBody>
      </p:sp>
      <p:sp>
        <p:nvSpPr>
          <p:cNvPr id="8" name="AutoShape 16">
            <a:extLst>
              <a:ext uri="{FF2B5EF4-FFF2-40B4-BE49-F238E27FC236}">
                <a16:creationId xmlns:a16="http://schemas.microsoft.com/office/drawing/2014/main" id="{54DEA988-7FD9-F798-17FF-8AE8BAF33039}"/>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0E1C70E3-80A1-B6FD-6515-11A093B09346}"/>
              </a:ext>
            </a:extLst>
          </p:cNvPr>
          <p:cNvSpPr>
            <a:spLocks noGrp="1"/>
          </p:cNvSpPr>
          <p:nvPr>
            <p:ph type="dt" sz="half" idx="10"/>
          </p:nvPr>
        </p:nvSpPr>
        <p:spPr>
          <a:xfrm>
            <a:off x="413958" y="9475788"/>
            <a:ext cx="2133600" cy="365125"/>
          </a:xfrm>
        </p:spPr>
        <p:txBody>
          <a:bodyPr/>
          <a:lstStyle/>
          <a:p>
            <a:fld id="{4A0C558A-E408-4567-B5F3-44E864EC7510}"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7954612B-5C82-DC70-DE0A-0ED25263760C}"/>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A47F947F-1D93-6DE6-BBF7-AAA1F2B92C47}"/>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6</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3934E83E-D7DF-B2D5-3887-C2F930DA4421}"/>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B3541212-B9EA-E3D5-85D8-587DEEE4C28B}"/>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pic>
        <p:nvPicPr>
          <p:cNvPr id="12" name="Resim 11">
            <a:extLst>
              <a:ext uri="{FF2B5EF4-FFF2-40B4-BE49-F238E27FC236}">
                <a16:creationId xmlns:a16="http://schemas.microsoft.com/office/drawing/2014/main" id="{CE7CCAFC-608A-9C90-BF70-ED587CC8E111}"/>
              </a:ext>
            </a:extLst>
          </p:cNvPr>
          <p:cNvPicPr>
            <a:picLocks noChangeAspect="1"/>
          </p:cNvPicPr>
          <p:nvPr/>
        </p:nvPicPr>
        <p:blipFill>
          <a:blip r:embed="rId5"/>
          <a:stretch>
            <a:fillRect/>
          </a:stretch>
        </p:blipFill>
        <p:spPr>
          <a:xfrm>
            <a:off x="8185868" y="4745613"/>
            <a:ext cx="9644932" cy="4367852"/>
          </a:xfrm>
          <a:prstGeom prst="rect">
            <a:avLst/>
          </a:prstGeom>
        </p:spPr>
      </p:pic>
      <p:sp>
        <p:nvSpPr>
          <p:cNvPr id="13" name="Rectangle 3">
            <a:extLst>
              <a:ext uri="{FF2B5EF4-FFF2-40B4-BE49-F238E27FC236}">
                <a16:creationId xmlns:a16="http://schemas.microsoft.com/office/drawing/2014/main" id="{ABB0EA9D-5F91-A9FC-74FE-54A6B7288E44}"/>
              </a:ext>
            </a:extLst>
          </p:cNvPr>
          <p:cNvSpPr>
            <a:spLocks noGrp="1" noChangeArrowheads="1"/>
          </p:cNvSpPr>
          <p:nvPr>
            <p:ph idx="1"/>
          </p:nvPr>
        </p:nvSpPr>
        <p:spPr bwMode="auto">
          <a:xfrm>
            <a:off x="413958" y="2049601"/>
            <a:ext cx="1776544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spcBef>
                <a:spcPct val="0"/>
              </a:spcBef>
              <a:spcAft>
                <a:spcPct val="0"/>
              </a:spcAft>
              <a:buNone/>
            </a:pPr>
            <a:r>
              <a:rPr lang="tr-TR" sz="2400" dirty="0">
                <a:latin typeface="Times New Roman" panose="02020603050405020304" pitchFamily="18" charset="0"/>
                <a:cs typeface="Times New Roman" panose="02020603050405020304" pitchFamily="18" charset="0"/>
              </a:rPr>
              <a:t>Bu çalışmanın odak noktası, lojistik ve tedarik zinciri yönetiminin en kritik darboğazlarından biri olan </a:t>
            </a:r>
            <a:r>
              <a:rPr lang="tr-TR" sz="2400" b="1" dirty="0">
                <a:latin typeface="Times New Roman" panose="02020603050405020304" pitchFamily="18" charset="0"/>
                <a:cs typeface="Times New Roman" panose="02020603050405020304" pitchFamily="18" charset="0"/>
              </a:rPr>
              <a:t>3-Boyutlu Konteyner Yükleme Problemi (3D-CLP)</a:t>
            </a:r>
            <a:r>
              <a:rPr lang="tr-T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için</a:t>
            </a:r>
            <a:endParaRPr lang="en-US" sz="2400" dirty="0">
              <a:latin typeface="Times New Roman" panose="02020603050405020304" pitchFamily="18" charset="0"/>
              <a:cs typeface="Times New Roman" panose="02020603050405020304" pitchFamily="18" charset="0"/>
            </a:endParaRPr>
          </a:p>
          <a:p>
            <a:pPr marL="0" indent="0" algn="ctr" eaLnBrk="0" fontAlgn="base" hangingPunct="0">
              <a:spcBef>
                <a:spcPct val="0"/>
              </a:spcBef>
              <a:spcAft>
                <a:spcPct val="0"/>
              </a:spcAft>
              <a:buNone/>
            </a:pPr>
            <a:r>
              <a:rPr lang="en-US" sz="2400" dirty="0" err="1">
                <a:latin typeface="Times New Roman" panose="02020603050405020304" pitchFamily="18" charset="0"/>
                <a:cs typeface="Times New Roman" panose="02020603050405020304" pitchFamily="18" charset="0"/>
              </a:rPr>
              <a:t>Seçilen</a:t>
            </a:r>
            <a:r>
              <a:rPr lang="en-US" sz="2400" dirty="0">
                <a:latin typeface="Times New Roman" panose="02020603050405020304" pitchFamily="18" charset="0"/>
                <a:cs typeface="Times New Roman" panose="02020603050405020304" pitchFamily="18" charset="0"/>
              </a:rPr>
              <a:t> </a:t>
            </a:r>
            <a:r>
              <a:rPr lang="tr-TR" sz="2400" dirty="0">
                <a:latin typeface="Times New Roman" panose="02020603050405020304" pitchFamily="18" charset="0"/>
                <a:cs typeface="Times New Roman" panose="02020603050405020304" pitchFamily="18" charset="0"/>
              </a:rPr>
              <a:t>her bir yöntemin gerçek bir senaryoda ne kadar etkili olduğu ve hangisinin daha iyi sonuçlar verdiği gibi temel soruların cevaplarına kullanıcı dostu bir uygulamayla basite indirgemektir.</a:t>
            </a: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marL="0" lvl="0" indent="0" algn="ctr" eaLnBrk="0" fontAlgn="base" hangingPunct="0">
              <a:spcBef>
                <a:spcPct val="0"/>
              </a:spcBef>
              <a:spcAft>
                <a:spcPct val="0"/>
              </a:spcAft>
              <a:buFontTx/>
              <a:buChar char="•"/>
            </a:pPr>
            <a:b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3A9046B7-7E95-7DCD-0296-39F0E1E71078}"/>
                  </a:ext>
                </a:extLst>
              </p:cNvPr>
              <p:cNvSpPr txBox="1"/>
              <p:nvPr/>
            </p:nvSpPr>
            <p:spPr>
              <a:xfrm>
                <a:off x="675968" y="6403292"/>
                <a:ext cx="4114800" cy="15109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𝑚𝑎𝑥</m:t>
                      </m:r>
                      <m:nary>
                        <m:naryPr>
                          <m:chr m:val="∑"/>
                          <m:limLoc m:val="subSup"/>
                          <m:grow m:val="on"/>
                          <m:ctrlPr>
                            <a:rPr lang="en-US" sz="3200" i="1">
                              <a:latin typeface="Cambria Math" panose="02040503050406030204" pitchFamily="18" charset="0"/>
                            </a:rPr>
                          </m:ctrlPr>
                        </m:naryPr>
                        <m:sub>
                          <m:r>
                            <a:rPr lang="en-US" sz="3200" i="1">
                              <a:latin typeface="Cambria Math" panose="02040503050406030204" pitchFamily="18" charset="0"/>
                            </a:rPr>
                            <m:t>𝑘</m:t>
                          </m:r>
                          <m:r>
                            <a:rPr lang="en-US" sz="3200" i="0">
                              <a:latin typeface="Cambria Math" panose="02040503050406030204" pitchFamily="18" charset="0"/>
                            </a:rPr>
                            <m:t>=1</m:t>
                          </m:r>
                        </m:sub>
                        <m:sup>
                          <m:r>
                            <a:rPr lang="en-US" sz="3200" i="1">
                              <a:latin typeface="Cambria Math" panose="02040503050406030204" pitchFamily="18" charset="0"/>
                            </a:rPr>
                            <m:t>𝑘</m:t>
                          </m:r>
                        </m:sup>
                        <m:e>
                          <m:nary>
                            <m:naryPr>
                              <m:chr m:val="∑"/>
                              <m:limLoc m:val="subSup"/>
                              <m:grow m:val="on"/>
                              <m:ctrlPr>
                                <a:rPr lang="en-US" sz="3200" i="1">
                                  <a:latin typeface="Cambria Math" panose="02040503050406030204" pitchFamily="18" charset="0"/>
                                </a:rPr>
                              </m:ctrlPr>
                            </m:naryPr>
                            <m:sub>
                              <m:r>
                                <a:rPr lang="en-US" sz="3200" i="1">
                                  <a:latin typeface="Cambria Math" panose="02040503050406030204" pitchFamily="18" charset="0"/>
                                </a:rPr>
                                <m:t>𝑖</m:t>
                              </m:r>
                              <m:r>
                                <a:rPr lang="en-US" sz="3200" i="0">
                                  <a:latin typeface="Cambria Math" panose="02040503050406030204" pitchFamily="18" charset="0"/>
                                </a:rPr>
                                <m:t>=1</m:t>
                              </m:r>
                            </m:sub>
                            <m:sup>
                              <m:r>
                                <a:rPr lang="en-US" sz="3200" i="1">
                                  <a:latin typeface="Cambria Math" panose="02040503050406030204" pitchFamily="18" charset="0"/>
                                </a:rPr>
                                <m:t>𝑛</m:t>
                              </m:r>
                            </m:sup>
                            <m:e>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𝑉</m:t>
                                      </m:r>
                                    </m:e>
                                    <m:sub>
                                      <m:r>
                                        <a:rPr lang="en-US" sz="3200" i="1">
                                          <a:latin typeface="Cambria Math" panose="02040503050406030204" pitchFamily="18" charset="0"/>
                                        </a:rPr>
                                        <m:t>𝑖</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r>
                                        <a:rPr lang="en-US" sz="3200" i="0">
                                          <a:latin typeface="Cambria Math" panose="02040503050406030204" pitchFamily="18" charset="0"/>
                                        </a:rPr>
                                        <m:t>,</m:t>
                                      </m:r>
                                      <m:r>
                                        <a:rPr lang="en-US" sz="3200" i="1">
                                          <a:latin typeface="Cambria Math" panose="02040503050406030204" pitchFamily="18" charset="0"/>
                                        </a:rPr>
                                        <m:t>𝑘</m:t>
                                      </m:r>
                                    </m:sub>
                                  </m:sSub>
                                </m:e>
                              </m:d>
                            </m:e>
                          </m:nary>
                        </m:e>
                      </m:nary>
                    </m:oMath>
                  </m:oMathPara>
                </a14:m>
                <a:endParaRPr lang="en-US" sz="3200" dirty="0">
                  <a:latin typeface="Poppins" panose="00000500000000000000" pitchFamily="2" charset="0"/>
                  <a:cs typeface="Poppins" panose="00000500000000000000" pitchFamily="2" charset="0"/>
                </a:endParaRPr>
              </a:p>
            </p:txBody>
          </p:sp>
        </mc:Choice>
        <mc:Fallback xmlns="">
          <p:sp>
            <p:nvSpPr>
              <p:cNvPr id="6" name="Metin kutusu 5">
                <a:extLst>
                  <a:ext uri="{FF2B5EF4-FFF2-40B4-BE49-F238E27FC236}">
                    <a16:creationId xmlns:a16="http://schemas.microsoft.com/office/drawing/2014/main" id="{3A9046B7-7E95-7DCD-0296-39F0E1E71078}"/>
                  </a:ext>
                </a:extLst>
              </p:cNvPr>
              <p:cNvSpPr txBox="1">
                <a:spLocks noRot="1" noChangeAspect="1" noMove="1" noResize="1" noEditPoints="1" noAdjustHandles="1" noChangeArrowheads="1" noChangeShapeType="1" noTextEdit="1"/>
              </p:cNvSpPr>
              <p:nvPr/>
            </p:nvSpPr>
            <p:spPr>
              <a:xfrm>
                <a:off x="675968" y="6403292"/>
                <a:ext cx="4114800" cy="1510926"/>
              </a:xfrm>
              <a:prstGeom prst="rect">
                <a:avLst/>
              </a:prstGeom>
              <a:blipFill>
                <a:blip r:embed="rId6"/>
                <a:stretch>
                  <a:fillRect r="-15407"/>
                </a:stretch>
              </a:blipFill>
            </p:spPr>
            <p:txBody>
              <a:bodyPr/>
              <a:lstStyle/>
              <a:p>
                <a:r>
                  <a:rPr lang="en-US">
                    <a:noFill/>
                  </a:rPr>
                  <a:t> </a:t>
                </a:r>
              </a:p>
            </p:txBody>
          </p:sp>
        </mc:Fallback>
      </mc:AlternateContent>
      <p:sp>
        <p:nvSpPr>
          <p:cNvPr id="15" name="Metin kutusu 14">
            <a:extLst>
              <a:ext uri="{FF2B5EF4-FFF2-40B4-BE49-F238E27FC236}">
                <a16:creationId xmlns:a16="http://schemas.microsoft.com/office/drawing/2014/main" id="{D38B22F6-4057-4E7F-A9FD-20A6E6416D2C}"/>
              </a:ext>
            </a:extLst>
          </p:cNvPr>
          <p:cNvSpPr txBox="1"/>
          <p:nvPr/>
        </p:nvSpPr>
        <p:spPr>
          <a:xfrm>
            <a:off x="656303" y="5375078"/>
            <a:ext cx="9166122"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Amaç </a:t>
            </a:r>
            <a:r>
              <a:rPr kumimoji="0" lang="en-US" altLang="en-US" sz="2400" b="1"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Fonksiyonu</a:t>
            </a:r>
            <a:r>
              <a:rPr kumimoji="0" lang="en-US" altLang="en-US" sz="24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31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BF977-C91C-EFE6-2068-15653FEE6FF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43FA9AE-35D8-A104-EBF3-6D9E738213AE}"/>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ARAŞTIRMA SORULARI</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3" name="İçerik Yer Tutucusu 2">
            <a:extLst>
              <a:ext uri="{FF2B5EF4-FFF2-40B4-BE49-F238E27FC236}">
                <a16:creationId xmlns:a16="http://schemas.microsoft.com/office/drawing/2014/main" id="{1E9ED75F-BA02-9033-B962-FD140041051F}"/>
              </a:ext>
            </a:extLst>
          </p:cNvPr>
          <p:cNvSpPr>
            <a:spLocks noGrp="1"/>
          </p:cNvSpPr>
          <p:nvPr>
            <p:ph idx="1"/>
          </p:nvPr>
        </p:nvSpPr>
        <p:spPr>
          <a:xfrm>
            <a:off x="5506594" y="2720521"/>
            <a:ext cx="11385875" cy="6084347"/>
          </a:xfrm>
        </p:spPr>
        <p:txBody>
          <a:bodyPr>
            <a:noAutofit/>
          </a:bodyPr>
          <a:lstStyle/>
          <a:p>
            <a:pPr marL="457200" lvl="1" indent="0">
              <a:buNone/>
            </a:pPr>
            <a:endParaRPr lang="en-US"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Sezgisel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meta-sezgisel algoritmalar</a:t>
            </a:r>
            <a:r>
              <a:rPr lang="en-US" sz="2400"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boyutlu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konteyner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yükleme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problemlerinde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doluluk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oranı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açısından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nasıl</a:t>
            </a:r>
            <a:r>
              <a:rPr lang="en-US" sz="2400" dirty="0">
                <a:latin typeface="Times New Roman" panose="02020603050405020304" pitchFamily="18" charset="0"/>
                <a:cs typeface="Times New Roman" panose="02020603050405020304" pitchFamily="18" charset="0"/>
              </a:rPr>
              <a:t> bir </a:t>
            </a:r>
            <a:r>
              <a:rPr lang="en-US" sz="2400" dirty="0" err="1">
                <a:latin typeface="Times New Roman" panose="02020603050405020304" pitchFamily="18" charset="0"/>
                <a:cs typeface="Times New Roman" panose="02020603050405020304" pitchFamily="18" charset="0"/>
              </a:rPr>
              <a:t>performans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farkı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göstermektedir</a:t>
            </a:r>
            <a:r>
              <a:rPr lang="en-US" sz="2400" dirty="0">
                <a:latin typeface="Times New Roman" panose="02020603050405020304" pitchFamily="18" charset="0"/>
                <a:cs typeface="Times New Roman" panose="02020603050405020304" pitchFamily="18" charset="0"/>
              </a:rPr>
              <a:t>?</a:t>
            </a:r>
            <a:endParaRPr lang="tr-TR"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Meta-sezgisel algoritmalar, </a:t>
            </a:r>
            <a:r>
              <a:rPr lang="en-US" sz="2400" dirty="0" err="1">
                <a:latin typeface="Times New Roman" panose="02020603050405020304" pitchFamily="18" charset="0"/>
                <a:cs typeface="Times New Roman" panose="02020603050405020304" pitchFamily="18" charset="0"/>
              </a:rPr>
              <a:t>klasik</a:t>
            </a:r>
            <a:r>
              <a:rPr lang="en-US" sz="2400" dirty="0">
                <a:latin typeface="Times New Roman" panose="02020603050405020304" pitchFamily="18" charset="0"/>
                <a:cs typeface="Times New Roman" panose="02020603050405020304" pitchFamily="18" charset="0"/>
              </a:rPr>
              <a:t> sezgisel </a:t>
            </a:r>
            <a:r>
              <a:rPr lang="en-US" sz="2400" dirty="0" err="1">
                <a:latin typeface="Times New Roman" panose="02020603050405020304" pitchFamily="18" charset="0"/>
                <a:cs typeface="Times New Roman" panose="02020603050405020304" pitchFamily="18" charset="0"/>
              </a:rPr>
              <a:t>algoritmaların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yetersiz</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kaldığı</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karmaşık</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yükleme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senaryolarında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daha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etkin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çözümler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üretebilmekte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midir</a:t>
            </a:r>
            <a:r>
              <a:rPr lang="en-US" sz="2400" dirty="0">
                <a:latin typeface="Times New Roman" panose="02020603050405020304" pitchFamily="18" charset="0"/>
                <a:cs typeface="Times New Roman" panose="02020603050405020304" pitchFamily="18" charset="0"/>
              </a:rPr>
              <a:t>?</a:t>
            </a:r>
            <a:endParaRPr lang="tr-TR"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Algoritmalar </a:t>
            </a:r>
            <a:r>
              <a:rPr lang="en-US" sz="2400" dirty="0" err="1">
                <a:latin typeface="Times New Roman" panose="02020603050405020304" pitchFamily="18" charset="0"/>
                <a:cs typeface="Times New Roman" panose="02020603050405020304" pitchFamily="18" charset="0"/>
              </a:rPr>
              <a:t>arasında</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çözüm </a:t>
            </a:r>
            <a:r>
              <a:rPr lang="en-US" sz="2400" b="1" dirty="0" err="1">
                <a:latin typeface="Times New Roman" panose="02020603050405020304" pitchFamily="18" charset="0"/>
                <a:cs typeface="Times New Roman" panose="02020603050405020304" pitchFamily="18" charset="0"/>
              </a:rPr>
              <a:t>kalitesi</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ile </a:t>
            </a:r>
            <a:r>
              <a:rPr lang="en-US" sz="2400" b="1" dirty="0" err="1">
                <a:latin typeface="Times New Roman" panose="02020603050405020304" pitchFamily="18" charset="0"/>
                <a:cs typeface="Times New Roman" panose="02020603050405020304" pitchFamily="18" charset="0"/>
              </a:rPr>
              <a:t>hesaplama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süresi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açısından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nasıl</a:t>
            </a:r>
            <a:r>
              <a:rPr lang="en-US" sz="2400" dirty="0">
                <a:latin typeface="Times New Roman" panose="02020603050405020304" pitchFamily="18" charset="0"/>
                <a:cs typeface="Times New Roman" panose="02020603050405020304" pitchFamily="18" charset="0"/>
              </a:rPr>
              <a:t> bir </a:t>
            </a:r>
            <a:r>
              <a:rPr lang="en-US" sz="2400" dirty="0" err="1">
                <a:latin typeface="Times New Roman" panose="02020603050405020304" pitchFamily="18" charset="0"/>
                <a:cs typeface="Times New Roman" panose="02020603050405020304" pitchFamily="18" charset="0"/>
              </a:rPr>
              <a:t>verimlilik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farkı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bulunmaktadır</a:t>
            </a:r>
            <a:r>
              <a:rPr lang="en-US" sz="2400" dirty="0">
                <a:latin typeface="Times New Roman" panose="02020603050405020304" pitchFamily="18" charset="0"/>
                <a:cs typeface="Times New Roman" panose="02020603050405020304" pitchFamily="18" charset="0"/>
              </a:rPr>
              <a:t>?</a:t>
            </a:r>
            <a:endParaRPr lang="tr-TR"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endParaRPr lang="tr-TR" sz="24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tr-TR" sz="2400" dirty="0">
                <a:latin typeface="Times New Roman" panose="02020603050405020304" pitchFamily="18" charset="0"/>
                <a:cs typeface="Times New Roman" panose="02020603050405020304" pitchFamily="18" charset="0"/>
              </a:rPr>
              <a:t>En uygun yöntemin uygulanmasının firma açsından gerçek bir karlılığa dönüşmesi mümkün müdür?</a:t>
            </a:r>
            <a:endParaRPr lang="en-US" sz="2400" dirty="0">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F622CE65-9291-45B1-DF53-AA2B37118694}"/>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DD72BB3F-1162-9370-25B7-7DE84D431821}"/>
              </a:ext>
            </a:extLst>
          </p:cNvPr>
          <p:cNvSpPr>
            <a:spLocks noGrp="1"/>
          </p:cNvSpPr>
          <p:nvPr>
            <p:ph type="dt" sz="half" idx="10"/>
          </p:nvPr>
        </p:nvSpPr>
        <p:spPr>
          <a:xfrm>
            <a:off x="413958" y="9475788"/>
            <a:ext cx="2133600" cy="365125"/>
          </a:xfrm>
        </p:spPr>
        <p:txBody>
          <a:bodyPr/>
          <a:lstStyle/>
          <a:p>
            <a:fld id="{877F62E3-66EC-472E-9022-B53B50CB7303}"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7239DEA0-EB15-CA5E-7922-A2DEFF4DA477}"/>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8CCF762C-7C48-2EA9-7A8E-EEEAD9ABA51C}"/>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7</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995A4F28-2CC9-73ED-E4D1-419C8DCD056C}"/>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A6E5FD9C-6F5C-98CC-1306-0C73CE637B17}"/>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pic>
        <p:nvPicPr>
          <p:cNvPr id="7" name="Resim 6" descr="giyim, gökyüzü, kişi, şahıs, bina içeren bir resim&#10;&#10;Yapay zeka tarafından oluşturulmuş içerik yanlış olabilir.">
            <a:extLst>
              <a:ext uri="{FF2B5EF4-FFF2-40B4-BE49-F238E27FC236}">
                <a16:creationId xmlns:a16="http://schemas.microsoft.com/office/drawing/2014/main" id="{26B3251F-700C-C3BE-A0D9-99F23F848E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95400" y="3223994"/>
            <a:ext cx="3839011" cy="3839011"/>
          </a:xfrm>
          <a:prstGeom prst="rect">
            <a:avLst/>
          </a:prstGeom>
        </p:spPr>
      </p:pic>
    </p:spTree>
    <p:extLst>
      <p:ext uri="{BB962C8B-B14F-4D97-AF65-F5344CB8AC3E}">
        <p14:creationId xmlns:p14="http://schemas.microsoft.com/office/powerpoint/2010/main" val="357565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349B9-33F2-5B0D-BA51-41053459CC7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66B8214-BD56-DF9F-EA6E-BE3DE6A6562A}"/>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YÖNTEM</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275CB7DE-B20C-7DB0-FF39-D8B9E8A676C1}"/>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CA39F77A-E78E-0496-FB67-C4056BF46588}"/>
              </a:ext>
            </a:extLst>
          </p:cNvPr>
          <p:cNvSpPr>
            <a:spLocks noGrp="1"/>
          </p:cNvSpPr>
          <p:nvPr>
            <p:ph type="dt" sz="half" idx="10"/>
          </p:nvPr>
        </p:nvSpPr>
        <p:spPr>
          <a:xfrm>
            <a:off x="413958" y="9475788"/>
            <a:ext cx="2133600" cy="365125"/>
          </a:xfrm>
        </p:spPr>
        <p:txBody>
          <a:bodyPr/>
          <a:lstStyle/>
          <a:p>
            <a:fld id="{F3CBFFFE-5F1E-4271-BBE5-C65AA0C64371}"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7DA12ED5-5178-3B85-5EEA-C0EAE20240DF}"/>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C8937590-D38A-8300-4E52-3E4BD59F2B20}"/>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8</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B480D8F5-679B-525A-C867-5BA1E9511FA9}"/>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F42DDC5E-B790-B616-A713-F32CF1FAADBE}"/>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sp>
        <p:nvSpPr>
          <p:cNvPr id="12" name="İçerik Yer Tutucusu 11">
            <a:extLst>
              <a:ext uri="{FF2B5EF4-FFF2-40B4-BE49-F238E27FC236}">
                <a16:creationId xmlns:a16="http://schemas.microsoft.com/office/drawing/2014/main" id="{10B7CD6B-EEB1-49E3-A687-DA321098B14B}"/>
              </a:ext>
            </a:extLst>
          </p:cNvPr>
          <p:cNvSpPr>
            <a:spLocks noGrp="1"/>
          </p:cNvSpPr>
          <p:nvPr>
            <p:ph idx="1"/>
          </p:nvPr>
        </p:nvSpPr>
        <p:spPr>
          <a:xfrm>
            <a:off x="306439" y="2628900"/>
            <a:ext cx="5943600" cy="4525963"/>
          </a:xfrm>
        </p:spPr>
        <p:txBody>
          <a:bodyPr>
            <a:normAutofit fontScale="92500" lnSpcReduction="20000"/>
          </a:bodyPr>
          <a:lstStyle/>
          <a:p>
            <a:pPr algn="ctr"/>
            <a:br>
              <a:rPr lang="en-US" sz="2400" dirty="0">
                <a:latin typeface="Times New Roman" panose="02020603050405020304" pitchFamily="18" charset="0"/>
                <a:cs typeface="Times New Roman" panose="02020603050405020304" pitchFamily="18" charset="0"/>
              </a:rPr>
            </a:br>
            <a:r>
              <a:rPr lang="en-US" b="1" dirty="0" err="1">
                <a:latin typeface="Times New Roman" panose="02020603050405020304" pitchFamily="18" charset="0"/>
                <a:cs typeface="Times New Roman" panose="02020603050405020304" pitchFamily="18" charset="0"/>
              </a:rPr>
              <a:t>Teknoloji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Bileşenleri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ve</a:t>
            </a:r>
            <a:r>
              <a:rPr lang="en-US" b="1" dirty="0">
                <a:latin typeface="Times New Roman" panose="02020603050405020304" pitchFamily="18" charset="0"/>
                <a:cs typeface="Times New Roman" panose="02020603050405020304" pitchFamily="18" charset="0"/>
              </a:rPr>
              <a:t> Rolleri</a:t>
            </a:r>
            <a:endParaRPr lang="tr-TR" b="1"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algn="ctr"/>
            <a:r>
              <a:rPr lang="tr-TR" dirty="0">
                <a:latin typeface="Times New Roman" panose="02020603050405020304" pitchFamily="18" charset="0"/>
                <a:cs typeface="Times New Roman" panose="02020603050405020304" pitchFamily="18" charset="0"/>
              </a:rPr>
              <a:t>Three.js &amp; </a:t>
            </a:r>
            <a:r>
              <a:rPr lang="tr-TR" dirty="0" err="1">
                <a:latin typeface="Times New Roman" panose="02020603050405020304" pitchFamily="18" charset="0"/>
                <a:cs typeface="Times New Roman" panose="02020603050405020304" pitchFamily="18" charset="0"/>
              </a:rPr>
              <a:t>React</a:t>
            </a:r>
            <a:r>
              <a:rPr lang="tr-TR" dirty="0">
                <a:latin typeface="Times New Roman" panose="02020603050405020304" pitchFamily="18" charset="0"/>
                <a:cs typeface="Times New Roman" panose="02020603050405020304" pitchFamily="18" charset="0"/>
              </a:rPr>
              <a:t>-Three-Fiber (Görselleştirme Motoru)</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tr-TR" dirty="0">
                <a:latin typeface="Times New Roman" panose="02020603050405020304" pitchFamily="18" charset="0"/>
                <a:cs typeface="Times New Roman" panose="02020603050405020304" pitchFamily="18" charset="0"/>
              </a:rPr>
              <a:t>Web Workers API (Asenkron Paralel İşleme)</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Zustand (Durum Yönetimi)</a:t>
            </a:r>
            <a:endParaRPr lang="en-US" dirty="0">
              <a:latin typeface="Times New Roman" panose="02020603050405020304" pitchFamily="18" charset="0"/>
              <a:cs typeface="Times New Roman" panose="02020603050405020304" pitchFamily="18" charset="0"/>
            </a:endParaRPr>
          </a:p>
        </p:txBody>
      </p:sp>
      <p:graphicFrame>
        <p:nvGraphicFramePr>
          <p:cNvPr id="13" name="Diyagram 12">
            <a:extLst>
              <a:ext uri="{FF2B5EF4-FFF2-40B4-BE49-F238E27FC236}">
                <a16:creationId xmlns:a16="http://schemas.microsoft.com/office/drawing/2014/main" id="{6CAD6313-397A-DC0B-461B-ECC5BCCDDFFB}"/>
              </a:ext>
            </a:extLst>
          </p:cNvPr>
          <p:cNvGraphicFramePr/>
          <p:nvPr/>
        </p:nvGraphicFramePr>
        <p:xfrm>
          <a:off x="6223000" y="2155261"/>
          <a:ext cx="10972800" cy="660257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40560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500C2-A44B-43AC-3239-C8D5023A497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94AAB0D-997B-DB71-9006-769B7787C208}"/>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YÖNTEM (DEVAM)</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BA9FC5E5-F625-1E83-9C08-62FC9C9C8F4E}"/>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0F18E340-182C-8AEA-31BC-8769A88C4B70}"/>
              </a:ext>
            </a:extLst>
          </p:cNvPr>
          <p:cNvSpPr>
            <a:spLocks noGrp="1"/>
          </p:cNvSpPr>
          <p:nvPr>
            <p:ph type="dt" sz="half" idx="10"/>
          </p:nvPr>
        </p:nvSpPr>
        <p:spPr>
          <a:xfrm>
            <a:off x="413958" y="9475788"/>
            <a:ext cx="2133600" cy="365125"/>
          </a:xfrm>
        </p:spPr>
        <p:txBody>
          <a:bodyPr/>
          <a:lstStyle/>
          <a:p>
            <a:fld id="{F1AE8F64-22E2-4967-91F9-6088227F2438}"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144A6385-D058-CD5F-6A2E-9CF27F283741}"/>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D007064C-07E6-11ED-40D7-49E54801C272}"/>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9</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33FFA333-AC05-9EB3-235A-6BFE9B871069}"/>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F6749C0F-F156-41B5-4FC5-D7AA51244B0B}"/>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sp>
        <p:nvSpPr>
          <p:cNvPr id="14" name="Metin Kutusu 2">
            <a:extLst>
              <a:ext uri="{FF2B5EF4-FFF2-40B4-BE49-F238E27FC236}">
                <a16:creationId xmlns:a16="http://schemas.microsoft.com/office/drawing/2014/main" id="{7613AEA9-AFD9-60EA-92E1-C88DECC72ED7}"/>
              </a:ext>
            </a:extLst>
          </p:cNvPr>
          <p:cNvSpPr txBox="1">
            <a:spLocks noChangeArrowheads="1"/>
          </p:cNvSpPr>
          <p:nvPr/>
        </p:nvSpPr>
        <p:spPr bwMode="auto">
          <a:xfrm>
            <a:off x="9753600" y="2340403"/>
            <a:ext cx="8267018" cy="6498939"/>
          </a:xfrm>
          <a:prstGeom prst="rect">
            <a:avLst/>
          </a:prstGeom>
          <a:solidFill>
            <a:schemeClr val="tx2">
              <a:lumMod val="20000"/>
              <a:lumOff val="80000"/>
            </a:schemeClr>
          </a:solidFill>
          <a:ln>
            <a:solidFill>
              <a:schemeClr val="tx1"/>
            </a:solidFill>
            <a:headEnd/>
            <a:tailEnd/>
          </a:ln>
        </p:spPr>
        <p:style>
          <a:lnRef idx="2">
            <a:schemeClr val="dk1"/>
          </a:lnRef>
          <a:fillRef idx="1">
            <a:schemeClr val="lt1"/>
          </a:fillRef>
          <a:effectRef idx="0">
            <a:schemeClr val="dk1"/>
          </a:effectRef>
          <a:fontRef idx="minor">
            <a:schemeClr val="dk1"/>
          </a:fontRef>
        </p:style>
        <p:txBody>
          <a:bodyPr rot="0" vert="horz" wrap="square" lIns="91440" tIns="45720" rIns="91440" bIns="45720" anchor="t" anchorCtr="0">
            <a:noAutofit/>
          </a:bodyPr>
          <a:lstStyle/>
          <a:p>
            <a:pPr marL="0" marR="0" algn="ctr">
              <a:buNone/>
            </a:pPr>
            <a:r>
              <a:rPr lang="en-US" sz="2800" b="1" dirty="0">
                <a:effectLst/>
                <a:latin typeface="Times New Roman" panose="02020603050405020304" pitchFamily="18" charset="0"/>
                <a:ea typeface="Times New Roman" panose="02020603050405020304" pitchFamily="18" charset="0"/>
              </a:rPr>
              <a:t>In Parallel Worker Thread (</a:t>
            </a:r>
            <a:r>
              <a:rPr lang="en-US" sz="2800" b="1" dirty="0" err="1">
                <a:effectLst/>
                <a:latin typeface="Times New Roman" panose="02020603050405020304" pitchFamily="18" charset="0"/>
                <a:ea typeface="Times New Roman" panose="02020603050405020304" pitchFamily="18" charset="0"/>
              </a:rPr>
              <a:t>Paralel</a:t>
            </a: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İşçi</a:t>
            </a: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Kanalında</a:t>
            </a:r>
            <a:r>
              <a:rPr lang="en-US" sz="2800" b="1" dirty="0">
                <a:effectLst/>
                <a:latin typeface="Times New Roman" panose="02020603050405020304" pitchFamily="18"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lgn="ctr">
              <a:buNone/>
            </a:pPr>
            <a:r>
              <a:rPr lang="en-US" sz="2800" dirty="0">
                <a:effectLst/>
                <a:latin typeface="Times New Roman" panose="02020603050405020304" pitchFamily="18" charset="0"/>
                <a:ea typeface="Times New Roman" panose="02020603050405020304" pitchFamily="18" charset="0"/>
              </a:rPr>
              <a:t>Receive Data (</a:t>
            </a:r>
            <a:r>
              <a:rPr lang="en-US" sz="2800" dirty="0" err="1">
                <a:effectLst/>
                <a:latin typeface="Times New Roman" panose="02020603050405020304" pitchFamily="18" charset="0"/>
                <a:ea typeface="Times New Roman" panose="02020603050405020304" pitchFamily="18" charset="0"/>
              </a:rPr>
              <a:t>Veriyi</a:t>
            </a:r>
            <a:r>
              <a:rPr lang="en-US" sz="2800" dirty="0">
                <a:effectLst/>
                <a:latin typeface="Times New Roman" panose="02020603050405020304" pitchFamily="18" charset="0"/>
                <a:ea typeface="Times New Roman" panose="02020603050405020304" pitchFamily="18" charset="0"/>
              </a:rPr>
              <a:t> Al)</a:t>
            </a:r>
          </a:p>
          <a:p>
            <a:pPr marL="0" marR="0" algn="ctr">
              <a:buNone/>
            </a:pPr>
            <a:r>
              <a:rPr lang="en-US" sz="2800" dirty="0">
                <a:effectLst/>
                <a:latin typeface="Times New Roman" panose="02020603050405020304" pitchFamily="18" charset="0"/>
                <a:ea typeface="Times New Roman" panose="02020603050405020304" pitchFamily="18" charset="0"/>
              </a:rPr>
              <a:t>Initialize Algorithm (</a:t>
            </a:r>
            <a:r>
              <a:rPr lang="en-US" sz="2800" dirty="0" err="1">
                <a:effectLst/>
                <a:latin typeface="Times New Roman" panose="02020603050405020304" pitchFamily="18" charset="0"/>
                <a:ea typeface="Times New Roman" panose="02020603050405020304" pitchFamily="18" charset="0"/>
              </a:rPr>
              <a:t>Algoritmayı</a:t>
            </a:r>
            <a:r>
              <a:rPr lang="en-US" sz="2800" dirty="0">
                <a:effectLst/>
                <a:latin typeface="Times New Roman" panose="02020603050405020304" pitchFamily="18" charset="0"/>
                <a:ea typeface="Times New Roman" panose="02020603050405020304" pitchFamily="18" charset="0"/>
              </a:rPr>
              <a:t> Kur)</a:t>
            </a:r>
          </a:p>
          <a:p>
            <a:pPr marL="0" marR="0" algn="ctr">
              <a:buNone/>
            </a:pPr>
            <a:r>
              <a:rPr lang="en-US" sz="2800" dirty="0">
                <a:effectLst/>
                <a:latin typeface="Times New Roman" panose="02020603050405020304" pitchFamily="18" charset="0"/>
                <a:ea typeface="Times New Roman" panose="02020603050405020304" pitchFamily="18" charset="0"/>
              </a:rPr>
              <a:t> </a:t>
            </a:r>
          </a:p>
          <a:p>
            <a:pPr marL="0" marR="0">
              <a:buNone/>
            </a:pPr>
            <a:r>
              <a:rPr lang="en-US" sz="2800" b="1" dirty="0">
                <a:effectLst/>
                <a:latin typeface="Times New Roman" panose="02020603050405020304" pitchFamily="18" charset="0"/>
                <a:ea typeface="Times New Roman" panose="02020603050405020304" pitchFamily="18" charset="0"/>
              </a:rPr>
              <a:t>While Algorithm Running (</a:t>
            </a:r>
            <a:r>
              <a:rPr lang="en-US" sz="2800" b="1" dirty="0" err="1">
                <a:effectLst/>
                <a:latin typeface="Times New Roman" panose="02020603050405020304" pitchFamily="18" charset="0"/>
                <a:ea typeface="Times New Roman" panose="02020603050405020304" pitchFamily="18" charset="0"/>
              </a:rPr>
              <a:t>Algoritma</a:t>
            </a: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Çalıştığı</a:t>
            </a:r>
            <a:r>
              <a:rPr lang="en-US" sz="2800" b="1" dirty="0">
                <a:effectLst/>
                <a:latin typeface="Times New Roman" panose="02020603050405020304" pitchFamily="18" charset="0"/>
                <a:ea typeface="Times New Roman" panose="02020603050405020304" pitchFamily="18" charset="0"/>
              </a:rPr>
              <a:t> </a:t>
            </a:r>
            <a:r>
              <a:rPr lang="en-US" sz="2800" b="1" dirty="0" err="1">
                <a:effectLst/>
                <a:latin typeface="Times New Roman" panose="02020603050405020304" pitchFamily="18" charset="0"/>
                <a:ea typeface="Times New Roman" panose="02020603050405020304" pitchFamily="18" charset="0"/>
              </a:rPr>
              <a:t>Sürece</a:t>
            </a:r>
            <a:r>
              <a:rPr lang="en-US" sz="2800" b="1" dirty="0">
                <a:effectLst/>
                <a:latin typeface="Times New Roman" panose="02020603050405020304" pitchFamily="18" charset="0"/>
                <a:ea typeface="Times New Roman" panose="02020603050405020304" pitchFamily="18" charset="0"/>
              </a:rPr>
              <a:t>):</a:t>
            </a:r>
            <a:endParaRPr lang="en-US" sz="2800" dirty="0">
              <a:effectLst/>
              <a:latin typeface="Times New Roman" panose="02020603050405020304" pitchFamily="18" charset="0"/>
              <a:ea typeface="Times New Roman" panose="02020603050405020304" pitchFamily="18" charset="0"/>
            </a:endParaRPr>
          </a:p>
          <a:p>
            <a:pPr marL="0" marR="0" algn="ctr">
              <a:buNone/>
            </a:pPr>
            <a:r>
              <a:rPr lang="en-US" sz="2800" dirty="0">
                <a:effectLst/>
                <a:latin typeface="Times New Roman" panose="02020603050405020304" pitchFamily="18" charset="0"/>
                <a:ea typeface="Times New Roman" panose="02020603050405020304" pitchFamily="18" charset="0"/>
              </a:rPr>
              <a:t>Run Iteration (</a:t>
            </a:r>
            <a:r>
              <a:rPr lang="en-US" sz="2800" dirty="0" err="1">
                <a:effectLst/>
                <a:latin typeface="Times New Roman" panose="02020603050405020304" pitchFamily="18" charset="0"/>
                <a:ea typeface="Times New Roman" panose="02020603050405020304" pitchFamily="18" charset="0"/>
              </a:rPr>
              <a:t>İterasyonu</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Koştur</a:t>
            </a:r>
            <a:r>
              <a:rPr lang="en-US" sz="2800" dirty="0">
                <a:effectLst/>
                <a:latin typeface="Times New Roman" panose="02020603050405020304" pitchFamily="18" charset="0"/>
                <a:ea typeface="Times New Roman" panose="02020603050405020304" pitchFamily="18" charset="0"/>
              </a:rPr>
              <a:t>)</a:t>
            </a:r>
          </a:p>
          <a:p>
            <a:pPr marL="0" marR="0" algn="ctr">
              <a:buNone/>
            </a:pPr>
            <a:r>
              <a:rPr lang="en-US" sz="2800" dirty="0">
                <a:effectLst/>
                <a:latin typeface="Times New Roman" panose="02020603050405020304" pitchFamily="18" charset="0"/>
                <a:ea typeface="Times New Roman" panose="02020603050405020304" pitchFamily="18" charset="0"/>
              </a:rPr>
              <a:t>Calculate Fitness (</a:t>
            </a:r>
            <a:r>
              <a:rPr lang="en-US" sz="2800" dirty="0" err="1">
                <a:effectLst/>
                <a:latin typeface="Times New Roman" panose="02020603050405020304" pitchFamily="18" charset="0"/>
                <a:ea typeface="Times New Roman" panose="02020603050405020304" pitchFamily="18" charset="0"/>
              </a:rPr>
              <a:t>Uygunluk</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Hesapla</a:t>
            </a:r>
            <a:r>
              <a:rPr lang="en-US" sz="2800" dirty="0">
                <a:effectLst/>
                <a:latin typeface="Times New Roman" panose="02020603050405020304" pitchFamily="18" charset="0"/>
                <a:ea typeface="Times New Roman" panose="02020603050405020304" pitchFamily="18" charset="0"/>
              </a:rPr>
              <a:t>)</a:t>
            </a:r>
          </a:p>
          <a:p>
            <a:pPr marL="0" marR="0" algn="ctr">
              <a:buNone/>
            </a:pPr>
            <a:r>
              <a:rPr lang="en-US" sz="2800" dirty="0">
                <a:effectLst/>
                <a:latin typeface="Times New Roman" panose="02020603050405020304" pitchFamily="18" charset="0"/>
                <a:ea typeface="Times New Roman" panose="02020603050405020304" pitchFamily="18" charset="0"/>
              </a:rPr>
              <a:t>Post Progress % (</a:t>
            </a:r>
            <a:r>
              <a:rPr lang="en-US" sz="2800" dirty="0" err="1">
                <a:effectLst/>
                <a:latin typeface="Times New Roman" panose="02020603050405020304" pitchFamily="18" charset="0"/>
                <a:ea typeface="Times New Roman" panose="02020603050405020304" pitchFamily="18" charset="0"/>
              </a:rPr>
              <a:t>İlerlemeyi</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Raporla</a:t>
            </a:r>
            <a:r>
              <a:rPr lang="en-US" sz="2800" dirty="0">
                <a:effectLst/>
                <a:latin typeface="Times New Roman" panose="02020603050405020304" pitchFamily="18" charset="0"/>
                <a:ea typeface="Times New Roman" panose="02020603050405020304" pitchFamily="18" charset="0"/>
              </a:rPr>
              <a:t>)</a:t>
            </a:r>
          </a:p>
          <a:p>
            <a:pPr marL="0" marR="0" algn="ctr">
              <a:buNone/>
            </a:pPr>
            <a:r>
              <a:rPr lang="en-US" sz="2800" dirty="0">
                <a:effectLst/>
                <a:latin typeface="Times New Roman" panose="02020603050405020304" pitchFamily="18" charset="0"/>
                <a:ea typeface="Times New Roman" panose="02020603050405020304" pitchFamily="18" charset="0"/>
              </a:rPr>
              <a:t>End While</a:t>
            </a:r>
          </a:p>
          <a:p>
            <a:pPr marL="0" marR="0" algn="ctr">
              <a:buNone/>
            </a:pPr>
            <a:r>
              <a:rPr lang="en-US" sz="2800" dirty="0">
                <a:effectLst/>
                <a:latin typeface="Times New Roman" panose="02020603050405020304" pitchFamily="18" charset="0"/>
                <a:ea typeface="Times New Roman" panose="02020603050405020304" pitchFamily="18" charset="0"/>
              </a:rPr>
              <a:t>Return Optimized Result (</a:t>
            </a:r>
            <a:r>
              <a:rPr lang="en-US" sz="2800" dirty="0" err="1">
                <a:effectLst/>
                <a:latin typeface="Times New Roman" panose="02020603050405020304" pitchFamily="18" charset="0"/>
                <a:ea typeface="Times New Roman" panose="02020603050405020304" pitchFamily="18" charset="0"/>
              </a:rPr>
              <a:t>Sonucu</a:t>
            </a:r>
            <a:r>
              <a:rPr lang="en-US" sz="2800" dirty="0">
                <a:effectLst/>
                <a:latin typeface="Times New Roman" panose="02020603050405020304" pitchFamily="18" charset="0"/>
                <a:ea typeface="Times New Roman" panose="02020603050405020304" pitchFamily="18" charset="0"/>
              </a:rPr>
              <a:t> Döndür)</a:t>
            </a:r>
          </a:p>
          <a:p>
            <a:pPr marL="0" marR="0" algn="ctr">
              <a:buNone/>
            </a:pPr>
            <a:r>
              <a:rPr lang="en-US" sz="2800" dirty="0">
                <a:effectLst/>
                <a:latin typeface="Times New Roman" panose="02020603050405020304" pitchFamily="18" charset="0"/>
                <a:ea typeface="Times New Roman" panose="02020603050405020304" pitchFamily="18" charset="0"/>
              </a:rPr>
              <a:t>Receive Result (</a:t>
            </a:r>
            <a:r>
              <a:rPr lang="en-US" sz="2800" dirty="0" err="1">
                <a:effectLst/>
                <a:latin typeface="Times New Roman" panose="02020603050405020304" pitchFamily="18" charset="0"/>
                <a:ea typeface="Times New Roman" panose="02020603050405020304" pitchFamily="18" charset="0"/>
              </a:rPr>
              <a:t>Sonucu</a:t>
            </a:r>
            <a:r>
              <a:rPr lang="en-US" sz="2800" dirty="0">
                <a:effectLst/>
                <a:latin typeface="Times New Roman" panose="02020603050405020304" pitchFamily="18" charset="0"/>
                <a:ea typeface="Times New Roman" panose="02020603050405020304" pitchFamily="18" charset="0"/>
              </a:rPr>
              <a:t> Ana </a:t>
            </a:r>
            <a:r>
              <a:rPr lang="en-US" sz="2800" dirty="0" err="1">
                <a:effectLst/>
                <a:latin typeface="Times New Roman" panose="02020603050405020304" pitchFamily="18" charset="0"/>
                <a:ea typeface="Times New Roman" panose="02020603050405020304" pitchFamily="18" charset="0"/>
              </a:rPr>
              <a:t>Ekranda</a:t>
            </a:r>
            <a:r>
              <a:rPr lang="en-US" sz="2800" dirty="0">
                <a:effectLst/>
                <a:latin typeface="Times New Roman" panose="02020603050405020304" pitchFamily="18" charset="0"/>
                <a:ea typeface="Times New Roman" panose="02020603050405020304" pitchFamily="18" charset="0"/>
              </a:rPr>
              <a:t> Al)</a:t>
            </a:r>
          </a:p>
          <a:p>
            <a:pPr marL="0" marR="0" algn="ctr">
              <a:buNone/>
            </a:pPr>
            <a:r>
              <a:rPr lang="en-US" sz="2800" dirty="0">
                <a:effectLst/>
                <a:latin typeface="Times New Roman" panose="02020603050405020304" pitchFamily="18" charset="0"/>
                <a:ea typeface="Times New Roman" panose="02020603050405020304" pitchFamily="18" charset="0"/>
              </a:rPr>
              <a:t>Convert to 3D Meshes (</a:t>
            </a:r>
            <a:r>
              <a:rPr lang="en-US" sz="2800" dirty="0" err="1">
                <a:effectLst/>
                <a:latin typeface="Times New Roman" panose="02020603050405020304" pitchFamily="18" charset="0"/>
                <a:ea typeface="Times New Roman" panose="02020603050405020304" pitchFamily="18" charset="0"/>
              </a:rPr>
              <a:t>Modele</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Dönüştür</a:t>
            </a:r>
            <a:r>
              <a:rPr lang="en-US" sz="2800" dirty="0">
                <a:effectLst/>
                <a:latin typeface="Times New Roman" panose="02020603050405020304" pitchFamily="18" charset="0"/>
                <a:ea typeface="Times New Roman" panose="02020603050405020304" pitchFamily="18" charset="0"/>
              </a:rPr>
              <a:t>)</a:t>
            </a:r>
          </a:p>
          <a:p>
            <a:pPr marL="0" marR="0" algn="ctr">
              <a:buNone/>
            </a:pPr>
            <a:r>
              <a:rPr lang="en-US" sz="2800" dirty="0">
                <a:effectLst/>
                <a:latin typeface="Times New Roman" panose="02020603050405020304" pitchFamily="18" charset="0"/>
                <a:ea typeface="Times New Roman" panose="02020603050405020304" pitchFamily="18" charset="0"/>
              </a:rPr>
              <a:t>Update Statistics (</a:t>
            </a:r>
            <a:r>
              <a:rPr lang="en-US" sz="2800" dirty="0" err="1">
                <a:effectLst/>
                <a:latin typeface="Times New Roman" panose="02020603050405020304" pitchFamily="18" charset="0"/>
                <a:ea typeface="Times New Roman" panose="02020603050405020304" pitchFamily="18" charset="0"/>
              </a:rPr>
              <a:t>İstatistikleri</a:t>
            </a:r>
            <a:r>
              <a:rPr lang="en-US" sz="2800" dirty="0">
                <a:effectLst/>
                <a:latin typeface="Times New Roman" panose="02020603050405020304" pitchFamily="18" charset="0"/>
                <a:ea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rPr>
              <a:t>Güncelle</a:t>
            </a:r>
            <a:r>
              <a:rPr lang="en-US" sz="2800" dirty="0">
                <a:effectLst/>
                <a:latin typeface="Times New Roman" panose="02020603050405020304" pitchFamily="18" charset="0"/>
                <a:ea typeface="Times New Roman" panose="02020603050405020304" pitchFamily="18" charset="0"/>
              </a:rPr>
              <a:t>)</a:t>
            </a:r>
          </a:p>
          <a:p>
            <a:pPr marL="0" marR="0">
              <a:buNone/>
            </a:pPr>
            <a:r>
              <a:rPr lang="tr-TR" sz="2800" dirty="0">
                <a:effectLst/>
                <a:latin typeface="Times New Roman" panose="02020603050405020304" pitchFamily="18" charset="0"/>
                <a:ea typeface="Times New Roman" panose="02020603050405020304" pitchFamily="18" charset="0"/>
              </a:rPr>
              <a:t> </a:t>
            </a:r>
            <a:endParaRPr lang="en-US" sz="2800" dirty="0">
              <a:effectLst/>
              <a:latin typeface="Times New Roman" panose="02020603050405020304" pitchFamily="18" charset="0"/>
              <a:ea typeface="Times New Roman" panose="02020603050405020304" pitchFamily="18" charset="0"/>
            </a:endParaRPr>
          </a:p>
        </p:txBody>
      </p:sp>
      <p:sp>
        <p:nvSpPr>
          <p:cNvPr id="18" name="Metin kutusu 17">
            <a:extLst>
              <a:ext uri="{FF2B5EF4-FFF2-40B4-BE49-F238E27FC236}">
                <a16:creationId xmlns:a16="http://schemas.microsoft.com/office/drawing/2014/main" id="{C0B299D6-FAE9-43AB-9331-F11A4B344C14}"/>
              </a:ext>
            </a:extLst>
          </p:cNvPr>
          <p:cNvSpPr txBox="1"/>
          <p:nvPr/>
        </p:nvSpPr>
        <p:spPr>
          <a:xfrm>
            <a:off x="484239" y="2405429"/>
            <a:ext cx="8812161" cy="6247864"/>
          </a:xfrm>
          <a:prstGeom prst="rect">
            <a:avLst/>
          </a:prstGeom>
          <a:noFill/>
        </p:spPr>
        <p:txBody>
          <a:bodyPr wrap="square">
            <a:spAutoFit/>
          </a:bodyPr>
          <a:lstStyle/>
          <a:p>
            <a:r>
              <a:rPr lang="tr-TR" sz="2000" b="1" dirty="0">
                <a:effectLst/>
                <a:latin typeface="Times New Roman" panose="02020603050405020304" pitchFamily="18" charset="0"/>
                <a:ea typeface="Times New Roman" panose="02020603050405020304" pitchFamily="18" charset="0"/>
              </a:rPr>
              <a:t>Best-Fit </a:t>
            </a:r>
            <a:r>
              <a:rPr lang="tr-TR" sz="2000" b="1" dirty="0" err="1">
                <a:effectLst/>
                <a:latin typeface="Times New Roman" panose="02020603050405020304" pitchFamily="18" charset="0"/>
                <a:ea typeface="Times New Roman" panose="02020603050405020304" pitchFamily="18" charset="0"/>
              </a:rPr>
              <a:t>Heuristic</a:t>
            </a:r>
            <a:r>
              <a:rPr lang="tr-TR" sz="2000" b="1" dirty="0">
                <a:effectLst/>
                <a:latin typeface="Times New Roman" panose="02020603050405020304" pitchFamily="18" charset="0"/>
                <a:ea typeface="Times New Roman" panose="02020603050405020304" pitchFamily="18" charset="0"/>
              </a:rPr>
              <a:t>:</a:t>
            </a:r>
            <a:r>
              <a:rPr lang="tr-TR" sz="2000" dirty="0">
                <a:effectLst/>
                <a:latin typeface="Times New Roman" panose="02020603050405020304" pitchFamily="18" charset="0"/>
                <a:ea typeface="Times New Roman" panose="02020603050405020304" pitchFamily="18" charset="0"/>
              </a:rPr>
              <a:t> Her nesne için olası tüm boşlukları tarar ve yerleştirme sonrası "kalan atıl alanı" (</a:t>
            </a:r>
            <a:r>
              <a:rPr lang="tr-TR" sz="2000" dirty="0" err="1">
                <a:effectLst/>
                <a:latin typeface="Times New Roman" panose="02020603050405020304" pitchFamily="18" charset="0"/>
                <a:ea typeface="Times New Roman" panose="02020603050405020304" pitchFamily="18" charset="0"/>
              </a:rPr>
              <a:t>residual</a:t>
            </a:r>
            <a:r>
              <a:rPr lang="tr-TR" sz="2000" dirty="0">
                <a:effectLst/>
                <a:latin typeface="Times New Roman" panose="02020603050405020304" pitchFamily="18" charset="0"/>
                <a:ea typeface="Times New Roman" panose="02020603050405020304" pitchFamily="18" charset="0"/>
              </a:rPr>
              <a:t> </a:t>
            </a:r>
            <a:r>
              <a:rPr lang="tr-TR" sz="2000" dirty="0" err="1">
                <a:effectLst/>
                <a:latin typeface="Times New Roman" panose="02020603050405020304" pitchFamily="18" charset="0"/>
                <a:ea typeface="Times New Roman" panose="02020603050405020304" pitchFamily="18" charset="0"/>
              </a:rPr>
              <a:t>space</a:t>
            </a:r>
            <a:r>
              <a:rPr lang="tr-TR" sz="2000" dirty="0">
                <a:effectLst/>
                <a:latin typeface="Times New Roman" panose="02020603050405020304" pitchFamily="18" charset="0"/>
                <a:ea typeface="Times New Roman" panose="02020603050405020304" pitchFamily="18" charset="0"/>
              </a:rPr>
              <a:t>) minimize edecek olanı seçer.</a:t>
            </a:r>
            <a:endParaRPr lang="en-US" sz="2000" dirty="0">
              <a:effectLst/>
              <a:latin typeface="Times New Roman" panose="02020603050405020304" pitchFamily="18" charset="0"/>
              <a:ea typeface="Times New Roman" panose="02020603050405020304" pitchFamily="18" charset="0"/>
            </a:endParaRPr>
          </a:p>
          <a:p>
            <a:endParaRPr lang="en-US" sz="2000" dirty="0">
              <a:latin typeface="Times New Roman" panose="02020603050405020304" pitchFamily="18" charset="0"/>
            </a:endParaRPr>
          </a:p>
          <a:p>
            <a:endParaRPr lang="en-US" sz="2000" dirty="0">
              <a:latin typeface="Times New Roman" panose="02020603050405020304" pitchFamily="18" charset="0"/>
            </a:endParaRPr>
          </a:p>
          <a:p>
            <a:r>
              <a:rPr lang="tr-TR" sz="2000" b="1" dirty="0"/>
              <a:t>First-Fit </a:t>
            </a:r>
            <a:r>
              <a:rPr lang="tr-TR" sz="2000" b="1" dirty="0" err="1"/>
              <a:t>Decreasing</a:t>
            </a:r>
            <a:r>
              <a:rPr lang="tr-TR" sz="2000" b="1" dirty="0"/>
              <a:t> (FFD): </a:t>
            </a:r>
            <a:r>
              <a:rPr lang="tr-TR" sz="2000" dirty="0"/>
              <a:t>"Önce En Büyük" stratejisini izler. Nesneler hacimlerine göre azalan sırada sıralanır ve her nesne, sığdığı ilk uygun boşluğa yerleştirilir.</a:t>
            </a:r>
            <a:endParaRPr lang="en-US" sz="2000" dirty="0"/>
          </a:p>
          <a:p>
            <a:endParaRPr lang="en-US" sz="2000" dirty="0"/>
          </a:p>
          <a:p>
            <a:endParaRPr lang="en-US" sz="2000" dirty="0"/>
          </a:p>
          <a:p>
            <a:r>
              <a:rPr lang="en-US" sz="2000" b="1" dirty="0" err="1"/>
              <a:t>Genetik</a:t>
            </a:r>
            <a:r>
              <a:rPr lang="en-US" sz="2000" b="1" dirty="0"/>
              <a:t> </a:t>
            </a:r>
            <a:r>
              <a:rPr lang="en-US" sz="2000" b="1" dirty="0" err="1"/>
              <a:t>Algoritma</a:t>
            </a:r>
            <a:r>
              <a:rPr lang="en-US" sz="2000" dirty="0"/>
              <a:t>, </a:t>
            </a:r>
            <a:r>
              <a:rPr lang="en-US" sz="2000" dirty="0" err="1"/>
              <a:t>doğal</a:t>
            </a:r>
            <a:r>
              <a:rPr lang="en-US" sz="2000" dirty="0"/>
              <a:t> </a:t>
            </a:r>
            <a:r>
              <a:rPr lang="en-US" sz="2000" dirty="0" err="1"/>
              <a:t>evrim</a:t>
            </a:r>
            <a:r>
              <a:rPr lang="en-US" sz="2000" dirty="0"/>
              <a:t> </a:t>
            </a:r>
            <a:r>
              <a:rPr lang="en-US" sz="2000" dirty="0" err="1"/>
              <a:t>sürecinden</a:t>
            </a:r>
            <a:r>
              <a:rPr lang="en-US" sz="2000" dirty="0"/>
              <a:t> </a:t>
            </a:r>
            <a:r>
              <a:rPr lang="en-US" sz="2000" dirty="0" err="1"/>
              <a:t>esinlenen</a:t>
            </a:r>
            <a:r>
              <a:rPr lang="en-US" sz="2000" dirty="0"/>
              <a:t> </a:t>
            </a:r>
            <a:r>
              <a:rPr lang="en-US" sz="2000" dirty="0" err="1"/>
              <a:t>bir</a:t>
            </a:r>
            <a:r>
              <a:rPr lang="en-US" sz="2000" dirty="0"/>
              <a:t> meta-</a:t>
            </a:r>
            <a:r>
              <a:rPr lang="en-US" sz="2000" dirty="0" err="1"/>
              <a:t>sezgisel</a:t>
            </a:r>
            <a:r>
              <a:rPr lang="en-US" sz="2000" dirty="0"/>
              <a:t> </a:t>
            </a:r>
            <a:r>
              <a:rPr lang="en-US" sz="2000" dirty="0" err="1"/>
              <a:t>optimizasyon</a:t>
            </a:r>
            <a:r>
              <a:rPr lang="en-US" sz="2000" dirty="0"/>
              <a:t> </a:t>
            </a:r>
            <a:r>
              <a:rPr lang="en-US" sz="2000" dirty="0" err="1"/>
              <a:t>yöntemidir</a:t>
            </a:r>
            <a:r>
              <a:rPr lang="en-US" sz="2000" dirty="0"/>
              <a:t>; </a:t>
            </a:r>
            <a:r>
              <a:rPr lang="en-US" sz="2000" dirty="0" err="1"/>
              <a:t>aday</a:t>
            </a:r>
            <a:r>
              <a:rPr lang="en-US" sz="2000" dirty="0"/>
              <a:t> </a:t>
            </a:r>
            <a:r>
              <a:rPr lang="en-US" sz="2000" dirty="0" err="1"/>
              <a:t>çözümlerden</a:t>
            </a:r>
            <a:r>
              <a:rPr lang="en-US" sz="2000" dirty="0"/>
              <a:t> </a:t>
            </a:r>
            <a:r>
              <a:rPr lang="en-US" sz="2000" dirty="0" err="1"/>
              <a:t>oluşan</a:t>
            </a:r>
            <a:r>
              <a:rPr lang="en-US" sz="2000" dirty="0"/>
              <a:t> </a:t>
            </a:r>
            <a:r>
              <a:rPr lang="en-US" sz="2000" dirty="0" err="1"/>
              <a:t>bir</a:t>
            </a:r>
            <a:r>
              <a:rPr lang="en-US" sz="2000" dirty="0"/>
              <a:t> </a:t>
            </a:r>
            <a:r>
              <a:rPr lang="en-US" sz="2000" dirty="0" err="1"/>
              <a:t>popülasyon</a:t>
            </a:r>
            <a:r>
              <a:rPr lang="en-US" sz="2000" dirty="0"/>
              <a:t> </a:t>
            </a:r>
            <a:r>
              <a:rPr lang="en-US" sz="2000" dirty="0" err="1"/>
              <a:t>üzerinde</a:t>
            </a:r>
            <a:r>
              <a:rPr lang="en-US" sz="2000" dirty="0"/>
              <a:t> </a:t>
            </a:r>
            <a:r>
              <a:rPr lang="en-US" sz="2000" dirty="0" err="1"/>
              <a:t>seçilim</a:t>
            </a:r>
            <a:r>
              <a:rPr lang="en-US" sz="2000" dirty="0"/>
              <a:t>, </a:t>
            </a:r>
            <a:r>
              <a:rPr lang="en-US" sz="2000" dirty="0" err="1"/>
              <a:t>çaprazlama</a:t>
            </a:r>
            <a:r>
              <a:rPr lang="en-US" sz="2000" dirty="0"/>
              <a:t> </a:t>
            </a:r>
            <a:r>
              <a:rPr lang="en-US" sz="2000" dirty="0" err="1"/>
              <a:t>ve</a:t>
            </a:r>
            <a:r>
              <a:rPr lang="en-US" sz="2000" dirty="0"/>
              <a:t> </a:t>
            </a:r>
            <a:r>
              <a:rPr lang="en-US" sz="2000" dirty="0" err="1"/>
              <a:t>mutasyon</a:t>
            </a:r>
            <a:r>
              <a:rPr lang="en-US" sz="2000" dirty="0"/>
              <a:t> </a:t>
            </a:r>
            <a:r>
              <a:rPr lang="en-US" sz="2000" dirty="0" err="1"/>
              <a:t>işlemleri</a:t>
            </a:r>
            <a:r>
              <a:rPr lang="en-US" sz="2000" dirty="0"/>
              <a:t> </a:t>
            </a:r>
            <a:r>
              <a:rPr lang="en-US" sz="2000" dirty="0" err="1"/>
              <a:t>uygulanarak</a:t>
            </a:r>
            <a:r>
              <a:rPr lang="en-US" sz="2000" dirty="0"/>
              <a:t> </a:t>
            </a:r>
            <a:r>
              <a:rPr lang="en-US" sz="2000" dirty="0" err="1"/>
              <a:t>çözüm</a:t>
            </a:r>
            <a:r>
              <a:rPr lang="en-US" sz="2000" dirty="0"/>
              <a:t> </a:t>
            </a:r>
            <a:r>
              <a:rPr lang="en-US" sz="2000" dirty="0" err="1"/>
              <a:t>kalitesi</a:t>
            </a:r>
            <a:r>
              <a:rPr lang="en-US" sz="2000" dirty="0"/>
              <a:t> </a:t>
            </a:r>
            <a:r>
              <a:rPr lang="en-US" sz="2000" dirty="0" err="1"/>
              <a:t>nesiller</a:t>
            </a:r>
            <a:r>
              <a:rPr lang="en-US" sz="2000" dirty="0"/>
              <a:t> </a:t>
            </a:r>
            <a:r>
              <a:rPr lang="en-US" sz="2000" dirty="0" err="1"/>
              <a:t>boyunca</a:t>
            </a:r>
            <a:r>
              <a:rPr lang="en-US" sz="2000" dirty="0"/>
              <a:t> </a:t>
            </a:r>
            <a:r>
              <a:rPr lang="en-US" sz="2000" dirty="0" err="1"/>
              <a:t>iyileştirilir</a:t>
            </a:r>
            <a:r>
              <a:rPr lang="en-US" sz="2000" dirty="0"/>
              <a:t>.</a:t>
            </a:r>
          </a:p>
          <a:p>
            <a:endParaRPr lang="en-US" sz="2000" dirty="0"/>
          </a:p>
          <a:p>
            <a:endParaRPr lang="en-US" sz="2000" dirty="0"/>
          </a:p>
          <a:p>
            <a:r>
              <a:rPr lang="en-US" sz="2000" b="1" dirty="0" err="1"/>
              <a:t>Tavlama</a:t>
            </a:r>
            <a:r>
              <a:rPr lang="en-US" sz="2000" b="1" dirty="0"/>
              <a:t> </a:t>
            </a:r>
            <a:r>
              <a:rPr lang="en-US" sz="2000" b="1" dirty="0" err="1"/>
              <a:t>Benzetimi</a:t>
            </a:r>
            <a:r>
              <a:rPr lang="en-US" sz="2000" b="1" dirty="0"/>
              <a:t> (Simulated Annealing)</a:t>
            </a:r>
            <a:r>
              <a:rPr lang="en-US" sz="2000" dirty="0"/>
              <a:t>, </a:t>
            </a:r>
            <a:r>
              <a:rPr lang="en-US" sz="2000" dirty="0" err="1"/>
              <a:t>fiziksel</a:t>
            </a:r>
            <a:r>
              <a:rPr lang="en-US" sz="2000" dirty="0"/>
              <a:t> </a:t>
            </a:r>
            <a:r>
              <a:rPr lang="en-US" sz="2000" dirty="0" err="1"/>
              <a:t>tavlama</a:t>
            </a:r>
            <a:r>
              <a:rPr lang="en-US" sz="2000" dirty="0"/>
              <a:t> </a:t>
            </a:r>
            <a:r>
              <a:rPr lang="en-US" sz="2000" dirty="0" err="1"/>
              <a:t>sürecinden</a:t>
            </a:r>
            <a:r>
              <a:rPr lang="en-US" sz="2000" dirty="0"/>
              <a:t> </a:t>
            </a:r>
            <a:r>
              <a:rPr lang="en-US" sz="2000" dirty="0" err="1"/>
              <a:t>esinlenen</a:t>
            </a:r>
            <a:r>
              <a:rPr lang="en-US" sz="2000" dirty="0"/>
              <a:t> </a:t>
            </a:r>
            <a:r>
              <a:rPr lang="en-US" sz="2000" dirty="0" err="1"/>
              <a:t>bir</a:t>
            </a:r>
            <a:r>
              <a:rPr lang="en-US" sz="2000" dirty="0"/>
              <a:t> meta-</a:t>
            </a:r>
            <a:r>
              <a:rPr lang="en-US" sz="2000" dirty="0" err="1"/>
              <a:t>sezgisel</a:t>
            </a:r>
            <a:r>
              <a:rPr lang="en-US" sz="2000" dirty="0"/>
              <a:t> </a:t>
            </a:r>
            <a:r>
              <a:rPr lang="en-US" sz="2000" dirty="0" err="1"/>
              <a:t>optimizasyon</a:t>
            </a:r>
            <a:r>
              <a:rPr lang="en-US" sz="2000" dirty="0"/>
              <a:t> </a:t>
            </a:r>
            <a:r>
              <a:rPr lang="en-US" sz="2000" dirty="0" err="1"/>
              <a:t>yöntemidir</a:t>
            </a:r>
            <a:r>
              <a:rPr lang="en-US" sz="2000" dirty="0"/>
              <a:t>; </a:t>
            </a:r>
            <a:r>
              <a:rPr lang="en-US" sz="2000" dirty="0" err="1"/>
              <a:t>çözüm</a:t>
            </a:r>
            <a:r>
              <a:rPr lang="en-US" sz="2000" dirty="0"/>
              <a:t> </a:t>
            </a:r>
            <a:r>
              <a:rPr lang="en-US" sz="2000" dirty="0" err="1"/>
              <a:t>uzayında</a:t>
            </a:r>
            <a:r>
              <a:rPr lang="en-US" sz="2000" dirty="0"/>
              <a:t> </a:t>
            </a:r>
            <a:r>
              <a:rPr lang="en-US" sz="2000" dirty="0" err="1"/>
              <a:t>yerel</a:t>
            </a:r>
            <a:r>
              <a:rPr lang="en-US" sz="2000" dirty="0"/>
              <a:t> </a:t>
            </a:r>
            <a:r>
              <a:rPr lang="en-US" sz="2000" dirty="0" err="1"/>
              <a:t>optimumlara</a:t>
            </a:r>
            <a:r>
              <a:rPr lang="en-US" sz="2000" dirty="0"/>
              <a:t> </a:t>
            </a:r>
            <a:r>
              <a:rPr lang="en-US" sz="2000" dirty="0" err="1"/>
              <a:t>takılmamak</a:t>
            </a:r>
            <a:r>
              <a:rPr lang="en-US" sz="2000" dirty="0"/>
              <a:t> </a:t>
            </a:r>
            <a:r>
              <a:rPr lang="en-US" sz="2000" dirty="0" err="1"/>
              <a:t>için</a:t>
            </a:r>
            <a:r>
              <a:rPr lang="en-US" sz="2000" dirty="0"/>
              <a:t> </a:t>
            </a:r>
            <a:r>
              <a:rPr lang="en-US" sz="2000" dirty="0" err="1"/>
              <a:t>başlangıçta</a:t>
            </a:r>
            <a:r>
              <a:rPr lang="en-US" sz="2000" dirty="0"/>
              <a:t> </a:t>
            </a:r>
            <a:r>
              <a:rPr lang="en-US" sz="2000" dirty="0" err="1"/>
              <a:t>daha</a:t>
            </a:r>
            <a:r>
              <a:rPr lang="en-US" sz="2000" dirty="0"/>
              <a:t> </a:t>
            </a:r>
            <a:r>
              <a:rPr lang="en-US" sz="2000" dirty="0" err="1"/>
              <a:t>kötü</a:t>
            </a:r>
            <a:r>
              <a:rPr lang="en-US" sz="2000" dirty="0"/>
              <a:t> </a:t>
            </a:r>
            <a:r>
              <a:rPr lang="en-US" sz="2000" dirty="0" err="1"/>
              <a:t>çözümleri</a:t>
            </a:r>
            <a:r>
              <a:rPr lang="en-US" sz="2000" dirty="0"/>
              <a:t> </a:t>
            </a:r>
            <a:r>
              <a:rPr lang="en-US" sz="2000" dirty="0" err="1"/>
              <a:t>belirli</a:t>
            </a:r>
            <a:r>
              <a:rPr lang="en-US" sz="2000" dirty="0"/>
              <a:t> </a:t>
            </a:r>
            <a:r>
              <a:rPr lang="en-US" sz="2000" dirty="0" err="1"/>
              <a:t>bir</a:t>
            </a:r>
            <a:r>
              <a:rPr lang="en-US" sz="2000" dirty="0"/>
              <a:t> </a:t>
            </a:r>
            <a:r>
              <a:rPr lang="en-US" sz="2000" dirty="0" err="1"/>
              <a:t>olasılıkla</a:t>
            </a:r>
            <a:r>
              <a:rPr lang="en-US" sz="2000" dirty="0"/>
              <a:t> </a:t>
            </a:r>
            <a:r>
              <a:rPr lang="en-US" sz="2000" dirty="0" err="1"/>
              <a:t>kabul</a:t>
            </a:r>
            <a:r>
              <a:rPr lang="en-US" sz="2000" dirty="0"/>
              <a:t> </a:t>
            </a:r>
            <a:r>
              <a:rPr lang="en-US" sz="2000" dirty="0" err="1"/>
              <a:t>eder</a:t>
            </a:r>
            <a:r>
              <a:rPr lang="en-US" sz="2000" dirty="0"/>
              <a:t>.</a:t>
            </a:r>
            <a:br>
              <a:rPr lang="en-US" sz="2000" dirty="0"/>
            </a:br>
            <a:r>
              <a:rPr lang="en-US" sz="2000" dirty="0" err="1"/>
              <a:t>algoritma</a:t>
            </a:r>
            <a:r>
              <a:rPr lang="en-US" sz="2000" dirty="0"/>
              <a:t> </a:t>
            </a:r>
            <a:r>
              <a:rPr lang="en-US" sz="2000" dirty="0" err="1"/>
              <a:t>zamanla</a:t>
            </a:r>
            <a:r>
              <a:rPr lang="en-US" sz="2000" dirty="0"/>
              <a:t> </a:t>
            </a:r>
            <a:r>
              <a:rPr lang="en-US" sz="2000" dirty="0" err="1"/>
              <a:t>daha</a:t>
            </a:r>
            <a:r>
              <a:rPr lang="en-US" sz="2000" dirty="0"/>
              <a:t> iyi </a:t>
            </a:r>
            <a:r>
              <a:rPr lang="en-US" sz="2000" dirty="0" err="1"/>
              <a:t>çömler</a:t>
            </a:r>
            <a:r>
              <a:rPr lang="en-US" sz="2000" dirty="0"/>
              <a:t> </a:t>
            </a:r>
            <a:r>
              <a:rPr lang="en-US" sz="2000" dirty="0" err="1"/>
              <a:t>etrafında</a:t>
            </a:r>
            <a:r>
              <a:rPr lang="en-US" sz="2000" dirty="0"/>
              <a:t> </a:t>
            </a:r>
            <a:r>
              <a:rPr lang="en-US" sz="2000" dirty="0" err="1"/>
              <a:t>yoğunlaşarak</a:t>
            </a:r>
            <a:r>
              <a:rPr lang="en-US" sz="2000" dirty="0"/>
              <a:t> </a:t>
            </a:r>
            <a:r>
              <a:rPr lang="en-US" sz="2000" dirty="0" err="1"/>
              <a:t>küresel</a:t>
            </a:r>
            <a:r>
              <a:rPr lang="en-US" sz="2000" dirty="0"/>
              <a:t> </a:t>
            </a:r>
            <a:r>
              <a:rPr lang="en-US" sz="2000" dirty="0" err="1"/>
              <a:t>optimuma</a:t>
            </a:r>
            <a:r>
              <a:rPr lang="en-US" sz="2000" dirty="0"/>
              <a:t> </a:t>
            </a:r>
            <a:r>
              <a:rPr lang="en-US" sz="2000" dirty="0" err="1"/>
              <a:t>yakın</a:t>
            </a:r>
            <a:r>
              <a:rPr lang="en-US" sz="2000" dirty="0"/>
              <a:t> </a:t>
            </a:r>
            <a:r>
              <a:rPr lang="en-US" sz="2000" dirty="0" err="1"/>
              <a:t>bir</a:t>
            </a:r>
            <a:r>
              <a:rPr lang="en-US" sz="2000" dirty="0"/>
              <a:t> </a:t>
            </a:r>
            <a:r>
              <a:rPr lang="en-US" sz="2000" dirty="0" err="1"/>
              <a:t>çözüm</a:t>
            </a:r>
            <a:r>
              <a:rPr lang="en-US" sz="2000" dirty="0"/>
              <a:t> </a:t>
            </a:r>
            <a:r>
              <a:rPr lang="en-US" sz="2000" dirty="0" err="1"/>
              <a:t>üretmeyi</a:t>
            </a:r>
            <a:r>
              <a:rPr lang="en-US" sz="2000" dirty="0"/>
              <a:t> </a:t>
            </a:r>
            <a:r>
              <a:rPr lang="en-US" sz="2000" dirty="0" err="1"/>
              <a:t>hedefler</a:t>
            </a:r>
            <a:r>
              <a:rPr lang="en-US" sz="2000" dirty="0"/>
              <a:t>.</a:t>
            </a:r>
          </a:p>
          <a:p>
            <a:endParaRPr lang="en-US" sz="2000" dirty="0"/>
          </a:p>
        </p:txBody>
      </p:sp>
    </p:spTree>
    <p:extLst>
      <p:ext uri="{BB962C8B-B14F-4D97-AF65-F5344CB8AC3E}">
        <p14:creationId xmlns:p14="http://schemas.microsoft.com/office/powerpoint/2010/main" val="2089485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E3CE-B51D-F42F-B2DC-9CC3AAED60EF}"/>
            </a:ext>
          </a:extLst>
        </p:cNvPr>
        <p:cNvGrpSpPr/>
        <p:nvPr/>
      </p:nvGrpSpPr>
      <p:grpSpPr>
        <a:xfrm>
          <a:off x="0" y="0"/>
          <a:ext cx="0" cy="0"/>
          <a:chOff x="0" y="0"/>
          <a:chExt cx="0" cy="0"/>
        </a:xfrm>
      </p:grpSpPr>
      <p:sp>
        <p:nvSpPr>
          <p:cNvPr id="22" name="Dikdörtgen: Köşeleri Yuvarlatılmış 21">
            <a:extLst>
              <a:ext uri="{FF2B5EF4-FFF2-40B4-BE49-F238E27FC236}">
                <a16:creationId xmlns:a16="http://schemas.microsoft.com/office/drawing/2014/main" id="{5111839F-5505-D6BD-3700-979720C89DA1}"/>
              </a:ext>
            </a:extLst>
          </p:cNvPr>
          <p:cNvSpPr/>
          <p:nvPr/>
        </p:nvSpPr>
        <p:spPr>
          <a:xfrm>
            <a:off x="9220200" y="3467100"/>
            <a:ext cx="8399643" cy="572823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Köşeleri Yuvarlatılmış 20">
            <a:extLst>
              <a:ext uri="{FF2B5EF4-FFF2-40B4-BE49-F238E27FC236}">
                <a16:creationId xmlns:a16="http://schemas.microsoft.com/office/drawing/2014/main" id="{12E5287D-A53E-84DA-11B6-0DFE4834CE5E}"/>
              </a:ext>
            </a:extLst>
          </p:cNvPr>
          <p:cNvSpPr/>
          <p:nvPr/>
        </p:nvSpPr>
        <p:spPr>
          <a:xfrm>
            <a:off x="798214" y="3467099"/>
            <a:ext cx="8067231" cy="572823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Başlık 1">
            <a:extLst>
              <a:ext uri="{FF2B5EF4-FFF2-40B4-BE49-F238E27FC236}">
                <a16:creationId xmlns:a16="http://schemas.microsoft.com/office/drawing/2014/main" id="{3812EC85-EA23-6D39-639B-B16B2478FDA3}"/>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UYGULAMA </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F4B58AFE-2D87-FC37-DDB4-081631D5A369}"/>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E5ECFAC6-A5FE-A979-553C-73C369E34BE2}"/>
              </a:ext>
            </a:extLst>
          </p:cNvPr>
          <p:cNvSpPr>
            <a:spLocks noGrp="1"/>
          </p:cNvSpPr>
          <p:nvPr>
            <p:ph type="dt" sz="half" idx="10"/>
          </p:nvPr>
        </p:nvSpPr>
        <p:spPr>
          <a:xfrm>
            <a:off x="413958" y="9475788"/>
            <a:ext cx="2133600" cy="365125"/>
          </a:xfrm>
        </p:spPr>
        <p:txBody>
          <a:bodyPr/>
          <a:lstStyle/>
          <a:p>
            <a:fld id="{A49B7F5E-9194-4B60-A660-4B60ABDE0880}"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0E2FEAF1-E317-2F33-43E7-263D0638050C}"/>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288515A5-24F3-A816-63D0-C8EA29DE16BF}"/>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10</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C4BDF039-8C07-CF4D-76FC-F0B2C7124BC8}"/>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21FD04CD-7C6E-BC8B-13A4-E5099C40524C}"/>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sp>
        <p:nvSpPr>
          <p:cNvPr id="12" name="İçerik Yer Tutucusu 6">
            <a:extLst>
              <a:ext uri="{FF2B5EF4-FFF2-40B4-BE49-F238E27FC236}">
                <a16:creationId xmlns:a16="http://schemas.microsoft.com/office/drawing/2014/main" id="{0675F0B1-0CB4-AB11-E75B-9EF09100C321}"/>
              </a:ext>
            </a:extLst>
          </p:cNvPr>
          <p:cNvSpPr txBox="1">
            <a:spLocks/>
          </p:cNvSpPr>
          <p:nvPr/>
        </p:nvSpPr>
        <p:spPr>
          <a:xfrm>
            <a:off x="10058400" y="1935163"/>
            <a:ext cx="70104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tr-TR" dirty="0"/>
          </a:p>
        </p:txBody>
      </p:sp>
      <p:sp>
        <p:nvSpPr>
          <p:cNvPr id="13" name="İçerik Yer Tutucusu 6">
            <a:extLst>
              <a:ext uri="{FF2B5EF4-FFF2-40B4-BE49-F238E27FC236}">
                <a16:creationId xmlns:a16="http://schemas.microsoft.com/office/drawing/2014/main" id="{0A4D3611-8F6B-79FC-819E-4B02F035DB91}"/>
              </a:ext>
            </a:extLst>
          </p:cNvPr>
          <p:cNvSpPr txBox="1">
            <a:spLocks/>
          </p:cNvSpPr>
          <p:nvPr/>
        </p:nvSpPr>
        <p:spPr>
          <a:xfrm>
            <a:off x="2093967" y="1954065"/>
            <a:ext cx="14325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tr-TR" sz="2400" b="1" dirty="0">
                <a:latin typeface="Times New Roman" panose="02020603050405020304" pitchFamily="18" charset="0"/>
                <a:cs typeface="Times New Roman" panose="02020603050405020304" pitchFamily="18" charset="0"/>
              </a:rPr>
              <a:t>Veri Toplama</a:t>
            </a:r>
            <a:endParaRPr lang="tr-TR" sz="2400" dirty="0">
              <a:latin typeface="Times New Roman" panose="02020603050405020304" pitchFamily="18" charset="0"/>
              <a:cs typeface="Times New Roman" panose="02020603050405020304" pitchFamily="18" charset="0"/>
            </a:endParaRPr>
          </a:p>
          <a:p>
            <a:pPr marL="0" indent="0" algn="ctr">
              <a:buFont typeface="Arial" pitchFamily="34" charset="0"/>
              <a:buNone/>
            </a:pPr>
            <a:r>
              <a:rPr lang="tr-TR" sz="2400" dirty="0">
                <a:latin typeface="Times New Roman" panose="02020603050405020304" pitchFamily="18" charset="0"/>
                <a:cs typeface="Times New Roman" panose="02020603050405020304" pitchFamily="18" charset="0"/>
              </a:rPr>
              <a:t>Araştırmada kullanılan veriler, dış kaynaklardan statik olarak çekilmek yerine, geliştirilen yazılımın simülasyon yetenekleri kullanılarak dinamik senaryolar halinde üretilmiştir. </a:t>
            </a:r>
          </a:p>
        </p:txBody>
      </p:sp>
      <mc:AlternateContent xmlns:mc="http://schemas.openxmlformats.org/markup-compatibility/2006" xmlns:a14="http://schemas.microsoft.com/office/drawing/2010/main">
        <mc:Choice Requires="a14">
          <p:sp>
            <p:nvSpPr>
              <p:cNvPr id="18" name="Metin kutusu 17">
                <a:extLst>
                  <a:ext uri="{FF2B5EF4-FFF2-40B4-BE49-F238E27FC236}">
                    <a16:creationId xmlns:a16="http://schemas.microsoft.com/office/drawing/2014/main" id="{392C0B4B-FD93-C9FD-AFA2-89E5F6675138}"/>
                  </a:ext>
                </a:extLst>
              </p:cNvPr>
              <p:cNvSpPr txBox="1"/>
              <p:nvPr/>
            </p:nvSpPr>
            <p:spPr>
              <a:xfrm>
                <a:off x="1026055" y="3597008"/>
                <a:ext cx="7544912" cy="5728235"/>
              </a:xfrm>
              <a:prstGeom prst="rect">
                <a:avLst/>
              </a:prstGeom>
              <a:noFill/>
            </p:spPr>
            <p:txBody>
              <a:bodyPr wrap="square">
                <a:spAutoFit/>
              </a:bodyPr>
              <a:lstStyle/>
              <a:p>
                <a:pPr marL="0" indent="0" algn="ctr">
                  <a:buNone/>
                </a:pPr>
                <a:r>
                  <a:rPr lang="tr-TR" sz="2400" b="1" dirty="0">
                    <a:latin typeface="Times New Roman" panose="02020603050405020304" pitchFamily="18" charset="0"/>
                    <a:cs typeface="Times New Roman" panose="02020603050405020304" pitchFamily="18" charset="0"/>
                  </a:rPr>
                  <a:t>Senaryo A Warehouse Transfer (Çoklu Konteyner Depo Transferi)</a:t>
                </a:r>
              </a:p>
              <a:p>
                <a:pPr marL="0" indent="0">
                  <a:buNone/>
                </a:pPr>
                <a:r>
                  <a:rPr lang="en-US" sz="2400" dirty="0">
                    <a:latin typeface="Times New Roman" panose="02020603050405020304" pitchFamily="18" charset="0"/>
                    <a:cs typeface="Times New Roman" panose="02020603050405020304" pitchFamily="18" charset="0"/>
                  </a:rPr>
                  <a:t>Bu </a:t>
                </a:r>
                <a:r>
                  <a:rPr lang="en-US" sz="2400" dirty="0" err="1">
                    <a:latin typeface="Times New Roman" panose="02020603050405020304" pitchFamily="18" charset="0"/>
                    <a:cs typeface="Times New Roman" panose="02020603050405020304" pitchFamily="18" charset="0"/>
                  </a:rPr>
                  <a:t>senaryo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lojistik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depoları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arasındaki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yüksek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hacimli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sevkiyatları</a:t>
                </a:r>
                <a:r>
                  <a:rPr lang="en-US" sz="2400" dirty="0">
                    <a:latin typeface="Times New Roman" panose="02020603050405020304" pitchFamily="18" charset="0"/>
                    <a:cs typeface="Times New Roman" panose="02020603050405020304" pitchFamily="18" charset="0"/>
                  </a:rPr>
                  <a:t> temsil </a:t>
                </a:r>
                <a:r>
                  <a:rPr lang="en-US" sz="2400" dirty="0" err="1">
                    <a:latin typeface="Times New Roman" panose="02020603050405020304" pitchFamily="18" charset="0"/>
                    <a:cs typeface="Times New Roman" panose="02020603050405020304" pitchFamily="18" charset="0"/>
                  </a:rPr>
                  <a:t>eder</a:t>
                </a:r>
                <a:r>
                  <a:rPr lang="en-US" sz="2400" dirty="0">
                    <a:latin typeface="Times New Roman" panose="02020603050405020304" pitchFamily="18" charset="0"/>
                    <a:cs typeface="Times New Roman" panose="02020603050405020304" pitchFamily="18" charset="0"/>
                  </a:rPr>
                  <a:t>. Veri </a:t>
                </a:r>
                <a:r>
                  <a:rPr lang="en-US" sz="2400" dirty="0" err="1">
                    <a:latin typeface="Times New Roman" panose="02020603050405020304" pitchFamily="18" charset="0"/>
                    <a:cs typeface="Times New Roman" panose="02020603050405020304" pitchFamily="18" charset="0"/>
                  </a:rPr>
                  <a:t>seti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tek</a:t>
                </a:r>
                <a:r>
                  <a:rPr lang="en-US" sz="2400" dirty="0">
                    <a:latin typeface="Times New Roman" panose="02020603050405020304" pitchFamily="18" charset="0"/>
                    <a:cs typeface="Times New Roman" panose="02020603050405020304" pitchFamily="18" charset="0"/>
                  </a:rPr>
                  <a:t> bir </a:t>
                </a:r>
                <a:r>
                  <a:rPr lang="en-US" sz="2400" dirty="0" err="1">
                    <a:latin typeface="Times New Roman" panose="02020603050405020304" pitchFamily="18" charset="0"/>
                    <a:cs typeface="Times New Roman" panose="02020603050405020304" pitchFamily="18" charset="0"/>
                  </a:rPr>
                  <a:t>konteynere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sığmayacak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kadar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büyük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olan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ve</a:t>
                </a:r>
                <a:r>
                  <a:rPr lang="en-US" sz="2400" i="1" dirty="0">
                    <a:latin typeface="Times New Roman" panose="02020603050405020304" pitchFamily="18" charset="0"/>
                    <a:cs typeface="Times New Roman" panose="02020603050405020304" pitchFamily="18" charset="0"/>
                  </a:rPr>
                  <a:t> </a:t>
                </a:r>
                <a14:m>
                  <m:oMath xmlns:m="http://schemas.openxmlformats.org/officeDocument/2006/math">
                    <m:r>
                      <a:rPr lang="tr-TR" sz="2400" i="1">
                        <a:latin typeface="Cambria Math" panose="02040503050406030204" pitchFamily="18" charset="0"/>
                      </a:rPr>
                      <m:t>(</m:t>
                    </m:r>
                    <m:sSub>
                      <m:sSubPr>
                        <m:ctrlPr>
                          <a:rPr lang="tr-TR" sz="2400" i="1">
                            <a:latin typeface="Cambria Math" panose="02040503050406030204" pitchFamily="18" charset="0"/>
                          </a:rPr>
                        </m:ctrlPr>
                      </m:sSubPr>
                      <m:e>
                        <m:r>
                          <a:rPr lang="tr-TR" sz="2400" i="1">
                            <a:latin typeface="Cambria Math" panose="02040503050406030204" pitchFamily="18" charset="0"/>
                          </a:rPr>
                          <m:t>𝑉</m:t>
                        </m:r>
                      </m:e>
                      <m:sub>
                        <m:r>
                          <m:rPr>
                            <m:nor/>
                          </m:rPr>
                          <a:rPr lang="tr-TR" sz="2400">
                            <a:latin typeface="Times New Roman" panose="02020603050405020304" pitchFamily="18" charset="0"/>
                            <a:cs typeface="Times New Roman" panose="02020603050405020304" pitchFamily="18" charset="0"/>
                          </a:rPr>
                          <m:t>toplam</m:t>
                        </m:r>
                      </m:sub>
                    </m:sSub>
                    <m:r>
                      <a:rPr lang="tr-TR" sz="2400" i="1">
                        <a:latin typeface="Cambria Math" panose="02040503050406030204" pitchFamily="18" charset="0"/>
                      </a:rPr>
                      <m:t>&gt;33</m:t>
                    </m:r>
                    <m:sSup>
                      <m:sSupPr>
                        <m:ctrlPr>
                          <a:rPr lang="tr-TR" sz="2400" i="1">
                            <a:latin typeface="Cambria Math" panose="02040503050406030204" pitchFamily="18" charset="0"/>
                          </a:rPr>
                        </m:ctrlPr>
                      </m:sSupPr>
                      <m:e>
                        <m:r>
                          <a:rPr lang="tr-TR" sz="2400" i="1">
                            <a:latin typeface="Cambria Math" panose="02040503050406030204" pitchFamily="18" charset="0"/>
                          </a:rPr>
                          <m:t>𝑚</m:t>
                        </m:r>
                      </m:e>
                      <m:sup>
                        <m:r>
                          <a:rPr lang="tr-TR" sz="2400" i="1">
                            <a:latin typeface="Cambria Math" panose="02040503050406030204" pitchFamily="18" charset="0"/>
                          </a:rPr>
                          <m:t>3</m:t>
                        </m:r>
                      </m:sup>
                    </m:sSup>
                    <m:r>
                      <a:rPr lang="tr-TR" sz="2400" i="1">
                        <a:latin typeface="Cambria Math" panose="02040503050406030204" pitchFamily="18" charset="0"/>
                      </a:rPr>
                      <m:t>)</m:t>
                    </m:r>
                  </m:oMath>
                </a14:m>
                <a:r>
                  <a:rPr lang="tr-T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heterojen (</a:t>
                </a:r>
                <a:r>
                  <a:rPr lang="en-US" sz="2400" dirty="0" err="1">
                    <a:latin typeface="Times New Roman" panose="02020603050405020304" pitchFamily="18" charset="0"/>
                    <a:cs typeface="Times New Roman" panose="02020603050405020304" pitchFamily="18" charset="0"/>
                  </a:rPr>
                  <a:t>farklı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boyutlarda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yüklerden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oluşur</a:t>
                </a:r>
                <a:r>
                  <a:rPr lang="en-US" sz="2400" dirty="0">
                    <a:latin typeface="Times New Roman" panose="02020603050405020304" pitchFamily="18" charset="0"/>
                    <a:cs typeface="Times New Roman" panose="02020603050405020304" pitchFamily="18" charset="0"/>
                  </a:rPr>
                  <a:t>.</a:t>
                </a:r>
                <a:endParaRPr lang="tr-TR" sz="2400" dirty="0">
                  <a:latin typeface="Times New Roman" panose="02020603050405020304" pitchFamily="18" charset="0"/>
                  <a:cs typeface="Times New Roman" panose="02020603050405020304" pitchFamily="18" charset="0"/>
                </a:endParaRPr>
              </a:p>
              <a:p>
                <a:endParaRPr lang="tr-TR" sz="2400" b="1" dirty="0"/>
              </a:p>
              <a:p>
                <a:r>
                  <a:rPr lang="en-US" sz="2400" b="1" dirty="0"/>
                  <a:t>Veri </a:t>
                </a:r>
                <a:r>
                  <a:rPr lang="en-US" sz="2400" b="1" dirty="0" err="1"/>
                  <a:t>İçeriği</a:t>
                </a:r>
                <a:r>
                  <a:rPr lang="en-US" sz="2400" b="1" dirty="0"/>
                  <a:t>:</a:t>
                </a:r>
                <a:r>
                  <a:rPr lang="en-US" sz="2400" dirty="0"/>
                  <a:t> </a:t>
                </a:r>
                <a:r>
                  <a:rPr lang="en-US" sz="2400" dirty="0" err="1"/>
                  <a:t>Endüstriyel</a:t>
                </a:r>
                <a:r>
                  <a:rPr lang="en-US" sz="2400" dirty="0"/>
                  <a:t> </a:t>
                </a:r>
                <a:r>
                  <a:rPr lang="en-US" sz="2400" dirty="0" err="1"/>
                  <a:t>kasalar</a:t>
                </a:r>
                <a:r>
                  <a:rPr lang="en-US" sz="2400" dirty="0"/>
                  <a:t>, </a:t>
                </a:r>
                <a:r>
                  <a:rPr lang="en-US" sz="2400" dirty="0" err="1"/>
                  <a:t>variller</a:t>
                </a:r>
                <a:r>
                  <a:rPr lang="en-US" sz="2400" dirty="0"/>
                  <a:t> </a:t>
                </a:r>
                <a:r>
                  <a:rPr lang="en-US" sz="2400" dirty="0" err="1"/>
                  <a:t>ve</a:t>
                </a:r>
                <a:r>
                  <a:rPr lang="en-US" sz="2400" dirty="0"/>
                  <a:t> </a:t>
                </a:r>
                <a:r>
                  <a:rPr lang="en-US" sz="2400" dirty="0" err="1"/>
                  <a:t>paletli</a:t>
                </a:r>
                <a:r>
                  <a:rPr lang="en-US" sz="2400" dirty="0"/>
                  <a:t> </a:t>
                </a:r>
                <a:r>
                  <a:rPr lang="en-US" sz="2400" dirty="0" err="1"/>
                  <a:t>yüklerden</a:t>
                </a:r>
                <a:r>
                  <a:rPr lang="en-US" sz="2400" dirty="0"/>
                  <a:t> </a:t>
                </a:r>
                <a:r>
                  <a:rPr lang="en-US" sz="2400" dirty="0" err="1"/>
                  <a:t>oluşan</a:t>
                </a:r>
                <a:r>
                  <a:rPr lang="en-US" sz="2400" dirty="0"/>
                  <a:t> 100+ </a:t>
                </a:r>
                <a:r>
                  <a:rPr lang="en-US" sz="2400" dirty="0" err="1"/>
                  <a:t>adetlik</a:t>
                </a:r>
                <a:r>
                  <a:rPr lang="en-US" sz="2400" dirty="0"/>
                  <a:t> karma </a:t>
                </a:r>
                <a:r>
                  <a:rPr lang="en-US" sz="2400" dirty="0" err="1"/>
                  <a:t>liste</a:t>
                </a:r>
                <a:r>
                  <a:rPr lang="en-US" sz="2400" dirty="0"/>
                  <a:t>.</a:t>
                </a:r>
                <a:endParaRPr lang="tr-TR" sz="2400" dirty="0"/>
              </a:p>
              <a:p>
                <a:r>
                  <a:rPr lang="en-US" sz="2400" dirty="0"/>
                  <a:t> </a:t>
                </a:r>
                <a:endParaRPr lang="tr-TR" sz="2400" dirty="0"/>
              </a:p>
              <a:p>
                <a:r>
                  <a:rPr lang="en-US" sz="2400" b="1" dirty="0"/>
                  <a:t>Amaç: </a:t>
                </a:r>
                <a:r>
                  <a:rPr lang="en-US" sz="2400" dirty="0" err="1"/>
                  <a:t>Algoritmanın</a:t>
                </a:r>
                <a:r>
                  <a:rPr lang="en-US" sz="2400" dirty="0"/>
                  <a:t> "Multi-Bin Packing" (</a:t>
                </a:r>
                <a:r>
                  <a:rPr lang="en-US" sz="2400" dirty="0" err="1"/>
                  <a:t>Çoklu</a:t>
                </a:r>
                <a:r>
                  <a:rPr lang="en-US" sz="2400" dirty="0"/>
                  <a:t> Kutu </a:t>
                </a:r>
                <a:r>
                  <a:rPr lang="en-US" sz="2400" dirty="0" err="1"/>
                  <a:t>Paketleme</a:t>
                </a:r>
                <a:r>
                  <a:rPr lang="en-US" sz="2400" dirty="0"/>
                  <a:t>) </a:t>
                </a:r>
                <a:r>
                  <a:rPr lang="en-US" sz="2400" dirty="0" err="1"/>
                  <a:t>yeteneğini</a:t>
                </a:r>
                <a:r>
                  <a:rPr lang="en-US" sz="2400" dirty="0"/>
                  <a:t>, </a:t>
                </a:r>
                <a:r>
                  <a:rPr lang="en-US" sz="2400" dirty="0" err="1"/>
                  <a:t>yani</a:t>
                </a:r>
                <a:r>
                  <a:rPr lang="en-US" sz="2400" dirty="0"/>
                  <a:t> </a:t>
                </a:r>
                <a:r>
                  <a:rPr lang="en-US" sz="2400" dirty="0" err="1"/>
                  <a:t>yükleri</a:t>
                </a:r>
                <a:r>
                  <a:rPr lang="en-US" sz="2400" dirty="0"/>
                  <a:t> </a:t>
                </a:r>
                <a:r>
                  <a:rPr lang="en-US" sz="2400" dirty="0" err="1"/>
                  <a:t>birden</a:t>
                </a:r>
                <a:r>
                  <a:rPr lang="en-US" sz="2400" dirty="0"/>
                  <a:t> </a:t>
                </a:r>
                <a:r>
                  <a:rPr lang="en-US" sz="2400" dirty="0" err="1"/>
                  <a:t>fazla</a:t>
                </a:r>
                <a:r>
                  <a:rPr lang="en-US" sz="2400" dirty="0"/>
                  <a:t> </a:t>
                </a:r>
                <a:r>
                  <a:rPr lang="en-US" sz="2400" dirty="0" err="1"/>
                  <a:t>konteynere</a:t>
                </a:r>
                <a:r>
                  <a:rPr lang="en-US" sz="2400" dirty="0"/>
                  <a:t> </a:t>
                </a:r>
                <a:r>
                  <a:rPr lang="en-US" sz="2400" dirty="0" err="1"/>
                  <a:t>bölerken</a:t>
                </a:r>
                <a:r>
                  <a:rPr lang="en-US" sz="2400" dirty="0"/>
                  <a:t> </a:t>
                </a:r>
                <a:r>
                  <a:rPr lang="en-US" sz="2400" dirty="0" err="1"/>
                  <a:t>toplam</a:t>
                </a:r>
                <a:r>
                  <a:rPr lang="en-US" sz="2400" dirty="0"/>
                  <a:t> </a:t>
                </a:r>
                <a:r>
                  <a:rPr lang="en-US" sz="2400" dirty="0" err="1"/>
                  <a:t>konteyner</a:t>
                </a:r>
                <a:r>
                  <a:rPr lang="en-US" sz="2400" dirty="0"/>
                  <a:t> </a:t>
                </a:r>
                <a:r>
                  <a:rPr lang="en-US" sz="2400" dirty="0" err="1"/>
                  <a:t>hacmi</a:t>
                </a:r>
                <a:r>
                  <a:rPr lang="en-US" sz="2400" dirty="0"/>
                  <a:t> </a:t>
                </a:r>
                <a:r>
                  <a:rPr lang="en-US" sz="2400" dirty="0" err="1"/>
                  <a:t>kullanım</a:t>
                </a:r>
                <a:r>
                  <a:rPr lang="en-US" sz="2400" dirty="0"/>
                  <a:t> </a:t>
                </a:r>
                <a:r>
                  <a:rPr lang="en-US" sz="2400" dirty="0" err="1"/>
                  <a:t>yüzdesini</a:t>
                </a:r>
                <a:r>
                  <a:rPr lang="en-US" sz="2400" dirty="0"/>
                  <a:t> maximize </a:t>
                </a:r>
                <a:r>
                  <a:rPr lang="en-US" sz="2400" dirty="0" err="1"/>
                  <a:t>etmeye</a:t>
                </a:r>
                <a:r>
                  <a:rPr lang="en-US" sz="2400" dirty="0"/>
                  <a:t> </a:t>
                </a:r>
                <a:r>
                  <a:rPr lang="en-US" sz="2400" dirty="0" err="1"/>
                  <a:t>çalışır</a:t>
                </a:r>
                <a:r>
                  <a:rPr lang="en-US" sz="2400" dirty="0"/>
                  <a:t>.</a:t>
                </a:r>
                <a:endParaRPr lang="tr-TR" sz="2400" dirty="0"/>
              </a:p>
              <a:p>
                <a:pPr marL="0" indent="0">
                  <a:buNone/>
                </a:pPr>
                <a:endParaRPr lang="tr-TR" sz="2400" dirty="0">
                  <a:latin typeface="Times New Roman" panose="02020603050405020304" pitchFamily="18" charset="0"/>
                  <a:cs typeface="Times New Roman" panose="02020603050405020304" pitchFamily="18" charset="0"/>
                </a:endParaRPr>
              </a:p>
            </p:txBody>
          </p:sp>
        </mc:Choice>
        <mc:Fallback xmlns="">
          <p:sp>
            <p:nvSpPr>
              <p:cNvPr id="18" name="Metin kutusu 17">
                <a:extLst>
                  <a:ext uri="{FF2B5EF4-FFF2-40B4-BE49-F238E27FC236}">
                    <a16:creationId xmlns:a16="http://schemas.microsoft.com/office/drawing/2014/main" id="{392C0B4B-FD93-C9FD-AFA2-89E5F6675138}"/>
                  </a:ext>
                </a:extLst>
              </p:cNvPr>
              <p:cNvSpPr txBox="1">
                <a:spLocks noRot="1" noChangeAspect="1" noMove="1" noResize="1" noEditPoints="1" noAdjustHandles="1" noChangeArrowheads="1" noChangeShapeType="1" noTextEdit="1"/>
              </p:cNvSpPr>
              <p:nvPr/>
            </p:nvSpPr>
            <p:spPr>
              <a:xfrm>
                <a:off x="1026055" y="3597008"/>
                <a:ext cx="7544912" cy="5728235"/>
              </a:xfrm>
              <a:prstGeom prst="rect">
                <a:avLst/>
              </a:prstGeom>
              <a:blipFill>
                <a:blip r:embed="rId5"/>
                <a:stretch>
                  <a:fillRect l="-1212" t="-851" r="-1454"/>
                </a:stretch>
              </a:blipFill>
            </p:spPr>
            <p:txBody>
              <a:bodyPr/>
              <a:lstStyle/>
              <a:p>
                <a:r>
                  <a:rPr lang="tr-TR">
                    <a:noFill/>
                  </a:rPr>
                  <a:t> </a:t>
                </a:r>
              </a:p>
            </p:txBody>
          </p:sp>
        </mc:Fallback>
      </mc:AlternateContent>
      <p:sp>
        <p:nvSpPr>
          <p:cNvPr id="19" name="Metin kutusu 18">
            <a:extLst>
              <a:ext uri="{FF2B5EF4-FFF2-40B4-BE49-F238E27FC236}">
                <a16:creationId xmlns:a16="http://schemas.microsoft.com/office/drawing/2014/main" id="{9F6E48DF-C03A-88D3-DFB2-12F859019B5D}"/>
              </a:ext>
            </a:extLst>
          </p:cNvPr>
          <p:cNvSpPr txBox="1"/>
          <p:nvPr/>
        </p:nvSpPr>
        <p:spPr>
          <a:xfrm>
            <a:off x="9514679" y="3352086"/>
            <a:ext cx="7972800" cy="6032421"/>
          </a:xfrm>
          <a:prstGeom prst="rect">
            <a:avLst/>
          </a:prstGeom>
          <a:noFill/>
        </p:spPr>
        <p:txBody>
          <a:bodyPr wrap="square">
            <a:spAutoFit/>
          </a:bodyPr>
          <a:lstStyle/>
          <a:p>
            <a:r>
              <a:rPr lang="tr-TR" b="1" dirty="0"/>
              <a:t> </a:t>
            </a:r>
            <a:endParaRPr lang="tr-TR" dirty="0"/>
          </a:p>
          <a:p>
            <a:pPr algn="ctr"/>
            <a:r>
              <a:rPr lang="tr-TR" sz="2400" b="1" dirty="0"/>
              <a:t> Senaryo B </a:t>
            </a:r>
            <a:r>
              <a:rPr lang="tr-TR" sz="2400" b="1" dirty="0" err="1"/>
              <a:t>The</a:t>
            </a:r>
            <a:r>
              <a:rPr lang="tr-TR" sz="2400" b="1" dirty="0"/>
              <a:t> Tetris </a:t>
            </a:r>
            <a:r>
              <a:rPr lang="tr-TR" sz="2400" b="1" dirty="0" err="1"/>
              <a:t>Paradox</a:t>
            </a:r>
            <a:r>
              <a:rPr lang="tr-TR" sz="2400" b="1" dirty="0"/>
              <a:t> (Sıralama Paradoksu)</a:t>
            </a:r>
            <a:endParaRPr lang="tr-TR" sz="2400" dirty="0"/>
          </a:p>
          <a:p>
            <a:r>
              <a:rPr lang="tr-TR" sz="2400" dirty="0"/>
              <a:t>Bu senaryo, literatürde "Sıralama Paradoksu" olarak bilinen teorik bir durumu test eder. Veri seti, geometrik olarak birleştiğinde mükemmel bir blok oluşturan ancak yanlış sırada geldiklerinde büyük boşluklar bırakan özel parçalardan (L-bloklar, T-bloklar) oluşur.</a:t>
            </a:r>
          </a:p>
          <a:p>
            <a:endParaRPr lang="tr-TR" sz="2400" b="1" dirty="0"/>
          </a:p>
          <a:p>
            <a:r>
              <a:rPr lang="tr-TR" sz="2400" b="1" dirty="0"/>
              <a:t>Amaç:</a:t>
            </a:r>
            <a:r>
              <a:rPr lang="tr-TR" sz="2400" dirty="0"/>
              <a:t> Klasik algoritmaların yetersizliğini ve Meta-Sezgisel algoritmaların (Genetik Algoritma) doğru sıralamayı bulma yeteneğini kanıtlamaktır.</a:t>
            </a:r>
          </a:p>
          <a:p>
            <a:endParaRPr lang="tr-TR" sz="2400" b="1" dirty="0"/>
          </a:p>
          <a:p>
            <a:r>
              <a:rPr lang="tr-TR" sz="2400" b="1" dirty="0"/>
              <a:t>Veri İçeriği:</a:t>
            </a:r>
            <a:r>
              <a:rPr lang="tr-TR" sz="2400" dirty="0"/>
              <a:t> Belirli bir sırayla yerleştirildiğinde %100 doluluk sağlayan, ancak "Açgözlü" (</a:t>
            </a:r>
            <a:r>
              <a:rPr lang="tr-TR" sz="2400" dirty="0" err="1"/>
              <a:t>Greedy</a:t>
            </a:r>
            <a:r>
              <a:rPr lang="tr-TR" sz="2400" dirty="0"/>
              <a:t>) algoritmalarla yerleştirildiğinde %60-70 bandında kalan tuzaklı parçalar.</a:t>
            </a:r>
          </a:p>
          <a:p>
            <a:pPr marL="0" indent="0">
              <a:buNone/>
            </a:pPr>
            <a:endParaRPr lang="tr-T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554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DD8B-1D09-27F3-AE88-FB1DCDC96B2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7D2932E-C4CB-E98C-0C89-6C505DEFBD65}"/>
              </a:ext>
            </a:extLst>
          </p:cNvPr>
          <p:cNvSpPr>
            <a:spLocks noGrp="1"/>
          </p:cNvSpPr>
          <p:nvPr>
            <p:ph type="title"/>
          </p:nvPr>
        </p:nvSpPr>
        <p:spPr>
          <a:xfrm>
            <a:off x="457200" y="609601"/>
            <a:ext cx="17373600" cy="1143000"/>
          </a:xfrm>
        </p:spPr>
        <p:txBody>
          <a:bodyPr>
            <a:normAutofit fontScale="90000"/>
          </a:bodyPr>
          <a:lstStyle/>
          <a:p>
            <a:r>
              <a:rPr lang="en-US" sz="7200" b="1" dirty="0">
                <a:solidFill>
                  <a:srgbClr val="5F81A3"/>
                </a:solidFill>
                <a:latin typeface="Poppins Bold"/>
                <a:cs typeface="Poppins Bold"/>
                <a:sym typeface="Poppins Bold"/>
              </a:rPr>
              <a:t>UYGULAMA</a:t>
            </a:r>
            <a:endParaRPr lang="tr-TR" sz="7200" b="1" dirty="0">
              <a:solidFill>
                <a:srgbClr val="5F81A3"/>
              </a:solidFill>
              <a:latin typeface="Poppins Bold"/>
              <a:cs typeface="Poppins Bold"/>
            </a:endParaRPr>
          </a:p>
        </p:txBody>
      </p:sp>
      <p:sp>
        <p:nvSpPr>
          <p:cNvPr id="8" name="AutoShape 16">
            <a:extLst>
              <a:ext uri="{FF2B5EF4-FFF2-40B4-BE49-F238E27FC236}">
                <a16:creationId xmlns:a16="http://schemas.microsoft.com/office/drawing/2014/main" id="{80673154-4150-28C3-9DDF-0AD54372D276}"/>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A70C9ACB-7CE4-A18D-26D2-34A854A7C661}"/>
              </a:ext>
            </a:extLst>
          </p:cNvPr>
          <p:cNvSpPr>
            <a:spLocks noGrp="1"/>
          </p:cNvSpPr>
          <p:nvPr>
            <p:ph type="dt" sz="half" idx="10"/>
          </p:nvPr>
        </p:nvSpPr>
        <p:spPr>
          <a:xfrm>
            <a:off x="413958" y="9475788"/>
            <a:ext cx="2133600" cy="365125"/>
          </a:xfrm>
        </p:spPr>
        <p:txBody>
          <a:bodyPr/>
          <a:lstStyle/>
          <a:p>
            <a:fld id="{95E380EC-6B3F-4A8E-8FB2-44E565A9EAFB}"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CB2473DD-CA2E-BC48-FC7B-15B835C230CA}"/>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8B985694-57FB-A93A-8D5F-BBD7BB65911E}"/>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11</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90F3D18E-A7D4-32E0-DEB1-3AE459BA7B1D}"/>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A50856D6-F57D-571C-C793-FD925A4041D0}"/>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pic>
        <p:nvPicPr>
          <p:cNvPr id="7" name="Resim 6" descr="metin, ekran görüntüsü, yazı tipi, sayı, numara içeren bir resim&#10;&#10;Yapay zeka tarafından oluşturulmuş içerik yanlış olabilir.">
            <a:extLst>
              <a:ext uri="{FF2B5EF4-FFF2-40B4-BE49-F238E27FC236}">
                <a16:creationId xmlns:a16="http://schemas.microsoft.com/office/drawing/2014/main" id="{6C236FD6-94D4-B6EB-9C4F-A79AB7D240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5956" y="2198247"/>
            <a:ext cx="4292216" cy="3337876"/>
          </a:xfrm>
          <a:prstGeom prst="rect">
            <a:avLst/>
          </a:prstGeom>
        </p:spPr>
      </p:pic>
      <p:pic>
        <p:nvPicPr>
          <p:cNvPr id="12" name="Resim 11" descr="metin, ekran görüntüsü, yazı tipi, sayı, numara içeren bir resim&#10;&#10;Yapay zeka tarafından oluşturulmuş içerik yanlış olabilir.">
            <a:extLst>
              <a:ext uri="{FF2B5EF4-FFF2-40B4-BE49-F238E27FC236}">
                <a16:creationId xmlns:a16="http://schemas.microsoft.com/office/drawing/2014/main" id="{69EE664D-B869-F3A5-29CE-4BD010D71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8134" y="2351479"/>
            <a:ext cx="5522296" cy="3337876"/>
          </a:xfrm>
          <a:prstGeom prst="rect">
            <a:avLst/>
          </a:prstGeom>
        </p:spPr>
      </p:pic>
      <p:pic>
        <p:nvPicPr>
          <p:cNvPr id="13" name="Resim 12" descr="metin, ekran görüntüsü, yazı tipi, sayı, numara içeren bir resim&#10;&#10;Yapay zeka tarafından oluşturulmuş içerik yanlış olabilir.">
            <a:extLst>
              <a:ext uri="{FF2B5EF4-FFF2-40B4-BE49-F238E27FC236}">
                <a16:creationId xmlns:a16="http://schemas.microsoft.com/office/drawing/2014/main" id="{3CE45D68-6370-322E-CD53-37242DCBCF8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35342" y="2351479"/>
            <a:ext cx="4292216" cy="3140191"/>
          </a:xfrm>
          <a:prstGeom prst="rect">
            <a:avLst/>
          </a:prstGeom>
        </p:spPr>
      </p:pic>
      <p:pic>
        <p:nvPicPr>
          <p:cNvPr id="14" name="Resim 13" descr="metin, ekran görüntüsü, yazı tipi, sayı, numara içeren bir resim&#10;&#10;Yapay zeka tarafından oluşturulmuş içerik yanlış olabilir.">
            <a:extLst>
              <a:ext uri="{FF2B5EF4-FFF2-40B4-BE49-F238E27FC236}">
                <a16:creationId xmlns:a16="http://schemas.microsoft.com/office/drawing/2014/main" id="{07073365-81ED-C47C-2597-28ABCFCE38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13866" y="6039787"/>
            <a:ext cx="4559343" cy="3140191"/>
          </a:xfrm>
          <a:prstGeom prst="rect">
            <a:avLst/>
          </a:prstGeom>
        </p:spPr>
      </p:pic>
      <p:pic>
        <p:nvPicPr>
          <p:cNvPr id="16" name="Resim 15" descr="metin, ekran görüntüsü, yazı tipi, sayı, numara içeren bir resim&#10;&#10;Yapay zeka tarafından oluşturulmuş içerik yanlış olabilir.">
            <a:extLst>
              <a:ext uri="{FF2B5EF4-FFF2-40B4-BE49-F238E27FC236}">
                <a16:creationId xmlns:a16="http://schemas.microsoft.com/office/drawing/2014/main" id="{A3A20BCB-8143-A6F8-C302-77640E883AD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36856" y="5941379"/>
            <a:ext cx="4559342" cy="1796696"/>
          </a:xfrm>
          <a:prstGeom prst="rect">
            <a:avLst/>
          </a:prstGeom>
        </p:spPr>
      </p:pic>
      <p:pic>
        <p:nvPicPr>
          <p:cNvPr id="18" name="Resim 17" descr="küp, mekanik bulmaca içeren bir resim&#10;&#10;Yapay zeka tarafından oluşturulmuş içerik yanlış olabilir.">
            <a:extLst>
              <a:ext uri="{FF2B5EF4-FFF2-40B4-BE49-F238E27FC236}">
                <a16:creationId xmlns:a16="http://schemas.microsoft.com/office/drawing/2014/main" id="{C5DB74A5-E5CF-EEAA-94A3-996D7084C7C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51365" y="3166996"/>
            <a:ext cx="4948797" cy="4235942"/>
          </a:xfrm>
          <a:prstGeom prst="rect">
            <a:avLst/>
          </a:prstGeom>
        </p:spPr>
      </p:pic>
      <p:pic>
        <p:nvPicPr>
          <p:cNvPr id="19" name="Resim 18" descr="küp, mekanik bulmaca, konteyner içeren bir resim&#10;&#10;Yapay zeka tarafından oluşturulmuş içerik yanlış olabilir.">
            <a:extLst>
              <a:ext uri="{FF2B5EF4-FFF2-40B4-BE49-F238E27FC236}">
                <a16:creationId xmlns:a16="http://schemas.microsoft.com/office/drawing/2014/main" id="{92DAE734-8AEF-164D-1C0A-FD4E1ADA22F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142914" y="3279412"/>
            <a:ext cx="5175837" cy="4166621"/>
          </a:xfrm>
          <a:prstGeom prst="rect">
            <a:avLst/>
          </a:prstGeom>
        </p:spPr>
      </p:pic>
      <p:pic>
        <p:nvPicPr>
          <p:cNvPr id="20" name="Resim 19" descr="metin, ekran görüntüsü, yazı tipi, sayı, numara içeren bir resim&#10;&#10;Yapay zeka tarafından oluşturulmuş içerik yanlış olabilir.">
            <a:extLst>
              <a:ext uri="{FF2B5EF4-FFF2-40B4-BE49-F238E27FC236}">
                <a16:creationId xmlns:a16="http://schemas.microsoft.com/office/drawing/2014/main" id="{27F050A9-7B7C-927D-1761-671C982EDD1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9370" y="2940286"/>
            <a:ext cx="3850163" cy="4669597"/>
          </a:xfrm>
          <a:prstGeom prst="rect">
            <a:avLst/>
          </a:prstGeom>
        </p:spPr>
      </p:pic>
      <p:pic>
        <p:nvPicPr>
          <p:cNvPr id="21" name="Resim 20" descr="metin, ekran görüntüsü, yazı tipi, sayı, numara içeren bir resim&#10;&#10;Yapay zeka tarafından oluşturulmuş içerik yanlış olabilir.">
            <a:extLst>
              <a:ext uri="{FF2B5EF4-FFF2-40B4-BE49-F238E27FC236}">
                <a16:creationId xmlns:a16="http://schemas.microsoft.com/office/drawing/2014/main" id="{6267653E-4EEA-FCDE-D271-998FAE37842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681689" y="2958395"/>
            <a:ext cx="3595659" cy="4911769"/>
          </a:xfrm>
          <a:prstGeom prst="rect">
            <a:avLst/>
          </a:prstGeom>
        </p:spPr>
      </p:pic>
      <p:sp>
        <p:nvSpPr>
          <p:cNvPr id="6" name="Metin kutusu 5">
            <a:extLst>
              <a:ext uri="{FF2B5EF4-FFF2-40B4-BE49-F238E27FC236}">
                <a16:creationId xmlns:a16="http://schemas.microsoft.com/office/drawing/2014/main" id="{39C6116C-BD43-ABF4-2051-DE54558296C0}"/>
              </a:ext>
            </a:extLst>
          </p:cNvPr>
          <p:cNvSpPr txBox="1"/>
          <p:nvPr/>
        </p:nvSpPr>
        <p:spPr>
          <a:xfrm>
            <a:off x="4341273" y="1607037"/>
            <a:ext cx="9615381" cy="677108"/>
          </a:xfrm>
          <a:prstGeom prst="rect">
            <a:avLst/>
          </a:prstGeom>
          <a:noFill/>
        </p:spPr>
        <p:txBody>
          <a:bodyPr wrap="square">
            <a:spAutoFit/>
          </a:bodyPr>
          <a:lstStyle/>
          <a:p>
            <a:pPr marL="0" indent="0" algn="ctr">
              <a:buNone/>
            </a:pPr>
            <a:r>
              <a:rPr lang="tr-TR" sz="2000" b="1" dirty="0">
                <a:latin typeface="Times New Roman" panose="02020603050405020304" pitchFamily="18" charset="0"/>
                <a:cs typeface="Times New Roman" panose="02020603050405020304" pitchFamily="18" charset="0"/>
              </a:rPr>
              <a:t>Senaryo A </a:t>
            </a:r>
            <a:r>
              <a:rPr lang="tr-TR" sz="2000" b="1" dirty="0" err="1">
                <a:latin typeface="Times New Roman" panose="02020603050405020304" pitchFamily="18" charset="0"/>
                <a:cs typeface="Times New Roman" panose="02020603050405020304" pitchFamily="18" charset="0"/>
              </a:rPr>
              <a:t>The</a:t>
            </a:r>
            <a:r>
              <a:rPr lang="tr-TR" sz="2000" b="1" dirty="0">
                <a:latin typeface="Times New Roman" panose="02020603050405020304" pitchFamily="18" charset="0"/>
                <a:cs typeface="Times New Roman" panose="02020603050405020304" pitchFamily="18" charset="0"/>
              </a:rPr>
              <a:t> WAREHOUSE (Sıralama Paradoksu</a:t>
            </a:r>
            <a:r>
              <a:rPr lang="tr-TR" b="1" dirty="0">
                <a:latin typeface="Times New Roman" panose="02020603050405020304" pitchFamily="18" charset="0"/>
                <a:cs typeface="Times New Roman" panose="02020603050405020304" pitchFamily="18" charset="0"/>
              </a:rPr>
              <a:t>)</a:t>
            </a:r>
            <a:endParaRPr lang="tr-TR" dirty="0">
              <a:latin typeface="Times New Roman" panose="02020603050405020304" pitchFamily="18" charset="0"/>
              <a:cs typeface="Times New Roman" panose="02020603050405020304" pitchFamily="18" charset="0"/>
            </a:endParaRPr>
          </a:p>
          <a:p>
            <a:pPr marL="0" indent="0" algn="ctr">
              <a:buNone/>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57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4"/>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34FCB-0F10-9061-8961-1BABE02D78E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A3FDC5F-41E7-7A92-C039-3220443ED8A9}"/>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UYGULAMA</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DE2E80E8-F616-58F8-70C6-0D75F23A144F}"/>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AF60FFA5-B6DF-204B-5C8B-45AE567299BA}"/>
              </a:ext>
            </a:extLst>
          </p:cNvPr>
          <p:cNvSpPr>
            <a:spLocks noGrp="1"/>
          </p:cNvSpPr>
          <p:nvPr>
            <p:ph type="dt" sz="half" idx="10"/>
          </p:nvPr>
        </p:nvSpPr>
        <p:spPr>
          <a:xfrm>
            <a:off x="413958" y="9475788"/>
            <a:ext cx="2133600" cy="365125"/>
          </a:xfrm>
        </p:spPr>
        <p:txBody>
          <a:bodyPr/>
          <a:lstStyle/>
          <a:p>
            <a:fld id="{A49B7F5E-9194-4B60-A660-4B60ABDE0880}"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35B1BCB6-1345-1F75-ED21-F51715ABC615}"/>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88CF4819-AF92-9AE5-653E-78557900E729}"/>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12</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8CFBE166-EA51-FCD6-471A-EFC53CE95AB1}"/>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154B8B1B-3C00-BB46-E24B-DE589ACF97FA}"/>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sp>
        <p:nvSpPr>
          <p:cNvPr id="14" name="İçerik Yer Tutucusu 6">
            <a:extLst>
              <a:ext uri="{FF2B5EF4-FFF2-40B4-BE49-F238E27FC236}">
                <a16:creationId xmlns:a16="http://schemas.microsoft.com/office/drawing/2014/main" id="{629CB9F3-4639-3AA3-7C8E-60A3CEFD9420}"/>
              </a:ext>
            </a:extLst>
          </p:cNvPr>
          <p:cNvSpPr>
            <a:spLocks noGrp="1"/>
          </p:cNvSpPr>
          <p:nvPr>
            <p:ph idx="1"/>
          </p:nvPr>
        </p:nvSpPr>
        <p:spPr>
          <a:xfrm>
            <a:off x="1751036" y="1916301"/>
            <a:ext cx="14785928" cy="941199"/>
          </a:xfrm>
        </p:spPr>
        <p:txBody>
          <a:bodyPr>
            <a:normAutofit/>
          </a:bodyPr>
          <a:lstStyle/>
          <a:p>
            <a:pPr marL="0" indent="0" algn="ctr">
              <a:buNone/>
            </a:pPr>
            <a:r>
              <a:rPr lang="tr-TR" b="1" dirty="0">
                <a:latin typeface="Times New Roman" panose="02020603050405020304" pitchFamily="18" charset="0"/>
                <a:cs typeface="Times New Roman" panose="02020603050405020304" pitchFamily="18" charset="0"/>
              </a:rPr>
              <a:t>Senaryo B </a:t>
            </a:r>
            <a:r>
              <a:rPr lang="tr-TR" b="1" dirty="0" err="1">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Tetris </a:t>
            </a:r>
            <a:r>
              <a:rPr lang="tr-TR" b="1" dirty="0" err="1">
                <a:latin typeface="Times New Roman" panose="02020603050405020304" pitchFamily="18" charset="0"/>
                <a:cs typeface="Times New Roman" panose="02020603050405020304" pitchFamily="18" charset="0"/>
              </a:rPr>
              <a:t>Paradox</a:t>
            </a:r>
            <a:r>
              <a:rPr lang="tr-TR" b="1" dirty="0">
                <a:latin typeface="Times New Roman" panose="02020603050405020304" pitchFamily="18" charset="0"/>
                <a:cs typeface="Times New Roman" panose="02020603050405020304" pitchFamily="18" charset="0"/>
              </a:rPr>
              <a:t> (Sıralama Paradoksu)</a:t>
            </a:r>
            <a:endParaRPr lang="tr-TR" dirty="0">
              <a:latin typeface="Times New Roman" panose="02020603050405020304" pitchFamily="18" charset="0"/>
              <a:cs typeface="Times New Roman" panose="02020603050405020304" pitchFamily="18" charset="0"/>
            </a:endParaRPr>
          </a:p>
          <a:p>
            <a:pPr marL="0" indent="0" algn="ctr">
              <a:buNone/>
            </a:pPr>
            <a:endParaRPr lang="tr-TR" dirty="0">
              <a:latin typeface="Times New Roman" panose="02020603050405020304" pitchFamily="18" charset="0"/>
              <a:cs typeface="Times New Roman" panose="02020603050405020304" pitchFamily="18" charset="0"/>
            </a:endParaRPr>
          </a:p>
        </p:txBody>
      </p:sp>
      <p:pic>
        <p:nvPicPr>
          <p:cNvPr id="3" name="Resim 2" descr="küp, tasarım içeren bir resim&#10;&#10;Yapay zeka tarafından oluşturulmuş içerik yanlış olabilir.">
            <a:extLst>
              <a:ext uri="{FF2B5EF4-FFF2-40B4-BE49-F238E27FC236}">
                <a16:creationId xmlns:a16="http://schemas.microsoft.com/office/drawing/2014/main" id="{111386EB-B108-2F4E-8A43-AFBF3E8DD4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2353" y="2705585"/>
            <a:ext cx="3789893" cy="4009519"/>
          </a:xfrm>
          <a:prstGeom prst="rect">
            <a:avLst/>
          </a:prstGeom>
        </p:spPr>
      </p:pic>
      <p:pic>
        <p:nvPicPr>
          <p:cNvPr id="6" name="Resim 5">
            <a:extLst>
              <a:ext uri="{FF2B5EF4-FFF2-40B4-BE49-F238E27FC236}">
                <a16:creationId xmlns:a16="http://schemas.microsoft.com/office/drawing/2014/main" id="{B12C9C8B-53BC-55EF-9306-BD25972BC33C}"/>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t="16572"/>
          <a:stretch>
            <a:fillRect/>
          </a:stretch>
        </p:blipFill>
        <p:spPr bwMode="auto">
          <a:xfrm>
            <a:off x="2667000" y="6942737"/>
            <a:ext cx="4800600" cy="2088084"/>
          </a:xfrm>
          <a:prstGeom prst="rect">
            <a:avLst/>
          </a:prstGeom>
          <a:ln>
            <a:noFill/>
          </a:ln>
          <a:extLst>
            <a:ext uri="{53640926-AAD7-44D8-BBD7-CCE9431645EC}">
              <a14:shadowObscured xmlns:a14="http://schemas.microsoft.com/office/drawing/2010/main"/>
            </a:ext>
          </a:extLst>
        </p:spPr>
      </p:pic>
      <p:pic>
        <p:nvPicPr>
          <p:cNvPr id="7" name="Resim 6" descr="kutu, konteyner, tasarım, küp içeren bir resim&#10;&#10;Yapay zeka tarafından oluşturulmuş içerik yanlış olabilir.">
            <a:extLst>
              <a:ext uri="{FF2B5EF4-FFF2-40B4-BE49-F238E27FC236}">
                <a16:creationId xmlns:a16="http://schemas.microsoft.com/office/drawing/2014/main" id="{68D1870C-F429-82EE-B8C5-833E95B12C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048999" y="2700198"/>
            <a:ext cx="3893081" cy="4009518"/>
          </a:xfrm>
          <a:prstGeom prst="rect">
            <a:avLst/>
          </a:prstGeom>
        </p:spPr>
      </p:pic>
      <p:pic>
        <p:nvPicPr>
          <p:cNvPr id="12" name="Resim 11" descr="metin, ekran görüntüsü, yazı tipi, sayı, numara içeren bir resim&#10;&#10;Yapay zeka tarafından oluşturulmuş içerik yanlış olabilir.">
            <a:extLst>
              <a:ext uri="{FF2B5EF4-FFF2-40B4-BE49-F238E27FC236}">
                <a16:creationId xmlns:a16="http://schemas.microsoft.com/office/drawing/2014/main" id="{2C3C7058-2042-A6E2-13D8-20F317536F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43861" y="7001039"/>
            <a:ext cx="4503356" cy="1971479"/>
          </a:xfrm>
          <a:prstGeom prst="rect">
            <a:avLst/>
          </a:prstGeom>
        </p:spPr>
      </p:pic>
    </p:spTree>
    <p:extLst>
      <p:ext uri="{BB962C8B-B14F-4D97-AF65-F5344CB8AC3E}">
        <p14:creationId xmlns:p14="http://schemas.microsoft.com/office/powerpoint/2010/main" val="1567553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DD8B-1D09-27F3-AE88-FB1DCDC96B2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7D2932E-C4CB-E98C-0C89-6C505DEFBD65}"/>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UYGULAMA</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80673154-4150-28C3-9DDF-0AD54372D276}"/>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A70C9ACB-7CE4-A18D-26D2-34A854A7C661}"/>
              </a:ext>
            </a:extLst>
          </p:cNvPr>
          <p:cNvSpPr>
            <a:spLocks noGrp="1"/>
          </p:cNvSpPr>
          <p:nvPr>
            <p:ph type="dt" sz="half" idx="10"/>
          </p:nvPr>
        </p:nvSpPr>
        <p:spPr>
          <a:xfrm>
            <a:off x="413958" y="9475788"/>
            <a:ext cx="2133600" cy="365125"/>
          </a:xfrm>
        </p:spPr>
        <p:txBody>
          <a:bodyPr/>
          <a:lstStyle/>
          <a:p>
            <a:fld id="{95E380EC-6B3F-4A8E-8FB2-44E565A9EAFB}"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CB2473DD-CA2E-BC48-FC7B-15B835C230CA}"/>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8B985694-57FB-A93A-8D5F-BBD7BB65911E}"/>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13</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90F3D18E-A7D4-32E0-DEB1-3AE459BA7B1D}"/>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A50856D6-F57D-571C-C793-FD925A4041D0}"/>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4"/>
            <a:stretch>
              <a:fillRect/>
            </a:stretch>
          </a:blipFill>
        </p:spPr>
        <p:txBody>
          <a:bodyPr/>
          <a:lstStyle/>
          <a:p>
            <a:endParaRPr lang="tr-TR" dirty="0"/>
          </a:p>
        </p:txBody>
      </p:sp>
      <p:pic>
        <p:nvPicPr>
          <p:cNvPr id="3" name="Resim 2" descr="dikdörtgen, tasarım, küp içeren bir resim&#10;&#10;Yapay zeka tarafından oluşturulmuş içerik yanlış olabilir.">
            <a:extLst>
              <a:ext uri="{FF2B5EF4-FFF2-40B4-BE49-F238E27FC236}">
                <a16:creationId xmlns:a16="http://schemas.microsoft.com/office/drawing/2014/main" id="{6EA18921-4AB2-008B-2E0B-3F2660439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0926" y="2775527"/>
            <a:ext cx="3505200" cy="3702168"/>
          </a:xfrm>
          <a:prstGeom prst="rect">
            <a:avLst/>
          </a:prstGeom>
        </p:spPr>
      </p:pic>
      <p:pic>
        <p:nvPicPr>
          <p:cNvPr id="6" name="Resim 5" descr="tasarım, dikdörtgen, ekran görüntüsü, sanat içeren bir resim&#10;&#10;Yapay zeka tarafından oluşturulmuş içerik yanlış olabilir.">
            <a:extLst>
              <a:ext uri="{FF2B5EF4-FFF2-40B4-BE49-F238E27FC236}">
                <a16:creationId xmlns:a16="http://schemas.microsoft.com/office/drawing/2014/main" id="{89AA20D7-54F0-6AD7-AEDB-526CD20DB4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83499" y="2775527"/>
            <a:ext cx="3462511" cy="3756977"/>
          </a:xfrm>
          <a:prstGeom prst="rect">
            <a:avLst/>
          </a:prstGeom>
        </p:spPr>
      </p:pic>
      <p:pic>
        <p:nvPicPr>
          <p:cNvPr id="15" name="Resim 14" descr="metin, ekran görüntüsü, yazı tipi, sayı, numara içeren bir resim&#10;&#10;Yapay zeka tarafından oluşturulmuş içerik yanlış olabilir.">
            <a:extLst>
              <a:ext uri="{FF2B5EF4-FFF2-40B4-BE49-F238E27FC236}">
                <a16:creationId xmlns:a16="http://schemas.microsoft.com/office/drawing/2014/main" id="{F802FE32-67EA-BDE4-8806-351DBD211E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41562" y="6916252"/>
            <a:ext cx="4038344" cy="2049783"/>
          </a:xfrm>
          <a:prstGeom prst="rect">
            <a:avLst/>
          </a:prstGeom>
        </p:spPr>
      </p:pic>
      <p:pic>
        <p:nvPicPr>
          <p:cNvPr id="17" name="Resim 16" descr="tasarım, küp içeren bir resim&#10;&#10;Yapay zeka tarafından oluşturulmuş içerik yanlış olabilir.">
            <a:extLst>
              <a:ext uri="{FF2B5EF4-FFF2-40B4-BE49-F238E27FC236}">
                <a16:creationId xmlns:a16="http://schemas.microsoft.com/office/drawing/2014/main" id="{FDF14F08-277F-C0C4-A9E5-8E858B2F55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25758" y="2759453"/>
            <a:ext cx="3680521" cy="3756976"/>
          </a:xfrm>
          <a:prstGeom prst="rect">
            <a:avLst/>
          </a:prstGeom>
        </p:spPr>
      </p:pic>
      <p:pic>
        <p:nvPicPr>
          <p:cNvPr id="23" name="Resim 22" descr="tasarım, dikdörtgen, ekran görüntüsü, sanat içeren bir resim&#10;&#10;Yapay zeka tarafından oluşturulmuş içerik yanlış olabilir.">
            <a:extLst>
              <a:ext uri="{FF2B5EF4-FFF2-40B4-BE49-F238E27FC236}">
                <a16:creationId xmlns:a16="http://schemas.microsoft.com/office/drawing/2014/main" id="{578AA9E7-D64C-7456-46D5-1888D1057C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77568" y="2799660"/>
            <a:ext cx="3581400" cy="3745917"/>
          </a:xfrm>
          <a:prstGeom prst="rect">
            <a:avLst/>
          </a:prstGeom>
        </p:spPr>
      </p:pic>
      <p:pic>
        <p:nvPicPr>
          <p:cNvPr id="24" name="Resim 23" descr="metin, ekran görüntüsü, yazı tipi, sayı, numara içeren bir resim&#10;&#10;Yapay zeka tarafından oluşturulmuş içerik yanlış olabilir.">
            <a:extLst>
              <a:ext uri="{FF2B5EF4-FFF2-40B4-BE49-F238E27FC236}">
                <a16:creationId xmlns:a16="http://schemas.microsoft.com/office/drawing/2014/main" id="{7FB4A0D4-A410-CD33-F6EC-CA4838F09A7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53584" y="6565688"/>
            <a:ext cx="4233355" cy="2400347"/>
          </a:xfrm>
          <a:prstGeom prst="rect">
            <a:avLst/>
          </a:prstGeom>
        </p:spPr>
      </p:pic>
      <p:sp>
        <p:nvSpPr>
          <p:cNvPr id="25" name="İçerik Yer Tutucusu 6">
            <a:extLst>
              <a:ext uri="{FF2B5EF4-FFF2-40B4-BE49-F238E27FC236}">
                <a16:creationId xmlns:a16="http://schemas.microsoft.com/office/drawing/2014/main" id="{76A4CD93-69FF-22C8-90A6-18338D230934}"/>
              </a:ext>
            </a:extLst>
          </p:cNvPr>
          <p:cNvSpPr>
            <a:spLocks noGrp="1"/>
          </p:cNvSpPr>
          <p:nvPr>
            <p:ph idx="1"/>
          </p:nvPr>
        </p:nvSpPr>
        <p:spPr>
          <a:xfrm>
            <a:off x="1751036" y="1768995"/>
            <a:ext cx="14785928" cy="941199"/>
          </a:xfrm>
        </p:spPr>
        <p:txBody>
          <a:bodyPr>
            <a:normAutofit/>
          </a:bodyPr>
          <a:lstStyle/>
          <a:p>
            <a:pPr marL="0" indent="0" algn="ctr">
              <a:buNone/>
            </a:pPr>
            <a:r>
              <a:rPr lang="tr-TR" b="1" dirty="0">
                <a:latin typeface="Times New Roman" panose="02020603050405020304" pitchFamily="18" charset="0"/>
                <a:cs typeface="Times New Roman" panose="02020603050405020304" pitchFamily="18" charset="0"/>
              </a:rPr>
              <a:t>Senaryo B </a:t>
            </a:r>
            <a:r>
              <a:rPr lang="tr-TR" b="1" dirty="0" err="1">
                <a:latin typeface="Times New Roman" panose="02020603050405020304" pitchFamily="18" charset="0"/>
                <a:cs typeface="Times New Roman" panose="02020603050405020304" pitchFamily="18" charset="0"/>
              </a:rPr>
              <a:t>The</a:t>
            </a:r>
            <a:r>
              <a:rPr lang="tr-TR" b="1" dirty="0">
                <a:latin typeface="Times New Roman" panose="02020603050405020304" pitchFamily="18" charset="0"/>
                <a:cs typeface="Times New Roman" panose="02020603050405020304" pitchFamily="18" charset="0"/>
              </a:rPr>
              <a:t> Tetris </a:t>
            </a:r>
            <a:r>
              <a:rPr lang="tr-TR" b="1" dirty="0" err="1">
                <a:latin typeface="Times New Roman" panose="02020603050405020304" pitchFamily="18" charset="0"/>
                <a:cs typeface="Times New Roman" panose="02020603050405020304" pitchFamily="18" charset="0"/>
              </a:rPr>
              <a:t>Paradox</a:t>
            </a:r>
            <a:r>
              <a:rPr lang="tr-TR" b="1" dirty="0">
                <a:latin typeface="Times New Roman" panose="02020603050405020304" pitchFamily="18" charset="0"/>
                <a:cs typeface="Times New Roman" panose="02020603050405020304" pitchFamily="18" charset="0"/>
              </a:rPr>
              <a:t> (Sıralama Paradoksu)</a:t>
            </a:r>
            <a:endParaRPr lang="tr-TR" dirty="0">
              <a:latin typeface="Times New Roman" panose="02020603050405020304" pitchFamily="18" charset="0"/>
              <a:cs typeface="Times New Roman" panose="02020603050405020304" pitchFamily="18" charset="0"/>
            </a:endParaRPr>
          </a:p>
          <a:p>
            <a:pPr marL="0" indent="0" algn="ctr">
              <a:buNone/>
            </a:pPr>
            <a:endParaRPr lang="tr-T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132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ED9E9-E437-2E51-56AC-469C9D141E2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24212D7-2E1A-9D72-FC92-780E531EB63E}"/>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rPr>
              <a:t>BULGULAR</a:t>
            </a:r>
          </a:p>
        </p:txBody>
      </p:sp>
      <p:sp>
        <p:nvSpPr>
          <p:cNvPr id="8" name="AutoShape 16">
            <a:extLst>
              <a:ext uri="{FF2B5EF4-FFF2-40B4-BE49-F238E27FC236}">
                <a16:creationId xmlns:a16="http://schemas.microsoft.com/office/drawing/2014/main" id="{0B286F50-07C0-FC4C-FD2F-48BC2814624F}"/>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dirty="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2D7C8BE4-17EE-5568-6488-1FC99D846266}"/>
              </a:ext>
            </a:extLst>
          </p:cNvPr>
          <p:cNvSpPr>
            <a:spLocks noGrp="1"/>
          </p:cNvSpPr>
          <p:nvPr>
            <p:ph type="dt" sz="half" idx="10"/>
          </p:nvPr>
        </p:nvSpPr>
        <p:spPr>
          <a:xfrm>
            <a:off x="413958" y="9475788"/>
            <a:ext cx="2133600" cy="365125"/>
          </a:xfrm>
        </p:spPr>
        <p:txBody>
          <a:bodyPr/>
          <a:lstStyle/>
          <a:p>
            <a:fld id="{DA93DD39-D5AD-4ED8-95AC-BFA312445395}"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B6343743-4444-0E35-7281-B46CC942D7C8}"/>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150AD4B7-2D71-324C-33A4-FDDF9E0242CD}"/>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14</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608B424E-DC2D-AB4C-DD92-58D8E4EC095A}"/>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402E1617-6D64-50AB-47C0-2CC5D13D57B5}"/>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pic>
        <p:nvPicPr>
          <p:cNvPr id="12" name="Resim 11" descr="metin, ekran görüntüsü, yazı tipi, sayı, numara içeren bir resim&#10;&#10;Yapay zeka tarafından oluşturulmuş içerik yanlış olabilir.">
            <a:extLst>
              <a:ext uri="{FF2B5EF4-FFF2-40B4-BE49-F238E27FC236}">
                <a16:creationId xmlns:a16="http://schemas.microsoft.com/office/drawing/2014/main" id="{EAB40D36-03B2-7CB3-D5C3-3EF998C9CC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4678" y="2256616"/>
            <a:ext cx="14198643" cy="3848096"/>
          </a:xfrm>
          <a:prstGeom prst="rect">
            <a:avLst/>
          </a:prstGeom>
        </p:spPr>
      </p:pic>
      <p:sp>
        <p:nvSpPr>
          <p:cNvPr id="16" name="Metin kutusu 15">
            <a:extLst>
              <a:ext uri="{FF2B5EF4-FFF2-40B4-BE49-F238E27FC236}">
                <a16:creationId xmlns:a16="http://schemas.microsoft.com/office/drawing/2014/main" id="{7EB56F93-1853-B205-E871-8F7369A6B789}"/>
              </a:ext>
            </a:extLst>
          </p:cNvPr>
          <p:cNvSpPr txBox="1"/>
          <p:nvPr/>
        </p:nvSpPr>
        <p:spPr>
          <a:xfrm>
            <a:off x="2079017" y="6608727"/>
            <a:ext cx="14020800" cy="1477328"/>
          </a:xfrm>
          <a:prstGeom prst="rect">
            <a:avLst/>
          </a:prstGeom>
          <a:noFill/>
        </p:spPr>
        <p:txBody>
          <a:bodyPr wrap="square" rtlCol="0">
            <a:spAutoFit/>
          </a:bodyPr>
          <a:lstStyle/>
          <a:p>
            <a:pPr algn="ctr"/>
            <a:r>
              <a:rPr lang="tr-TR" sz="2400" b="1" dirty="0">
                <a:latin typeface="Times New Roman" panose="02020603050405020304" pitchFamily="18" charset="0"/>
                <a:cs typeface="Times New Roman" panose="02020603050405020304" pitchFamily="18" charset="0"/>
              </a:rPr>
              <a:t>Genel Performans</a:t>
            </a:r>
          </a:p>
          <a:p>
            <a:pPr algn="ctr"/>
            <a:r>
              <a:rPr lang="tr-TR" sz="2400" dirty="0">
                <a:latin typeface="Times New Roman" panose="02020603050405020304" pitchFamily="18" charset="0"/>
                <a:cs typeface="Times New Roman" panose="02020603050405020304" pitchFamily="18" charset="0"/>
              </a:rPr>
              <a:t>    Tüm senaryolar ortalamasında Genetik Algoritma en yüksek başarıyı gösterse de, Tavlama Benzetimi (SA) çok daha kısa sürede (bkz. Süre Analizi) ona yakın sonuçlar üreterek en verimli alternatif olmuştur.</a:t>
            </a:r>
          </a:p>
          <a:p>
            <a:endParaRPr lang="tr-TR" dirty="0"/>
          </a:p>
        </p:txBody>
      </p:sp>
    </p:spTree>
    <p:extLst>
      <p:ext uri="{BB962C8B-B14F-4D97-AF65-F5344CB8AC3E}">
        <p14:creationId xmlns:p14="http://schemas.microsoft.com/office/powerpoint/2010/main" val="1694582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D8AD2-123B-E600-BBE6-0BA1B064FE7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53A8D47-E3BD-F54E-C105-4439BC03CF2A}"/>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BULGULAR</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6951486C-2719-FCA7-73DB-780C99A7A4DF}"/>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401B5B5F-DAAE-B8A8-F00F-C79375682B67}"/>
              </a:ext>
            </a:extLst>
          </p:cNvPr>
          <p:cNvSpPr>
            <a:spLocks noGrp="1"/>
          </p:cNvSpPr>
          <p:nvPr>
            <p:ph type="dt" sz="half" idx="10"/>
          </p:nvPr>
        </p:nvSpPr>
        <p:spPr>
          <a:xfrm>
            <a:off x="413958" y="9475788"/>
            <a:ext cx="2133600" cy="365125"/>
          </a:xfrm>
        </p:spPr>
        <p:txBody>
          <a:bodyPr/>
          <a:lstStyle/>
          <a:p>
            <a:fld id="{5DF889B3-1CC5-4942-BDC1-4CF844502A31}"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73301EC5-549F-FD20-6D26-F34652B9C7F5}"/>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E08539C4-8DF1-F7A7-5592-6ACCE0E5F032}"/>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15</a:t>
            </a:fld>
            <a:endParaRPr lang="en-US" sz="2000">
              <a:solidFill>
                <a:schemeClr val="tx1"/>
              </a:solidFill>
              <a:latin typeface="Poppins" panose="00000500000000000000" pitchFamily="2" charset="-94"/>
              <a:cs typeface="Poppins" panose="00000500000000000000" pitchFamily="2" charset="-94"/>
            </a:endParaRPr>
          </a:p>
        </p:txBody>
      </p:sp>
      <p:sp>
        <p:nvSpPr>
          <p:cNvPr id="6" name="Freeform 12">
            <a:extLst>
              <a:ext uri="{FF2B5EF4-FFF2-40B4-BE49-F238E27FC236}">
                <a16:creationId xmlns:a16="http://schemas.microsoft.com/office/drawing/2014/main" id="{26186729-4C76-F407-4046-59DE72560930}"/>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2" name="Freeform 13">
            <a:extLst>
              <a:ext uri="{FF2B5EF4-FFF2-40B4-BE49-F238E27FC236}">
                <a16:creationId xmlns:a16="http://schemas.microsoft.com/office/drawing/2014/main" id="{BA8E5365-ECD5-3395-F0FD-8E8ED7CE48A4}"/>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pic>
        <p:nvPicPr>
          <p:cNvPr id="7" name="Resim 6" descr="metin, ekran görüntüsü, diyagram, öykü gelişim çizgisi; kumpas; grafiğini çıkarma içeren bir resim&#10;&#10;Yapay zeka tarafından oluşturulmuş içerik yanlış olabilir.">
            <a:extLst>
              <a:ext uri="{FF2B5EF4-FFF2-40B4-BE49-F238E27FC236}">
                <a16:creationId xmlns:a16="http://schemas.microsoft.com/office/drawing/2014/main" id="{C4DA179E-5FD4-AB1C-5A90-AC24950628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8417" y="2222061"/>
            <a:ext cx="8001000" cy="4821071"/>
          </a:xfrm>
          <a:prstGeom prst="rect">
            <a:avLst/>
          </a:prstGeom>
        </p:spPr>
      </p:pic>
      <p:pic>
        <p:nvPicPr>
          <p:cNvPr id="13" name="Resim 12" descr="metin, ekran görüntüsü, diyagram, öykü gelişim çizgisi; kumpas; grafiğini çıkarma içeren bir resim&#10;&#10;Yapay zeka tarafından oluşturulmuş içerik yanlış olabilir.">
            <a:extLst>
              <a:ext uri="{FF2B5EF4-FFF2-40B4-BE49-F238E27FC236}">
                <a16:creationId xmlns:a16="http://schemas.microsoft.com/office/drawing/2014/main" id="{662715AC-E089-C8F5-C1DD-C73E0FFA1A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5062" y="2247944"/>
            <a:ext cx="7781454" cy="4795188"/>
          </a:xfrm>
          <a:prstGeom prst="rect">
            <a:avLst/>
          </a:prstGeom>
        </p:spPr>
      </p:pic>
      <p:sp>
        <p:nvSpPr>
          <p:cNvPr id="15" name="Metin kutusu 14">
            <a:extLst>
              <a:ext uri="{FF2B5EF4-FFF2-40B4-BE49-F238E27FC236}">
                <a16:creationId xmlns:a16="http://schemas.microsoft.com/office/drawing/2014/main" id="{D1926ADF-8031-9BA8-C80D-D7BD23ED0CDA}"/>
              </a:ext>
            </a:extLst>
          </p:cNvPr>
          <p:cNvSpPr txBox="1"/>
          <p:nvPr/>
        </p:nvSpPr>
        <p:spPr>
          <a:xfrm>
            <a:off x="3810000" y="7418608"/>
            <a:ext cx="10286082" cy="646331"/>
          </a:xfrm>
          <a:prstGeom prst="rect">
            <a:avLst/>
          </a:prstGeom>
          <a:noFill/>
        </p:spPr>
        <p:txBody>
          <a:bodyPr wrap="square">
            <a:spAutoFit/>
          </a:bodyPr>
          <a:lstStyle/>
          <a:p>
            <a:pPr algn="ctr">
              <a:buNone/>
              <a:tabLst>
                <a:tab pos="5372100" algn="l"/>
              </a:tabLst>
            </a:pPr>
            <a:r>
              <a:rPr lang="tr-TR" sz="1600" dirty="0">
                <a:effectLst/>
                <a:latin typeface="Times New Roman" panose="02020603050405020304" pitchFamily="18" charset="0"/>
                <a:ea typeface="Times New Roman" panose="02020603050405020304" pitchFamily="18" charset="0"/>
              </a:rPr>
              <a:t>(</a:t>
            </a:r>
            <a:r>
              <a:rPr lang="tr-TR" sz="1600" b="1" dirty="0">
                <a:effectLst/>
                <a:latin typeface="Times New Roman" panose="02020603050405020304" pitchFamily="18" charset="0"/>
                <a:ea typeface="Times New Roman" panose="02020603050405020304" pitchFamily="18" charset="0"/>
              </a:rPr>
              <a:t>Genetik Algoritma için baz değerler “</a:t>
            </a:r>
            <a:r>
              <a:rPr lang="tr-TR" sz="1600" dirty="0">
                <a:effectLst/>
                <a:latin typeface="Times New Roman" panose="02020603050405020304" pitchFamily="18" charset="0"/>
                <a:ea typeface="Times New Roman" panose="02020603050405020304" pitchFamily="18" charset="0"/>
              </a:rPr>
              <a:t>Grid</a:t>
            </a:r>
            <a:r>
              <a:rPr lang="tr-TR" sz="1800" dirty="0">
                <a:effectLst/>
                <a:latin typeface="Times New Roman" panose="02020603050405020304" pitchFamily="18" charset="0"/>
                <a:ea typeface="Times New Roman" panose="02020603050405020304" pitchFamily="18" charset="0"/>
              </a:rPr>
              <a:t> </a:t>
            </a:r>
            <a:r>
              <a:rPr lang="tr-TR" sz="1800" dirty="0" err="1">
                <a:effectLst/>
                <a:latin typeface="Times New Roman" panose="02020603050405020304" pitchFamily="18" charset="0"/>
                <a:ea typeface="Times New Roman" panose="02020603050405020304" pitchFamily="18" charset="0"/>
              </a:rPr>
              <a:t>Resolution</a:t>
            </a:r>
            <a:r>
              <a:rPr lang="tr-TR" sz="1800" dirty="0">
                <a:effectLst/>
                <a:latin typeface="Times New Roman" panose="02020603050405020304" pitchFamily="18" charset="0"/>
                <a:ea typeface="Times New Roman" panose="02020603050405020304" pitchFamily="18" charset="0"/>
              </a:rPr>
              <a:t> (step size) = 25, GA </a:t>
            </a:r>
            <a:r>
              <a:rPr lang="tr-TR" sz="1800" dirty="0" err="1">
                <a:effectLst/>
                <a:latin typeface="Times New Roman" panose="02020603050405020304" pitchFamily="18" charset="0"/>
                <a:ea typeface="Times New Roman" panose="02020603050405020304" pitchFamily="18" charset="0"/>
              </a:rPr>
              <a:t>Generations</a:t>
            </a:r>
            <a:r>
              <a:rPr lang="tr-TR" sz="1800" dirty="0">
                <a:effectLst/>
                <a:latin typeface="Times New Roman" panose="02020603050405020304" pitchFamily="18" charset="0"/>
                <a:ea typeface="Times New Roman" panose="02020603050405020304" pitchFamily="18" charset="0"/>
              </a:rPr>
              <a:t> / SA </a:t>
            </a:r>
            <a:r>
              <a:rPr lang="tr-TR" sz="1800" dirty="0" err="1">
                <a:effectLst/>
                <a:latin typeface="Times New Roman" panose="02020603050405020304" pitchFamily="18" charset="0"/>
                <a:ea typeface="Times New Roman" panose="02020603050405020304" pitchFamily="18" charset="0"/>
              </a:rPr>
              <a:t>Iterations</a:t>
            </a:r>
            <a:r>
              <a:rPr lang="tr-TR" sz="1800" dirty="0">
                <a:effectLst/>
                <a:latin typeface="Times New Roman" panose="02020603050405020304" pitchFamily="18" charset="0"/>
                <a:ea typeface="Times New Roman" panose="02020603050405020304" pitchFamily="18" charset="0"/>
              </a:rPr>
              <a:t> = 5, </a:t>
            </a:r>
            <a:r>
              <a:rPr lang="tr-TR" sz="1800" dirty="0" err="1">
                <a:effectLst/>
                <a:latin typeface="Times New Roman" panose="02020603050405020304" pitchFamily="18" charset="0"/>
                <a:ea typeface="Times New Roman" panose="02020603050405020304" pitchFamily="18" charset="0"/>
              </a:rPr>
              <a:t>Mutation</a:t>
            </a:r>
            <a:r>
              <a:rPr lang="tr-TR" sz="1800" dirty="0">
                <a:effectLst/>
                <a:latin typeface="Times New Roman" panose="02020603050405020304" pitchFamily="18" charset="0"/>
                <a:ea typeface="Times New Roman" panose="02020603050405020304" pitchFamily="18" charset="0"/>
              </a:rPr>
              <a:t> Rate = 0,1” olarak alınmıştır)</a:t>
            </a:r>
            <a:endParaRPr lang="tr-TR"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26613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1A9D-7F66-C2E6-0553-01CB2B178CE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FF836AD-6A0F-D3AA-7282-BBE67884CC3C}"/>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BULGULAR </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F7E40339-D7ED-43F2-858E-B0E19E093F5D}"/>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3FC179A7-D762-23D6-0122-1AF00FC6E803}"/>
              </a:ext>
            </a:extLst>
          </p:cNvPr>
          <p:cNvSpPr>
            <a:spLocks noGrp="1"/>
          </p:cNvSpPr>
          <p:nvPr>
            <p:ph type="dt" sz="half" idx="10"/>
          </p:nvPr>
        </p:nvSpPr>
        <p:spPr>
          <a:xfrm>
            <a:off x="413958" y="9475788"/>
            <a:ext cx="2133600" cy="365125"/>
          </a:xfrm>
        </p:spPr>
        <p:txBody>
          <a:bodyPr/>
          <a:lstStyle/>
          <a:p>
            <a:fld id="{2DCA1618-F849-4D23-A45D-F373EE5FDD4B}"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7A649358-9CFF-F3F8-21BD-AF32D661772D}"/>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30B1FC73-C5E8-8AF9-2F61-ACEB9244BB92}"/>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16</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C469913E-7FEE-B06B-FE28-97B314B50E8D}"/>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F78EC5DF-9D39-7E0E-E44E-BC52E637BDF5}"/>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sp>
        <p:nvSpPr>
          <p:cNvPr id="7" name="Rectangle 2">
            <a:extLst>
              <a:ext uri="{FF2B5EF4-FFF2-40B4-BE49-F238E27FC236}">
                <a16:creationId xmlns:a16="http://schemas.microsoft.com/office/drawing/2014/main" id="{9BB26D27-EC86-B7F1-A8D6-C70358D9B738}"/>
              </a:ext>
            </a:extLst>
          </p:cNvPr>
          <p:cNvSpPr>
            <a:spLocks noGrp="1" noChangeArrowheads="1"/>
          </p:cNvSpPr>
          <p:nvPr>
            <p:ph idx="1"/>
          </p:nvPr>
        </p:nvSpPr>
        <p:spPr bwMode="auto">
          <a:xfrm>
            <a:off x="914400" y="2295549"/>
            <a:ext cx="16705443" cy="722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a:buNone/>
            </a:pPr>
            <a:r>
              <a:rPr lang="tr-TR" sz="2800" b="1" dirty="0">
                <a:latin typeface="Times New Roman" panose="02020603050405020304" pitchFamily="18" charset="0"/>
                <a:cs typeface="Times New Roman" panose="02020603050405020304" pitchFamily="18" charset="0"/>
              </a:rPr>
              <a:t>Lojistik Maliyetlerinde Belirgin Düşüş</a:t>
            </a:r>
            <a:endParaRPr lang="en-US" sz="2800" dirty="0">
              <a:latin typeface="Times New Roman" panose="02020603050405020304" pitchFamily="18" charset="0"/>
              <a:cs typeface="Times New Roman" panose="02020603050405020304" pitchFamily="18" charset="0"/>
            </a:endParaRPr>
          </a:p>
          <a:p>
            <a:pPr marL="0" indent="0">
              <a:buNone/>
            </a:pPr>
            <a:r>
              <a:rPr lang="tr-TR" sz="2800" dirty="0">
                <a:latin typeface="Times New Roman" panose="02020603050405020304" pitchFamily="18" charset="0"/>
                <a:cs typeface="Times New Roman" panose="02020603050405020304" pitchFamily="18" charset="0"/>
              </a:rPr>
              <a:t>    Çalışmanın en kritik bulgusu, Genetik Algoritmanın (%81,13) klasik First-Fit yaklaşımına (%60,42) kıyasla ortalama %20,71 oranında daha yüksek doluluk sağlamasıdır. Bu verim artışı, yıllık 1000 konteyner sevkiyatı yapan orta ölçekli bir işletme için teorik olarak yaklaşık “207” konteynerlik bir tasarruf potansiyeli taşımaktadır. </a:t>
            </a:r>
            <a:endParaRPr lang="en-US" sz="2800" dirty="0">
              <a:latin typeface="Times New Roman" panose="02020603050405020304" pitchFamily="18" charset="0"/>
              <a:cs typeface="Times New Roman" panose="02020603050405020304" pitchFamily="18" charset="0"/>
            </a:endParaRPr>
          </a:p>
          <a:p>
            <a:pPr marL="0" indent="0">
              <a:buNone/>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ctr">
              <a:buNone/>
            </a:pPr>
            <a:r>
              <a:rPr lang="tr-TR" sz="2800" b="1" dirty="0">
                <a:latin typeface="Times New Roman" panose="02020603050405020304" pitchFamily="18" charset="0"/>
                <a:cs typeface="Times New Roman" panose="02020603050405020304" pitchFamily="18" charset="0"/>
              </a:rPr>
              <a:t>Karar Verme Süreçlerinin Hızlanması</a:t>
            </a:r>
            <a:endParaRPr lang="en-US" sz="2800" b="1"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r>
              <a:rPr lang="tr-TR" sz="2800" dirty="0">
                <a:latin typeface="Times New Roman" panose="02020603050405020304" pitchFamily="18" charset="0"/>
                <a:cs typeface="Times New Roman" panose="02020603050405020304" pitchFamily="18" charset="0"/>
              </a:rPr>
              <a:t>Manuel planlamada saatler süren ve operasyonel hatalara açık olan yükleme planı oluşturma süreci, geliştirilen sistem ile saniyeler seviyesine indirilmiştir</a:t>
            </a:r>
          </a:p>
          <a:p>
            <a:pPr marL="0" indent="0" algn="ctr">
              <a:buNone/>
            </a:pPr>
            <a:endParaRPr lang="tr-TR" sz="2800" dirty="0">
              <a:latin typeface="Times New Roman" panose="02020603050405020304" pitchFamily="18" charset="0"/>
              <a:cs typeface="Times New Roman" panose="02020603050405020304" pitchFamily="18" charset="0"/>
            </a:endParaRPr>
          </a:p>
          <a:p>
            <a:pPr marL="0" indent="0" algn="ctr">
              <a:buNone/>
            </a:pPr>
            <a:r>
              <a:rPr lang="tr-TR" sz="2800" b="1" dirty="0">
                <a:latin typeface="Times New Roman" panose="02020603050405020304" pitchFamily="18" charset="0"/>
                <a:cs typeface="Times New Roman" panose="02020603050405020304" pitchFamily="18" charset="0"/>
              </a:rPr>
              <a:t>Erişilebilirlik ve Kurulum</a:t>
            </a:r>
            <a:endParaRPr lang="en-US" sz="2800" dirty="0">
              <a:latin typeface="Times New Roman" panose="02020603050405020304" pitchFamily="18" charset="0"/>
              <a:cs typeface="Times New Roman" panose="02020603050405020304" pitchFamily="18" charset="0"/>
            </a:endParaRPr>
          </a:p>
          <a:p>
            <a:pPr marL="0" indent="0">
              <a:buNone/>
            </a:pPr>
            <a:r>
              <a:rPr lang="tr-TR"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tr-TR" sz="2800" dirty="0">
                <a:latin typeface="Times New Roman" panose="02020603050405020304" pitchFamily="18" charset="0"/>
                <a:cs typeface="Times New Roman" panose="02020603050405020304" pitchFamily="18" charset="0"/>
              </a:rPr>
              <a:t> Masaüstü yazılımlarının aksine, "İstemci Tabanlı Web Mimarisi" sayesinde herhangi bir kurulum gerektirmeden tablet veya bilgisayar üzerinden erişilebilir olması, KOBİ ölçeğindeki lojistik firmaları için büyük bir adaptasyon kolaylığı sağlamaktadır.</a:t>
            </a:r>
            <a:endParaRPr lang="en-US" sz="2800" dirty="0">
              <a:latin typeface="Times New Roman" panose="02020603050405020304" pitchFamily="18" charset="0"/>
              <a:cs typeface="Times New Roman" panose="02020603050405020304" pitchFamily="18" charset="0"/>
            </a:endParaRPr>
          </a:p>
          <a:p>
            <a:endParaRPr lang="en-US" dirty="0"/>
          </a:p>
          <a:p>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1270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BA51-539E-A078-F874-7C901E55815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9CD6207-EAB2-AC05-6472-AEE8BDCCE96F}"/>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Times New Roman" panose="02020603050405020304" pitchFamily="18" charset="0"/>
                <a:cs typeface="Times New Roman" panose="02020603050405020304" pitchFamily="18" charset="0"/>
                <a:sym typeface="Poppins Bold"/>
              </a:rPr>
              <a:t>SONUÇLAR VE ÖNERİLER</a:t>
            </a:r>
            <a:endParaRPr lang="tr-TR" sz="7200" b="1" dirty="0">
              <a:solidFill>
                <a:srgbClr val="5F81A3"/>
              </a:solidFill>
              <a:latin typeface="Times New Roman" panose="02020603050405020304" pitchFamily="18" charset="0"/>
              <a:cs typeface="Times New Roman" panose="02020603050405020304" pitchFamily="18" charset="0"/>
            </a:endParaRPr>
          </a:p>
        </p:txBody>
      </p:sp>
      <p:sp>
        <p:nvSpPr>
          <p:cNvPr id="8" name="AutoShape 16">
            <a:extLst>
              <a:ext uri="{FF2B5EF4-FFF2-40B4-BE49-F238E27FC236}">
                <a16:creationId xmlns:a16="http://schemas.microsoft.com/office/drawing/2014/main" id="{D75A5962-F622-300B-8CE0-54B3CCA57691}"/>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DE6B9B43-BE04-0FA7-7BBA-CEB1331244B6}"/>
              </a:ext>
            </a:extLst>
          </p:cNvPr>
          <p:cNvSpPr>
            <a:spLocks noGrp="1"/>
          </p:cNvSpPr>
          <p:nvPr>
            <p:ph type="dt" sz="half" idx="10"/>
          </p:nvPr>
        </p:nvSpPr>
        <p:spPr>
          <a:xfrm>
            <a:off x="413958" y="9475788"/>
            <a:ext cx="2133600" cy="365125"/>
          </a:xfrm>
        </p:spPr>
        <p:txBody>
          <a:bodyPr/>
          <a:lstStyle/>
          <a:p>
            <a:fld id="{F4EAB042-F3C9-4A52-BBF8-0FA41A7215F1}"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270359ED-6257-B623-C04F-5196374BD460}"/>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74A61B8D-0F94-4276-2E17-5E45195881C4}"/>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17</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4B68EB48-1501-B1B7-34C5-67B562F70157}"/>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10D9143B-D54F-DF0C-7ABF-5FA288BAE0C8}"/>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pic>
        <p:nvPicPr>
          <p:cNvPr id="7" name="Resim 6" descr="metin, daire, yazı tipi, logo içeren bir resim&#10;&#10;Yapay zeka tarafından oluşturulmuş içerik yanlış olabilir.">
            <a:extLst>
              <a:ext uri="{FF2B5EF4-FFF2-40B4-BE49-F238E27FC236}">
                <a16:creationId xmlns:a16="http://schemas.microsoft.com/office/drawing/2014/main" id="{EAB3102D-DF63-FC4F-B6FE-0D9FD13212FE}"/>
              </a:ext>
            </a:extLst>
          </p:cNvPr>
          <p:cNvPicPr>
            <a:picLocks noChangeAspect="1"/>
          </p:cNvPicPr>
          <p:nvPr/>
        </p:nvPicPr>
        <p:blipFill>
          <a:blip r:embed="rId6"/>
          <a:stretch>
            <a:fillRect/>
          </a:stretch>
        </p:blipFill>
        <p:spPr>
          <a:xfrm>
            <a:off x="4221462" y="3032772"/>
            <a:ext cx="9735909" cy="3238952"/>
          </a:xfrm>
          <a:prstGeom prst="rect">
            <a:avLst/>
          </a:prstGeom>
        </p:spPr>
      </p:pic>
      <p:sp>
        <p:nvSpPr>
          <p:cNvPr id="12" name="İçerik Yer Tutucusu 11">
            <a:extLst>
              <a:ext uri="{FF2B5EF4-FFF2-40B4-BE49-F238E27FC236}">
                <a16:creationId xmlns:a16="http://schemas.microsoft.com/office/drawing/2014/main" id="{73EEAC3D-3A92-7770-96FD-E4EC32D49353}"/>
              </a:ext>
            </a:extLst>
          </p:cNvPr>
          <p:cNvSpPr>
            <a:spLocks noGrp="1"/>
          </p:cNvSpPr>
          <p:nvPr>
            <p:ph idx="1"/>
          </p:nvPr>
        </p:nvSpPr>
        <p:spPr>
          <a:xfrm>
            <a:off x="5056909" y="2267747"/>
            <a:ext cx="8229600" cy="582463"/>
          </a:xfrm>
        </p:spPr>
        <p:txBody>
          <a:bodyPr/>
          <a:lstStyle/>
          <a:p>
            <a:pPr marL="0" indent="0" algn="ctr">
              <a:buNone/>
            </a:pPr>
            <a:r>
              <a:rPr lang="en-US" b="1" dirty="0" err="1">
                <a:latin typeface="Times New Roman" panose="02020603050405020304" pitchFamily="18" charset="0"/>
                <a:cs typeface="Times New Roman" panose="02020603050405020304" pitchFamily="18" charset="0"/>
              </a:rPr>
              <a:t>Geliştirmeye</a:t>
            </a:r>
            <a:r>
              <a:rPr lang="en-US" b="1" dirty="0">
                <a:latin typeface="Times New Roman" panose="02020603050405020304" pitchFamily="18" charset="0"/>
                <a:cs typeface="Times New Roman" panose="02020603050405020304" pitchFamily="18" charset="0"/>
              </a:rPr>
              <a:t> Açık </a:t>
            </a:r>
            <a:r>
              <a:rPr lang="en-US" b="1" dirty="0" err="1">
                <a:latin typeface="Times New Roman" panose="02020603050405020304" pitchFamily="18" charset="0"/>
                <a:cs typeface="Times New Roman" panose="02020603050405020304" pitchFamily="18" charset="0"/>
              </a:rPr>
              <a:t>Yönler</a:t>
            </a:r>
            <a:endParaRPr lang="en-US" b="1" dirty="0">
              <a:latin typeface="Times New Roman" panose="02020603050405020304" pitchFamily="18" charset="0"/>
              <a:cs typeface="Times New Roman" panose="02020603050405020304" pitchFamily="18" charset="0"/>
            </a:endParaRPr>
          </a:p>
        </p:txBody>
      </p:sp>
      <p:sp>
        <p:nvSpPr>
          <p:cNvPr id="15" name="Metin kutusu 14">
            <a:extLst>
              <a:ext uri="{FF2B5EF4-FFF2-40B4-BE49-F238E27FC236}">
                <a16:creationId xmlns:a16="http://schemas.microsoft.com/office/drawing/2014/main" id="{F8E8B416-114C-3239-24F5-8FE8A5BE9495}"/>
              </a:ext>
            </a:extLst>
          </p:cNvPr>
          <p:cNvSpPr txBox="1"/>
          <p:nvPr/>
        </p:nvSpPr>
        <p:spPr>
          <a:xfrm>
            <a:off x="973393" y="6631158"/>
            <a:ext cx="16702037" cy="2308324"/>
          </a:xfrm>
          <a:prstGeom prst="rect">
            <a:avLst/>
          </a:prstGeom>
          <a:noFill/>
        </p:spPr>
        <p:txBody>
          <a:bodyPr wrap="square">
            <a:spAutoFit/>
          </a:bodyPr>
          <a:lstStyle/>
          <a:p>
            <a:pPr algn="ctr"/>
            <a:r>
              <a:rPr lang="tr-TR" sz="2400" dirty="0">
                <a:effectLst/>
                <a:latin typeface="Times New Roman" panose="02020603050405020304" pitchFamily="18" charset="0"/>
                <a:ea typeface="Times New Roman" panose="02020603050405020304" pitchFamily="18" charset="0"/>
              </a:rPr>
              <a:t>Bu tez çalışmasında, lojistik sektörünün en temel problemlerinden biri olan "3 Boyutlu Konteyner Yükleme Problemi (3D-CLP)"</a:t>
            </a:r>
            <a:r>
              <a:rPr lang="tr-TR" sz="2400" dirty="0" err="1">
                <a:effectLst/>
                <a:latin typeface="Times New Roman" panose="02020603050405020304" pitchFamily="18" charset="0"/>
                <a:ea typeface="Times New Roman" panose="02020603050405020304" pitchFamily="18" charset="0"/>
              </a:rPr>
              <a:t>nin</a:t>
            </a:r>
            <a:r>
              <a:rPr lang="tr-TR" sz="2400" dirty="0">
                <a:effectLst/>
                <a:latin typeface="Times New Roman" panose="02020603050405020304" pitchFamily="18" charset="0"/>
                <a:ea typeface="Times New Roman" panose="02020603050405020304" pitchFamily="18" charset="0"/>
              </a:rPr>
              <a:t> çözümü için web tabanlı, görselleştirme destekli hibrit bir karar destek sistemi geliştirilmiştir. Geliştirilen sistem, klasik sezgisel algoritmalar (First-Fit, Best-Fit) ile modern meta-sezgisel algoritmaları (Genetik Algoritma, Tavlama Benzetimi) tek bir çatı altında birleştirerek, hem performans hem de kullanılabilirlik açısından kapsamlı bir çözüm sunmuştur.</a:t>
            </a:r>
            <a:br>
              <a:rPr lang="en-US" sz="2400" dirty="0">
                <a:effectLst/>
                <a:latin typeface="Times New Roman" panose="02020603050405020304" pitchFamily="18" charset="0"/>
                <a:ea typeface="Times New Roman" panose="02020603050405020304" pitchFamily="18" charset="0"/>
              </a:rPr>
            </a:br>
            <a:endParaRPr lang="en-US" sz="2400" dirty="0">
              <a:effectLst/>
              <a:latin typeface="Times New Roman" panose="02020603050405020304" pitchFamily="18" charset="0"/>
              <a:ea typeface="Times New Roman" panose="02020603050405020304" pitchFamily="18" charset="0"/>
            </a:endParaRPr>
          </a:p>
          <a:p>
            <a:pPr algn="ctr"/>
            <a:endParaRPr lang="en-US"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9566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6B4C0-27A1-7A0B-7476-D37DCD5BBF4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778E014-8E1F-1315-C52D-57E78163DBE8}"/>
              </a:ext>
            </a:extLst>
          </p:cNvPr>
          <p:cNvSpPr>
            <a:spLocks noGrp="1"/>
          </p:cNvSpPr>
          <p:nvPr>
            <p:ph type="title"/>
          </p:nvPr>
        </p:nvSpPr>
        <p:spPr>
          <a:xfrm>
            <a:off x="457200" y="609601"/>
            <a:ext cx="17373600" cy="1143000"/>
          </a:xfrm>
        </p:spPr>
        <p:txBody>
          <a:bodyPr>
            <a:normAutofit fontScale="90000"/>
          </a:bodyPr>
          <a:lstStyle/>
          <a:p>
            <a:r>
              <a:rPr lang="tr-TR" sz="7200" b="1" dirty="0">
                <a:solidFill>
                  <a:srgbClr val="5F81A3"/>
                </a:solidFill>
                <a:latin typeface="Poppins Bold"/>
                <a:cs typeface="Poppins Bold"/>
                <a:sym typeface="Poppins Bold"/>
              </a:rPr>
              <a:t>KAYNAKLAR</a:t>
            </a:r>
            <a:endParaRPr lang="tr-TR" sz="7200" b="1" dirty="0">
              <a:solidFill>
                <a:srgbClr val="5F81A3"/>
              </a:solidFill>
              <a:latin typeface="Poppins Bold"/>
              <a:cs typeface="Poppins Bold"/>
            </a:endParaRPr>
          </a:p>
        </p:txBody>
      </p:sp>
      <p:sp>
        <p:nvSpPr>
          <p:cNvPr id="3" name="İçerik Yer Tutucusu 2">
            <a:extLst>
              <a:ext uri="{FF2B5EF4-FFF2-40B4-BE49-F238E27FC236}">
                <a16:creationId xmlns:a16="http://schemas.microsoft.com/office/drawing/2014/main" id="{8AD04696-4F57-9D5D-C892-793BFC333DC2}"/>
              </a:ext>
            </a:extLst>
          </p:cNvPr>
          <p:cNvSpPr>
            <a:spLocks noGrp="1"/>
          </p:cNvSpPr>
          <p:nvPr>
            <p:ph idx="1"/>
          </p:nvPr>
        </p:nvSpPr>
        <p:spPr>
          <a:xfrm>
            <a:off x="914400" y="1944728"/>
            <a:ext cx="16459200" cy="7161171"/>
          </a:xfrm>
        </p:spPr>
        <p:txBody>
          <a:bodyPr>
            <a:noAutofit/>
          </a:bodyPr>
          <a:lstStyle/>
          <a:p>
            <a:r>
              <a:rPr lang="en-US" sz="1400" b="1" dirty="0" err="1">
                <a:latin typeface="Poppins" panose="00000500000000000000" pitchFamily="2" charset="0"/>
                <a:cs typeface="Poppins" panose="00000500000000000000" pitchFamily="2" charset="0"/>
              </a:rPr>
              <a:t>Altınalev</a:t>
            </a:r>
            <a:r>
              <a:rPr lang="en-US" sz="1400" b="1" dirty="0">
                <a:latin typeface="Poppins" panose="00000500000000000000" pitchFamily="2" charset="0"/>
                <a:cs typeface="Poppins" panose="00000500000000000000" pitchFamily="2" charset="0"/>
              </a:rPr>
              <a:t>, T.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Fığlalı</a:t>
            </a:r>
            <a:r>
              <a:rPr lang="en-US" sz="1400" b="1" dirty="0">
                <a:latin typeface="Poppins" panose="00000500000000000000" pitchFamily="2" charset="0"/>
                <a:cs typeface="Poppins" panose="00000500000000000000" pitchFamily="2" charset="0"/>
              </a:rPr>
              <a:t>, A. (2024). </a:t>
            </a:r>
            <a:r>
              <a:rPr lang="en-US" sz="1400" b="1" dirty="0" err="1">
                <a:latin typeface="Poppins" panose="00000500000000000000" pitchFamily="2" charset="0"/>
                <a:cs typeface="Poppins" panose="00000500000000000000" pitchFamily="2" charset="0"/>
              </a:rPr>
              <a:t>Döngüsel</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taşıma</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sistemi</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yan</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kısıtlarına</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sahip</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konteyner</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yükleme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problemi</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için</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bir</a:t>
            </a:r>
            <a:r>
              <a:rPr lang="en-US" sz="1400" b="1" dirty="0">
                <a:latin typeface="Poppins" panose="00000500000000000000" pitchFamily="2" charset="0"/>
                <a:cs typeface="Poppins" panose="00000500000000000000" pitchFamily="2" charset="0"/>
              </a:rPr>
              <a:t> model </a:t>
            </a:r>
            <a:r>
              <a:rPr lang="en-US" sz="1400" b="1" dirty="0" err="1">
                <a:latin typeface="Poppins" panose="00000500000000000000" pitchFamily="2" charset="0"/>
                <a:cs typeface="Poppins" panose="00000500000000000000" pitchFamily="2" charset="0"/>
              </a:rPr>
              <a:t>önerisi</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Mehmet Akif Ersoy </a:t>
            </a:r>
            <a:r>
              <a:rPr lang="en-US" sz="1400" b="1" i="1" dirty="0" err="1">
                <a:latin typeface="Poppins" panose="00000500000000000000" pitchFamily="2" charset="0"/>
                <a:cs typeface="Poppins" panose="00000500000000000000" pitchFamily="2" charset="0"/>
              </a:rPr>
              <a:t>Üniversitesi</a:t>
            </a:r>
            <a:r>
              <a:rPr lang="en-US" sz="1400" b="1" i="1" dirty="0">
                <a:latin typeface="Poppins" panose="00000500000000000000" pitchFamily="2" charset="0"/>
                <a:cs typeface="Poppins" panose="00000500000000000000" pitchFamily="2" charset="0"/>
              </a:rPr>
              <a:t> Fen </a:t>
            </a:r>
            <a:r>
              <a:rPr lang="en-US" sz="1400" b="1" i="1" dirty="0" err="1">
                <a:latin typeface="Poppins" panose="00000500000000000000" pitchFamily="2" charset="0"/>
                <a:cs typeface="Poppins" panose="00000500000000000000" pitchFamily="2" charset="0"/>
              </a:rPr>
              <a:t>Bilimleri</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Enstitüsü</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Dergisi</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15</a:t>
            </a:r>
            <a:r>
              <a:rPr lang="en-US" sz="1400" b="1" dirty="0">
                <a:latin typeface="Poppins" panose="00000500000000000000" pitchFamily="2" charset="0"/>
                <a:cs typeface="Poppins" panose="00000500000000000000" pitchFamily="2" charset="0"/>
              </a:rPr>
              <a:t>(2), 81-102.,</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Bortfeldt, A.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Gehring, H. (2001). A hybrid genetic algorithm for the container loading problem. </a:t>
            </a:r>
            <a:r>
              <a:rPr lang="en-US" sz="1400" b="1" i="1" dirty="0">
                <a:latin typeface="Poppins" panose="00000500000000000000" pitchFamily="2" charset="0"/>
                <a:cs typeface="Poppins" panose="00000500000000000000" pitchFamily="2" charset="0"/>
              </a:rPr>
              <a:t>European Journal of Operational Research</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131</a:t>
            </a:r>
            <a:r>
              <a:rPr lang="en-US" sz="1400" b="1" dirty="0">
                <a:latin typeface="Poppins" panose="00000500000000000000" pitchFamily="2" charset="0"/>
                <a:cs typeface="Poppins" panose="00000500000000000000" pitchFamily="2" charset="0"/>
              </a:rPr>
              <a:t>(1), 143-161.</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Chen, C. S., Lee, S. M.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Shen, Q. S. (1995). An analytical model for the container loading problem. </a:t>
            </a:r>
            <a:r>
              <a:rPr lang="en-US" sz="1400" b="1" i="1" dirty="0">
                <a:latin typeface="Poppins" panose="00000500000000000000" pitchFamily="2" charset="0"/>
                <a:cs typeface="Poppins" panose="00000500000000000000" pitchFamily="2" charset="0"/>
              </a:rPr>
              <a:t>European Journal of Operational Research</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80</a:t>
            </a:r>
            <a:r>
              <a:rPr lang="en-US" sz="1400" b="1" dirty="0">
                <a:latin typeface="Poppins" panose="00000500000000000000" pitchFamily="2" charset="0"/>
                <a:cs typeface="Poppins" panose="00000500000000000000" pitchFamily="2" charset="0"/>
              </a:rPr>
              <a:t>(1), 68-76.</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Daş, G. S. (2010). Solving the 3D container loading problem with metaheuristics [</a:t>
            </a:r>
            <a:r>
              <a:rPr lang="en-US" sz="1400" b="1" dirty="0" err="1">
                <a:latin typeface="Poppins" panose="00000500000000000000" pitchFamily="2" charset="0"/>
                <a:cs typeface="Poppins" panose="00000500000000000000" pitchFamily="2" charset="0"/>
              </a:rPr>
              <a:t>Doktora</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Tezi</a:t>
            </a:r>
            <a:r>
              <a:rPr lang="en-US" sz="1400" b="1" dirty="0">
                <a:latin typeface="Poppins" panose="00000500000000000000" pitchFamily="2" charset="0"/>
                <a:cs typeface="Poppins" panose="00000500000000000000" pitchFamily="2" charset="0"/>
              </a:rPr>
              <a:t>, Gaziantep </a:t>
            </a:r>
            <a:r>
              <a:rPr lang="en-US" sz="1400" b="1" dirty="0" err="1">
                <a:latin typeface="Poppins" panose="00000500000000000000" pitchFamily="2" charset="0"/>
                <a:cs typeface="Poppins" panose="00000500000000000000" pitchFamily="2" charset="0"/>
              </a:rPr>
              <a:t>Üniversitesi</a:t>
            </a:r>
            <a:r>
              <a:rPr lang="en-US" sz="1400" b="1" dirty="0">
                <a:latin typeface="Poppins" panose="00000500000000000000" pitchFamily="2" charset="0"/>
                <a:cs typeface="Poppins" panose="00000500000000000000" pitchFamily="2" charset="0"/>
              </a:rPr>
              <a:t>].</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Dereli, T.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Das, G. S. (2010). A hybrid simulated annealing algorithm for solving multi-objective container-loading problems. </a:t>
            </a:r>
            <a:r>
              <a:rPr lang="en-US" sz="1400" b="1" i="1" dirty="0">
                <a:latin typeface="Poppins" panose="00000500000000000000" pitchFamily="2" charset="0"/>
                <a:cs typeface="Poppins" panose="00000500000000000000" pitchFamily="2" charset="0"/>
              </a:rPr>
              <a:t>Applied Artificial Intelligence</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24</a:t>
            </a:r>
            <a:r>
              <a:rPr lang="en-US" sz="1400" b="1" dirty="0">
                <a:latin typeface="Poppins" panose="00000500000000000000" pitchFamily="2" charset="0"/>
                <a:cs typeface="Poppins" panose="00000500000000000000" pitchFamily="2" charset="0"/>
              </a:rPr>
              <a:t>(5), 463-486.,</a:t>
            </a:r>
          </a:p>
          <a:p>
            <a:r>
              <a:rPr lang="en-US" sz="1400" b="1" dirty="0" err="1">
                <a:latin typeface="Poppins" panose="00000500000000000000" pitchFamily="2" charset="0"/>
                <a:cs typeface="Poppins" panose="00000500000000000000" pitchFamily="2" charset="0"/>
              </a:rPr>
              <a:t>Ensari</a:t>
            </a:r>
            <a:r>
              <a:rPr lang="en-US" sz="1400" b="1" dirty="0">
                <a:latin typeface="Poppins" panose="00000500000000000000" pitchFamily="2" charset="0"/>
                <a:cs typeface="Poppins" panose="00000500000000000000" pitchFamily="2" charset="0"/>
              </a:rPr>
              <a:t>, M. (2007). </a:t>
            </a:r>
            <a:r>
              <a:rPr lang="en-US" sz="1400" b="1" i="1" dirty="0" err="1">
                <a:latin typeface="Poppins" panose="00000500000000000000" pitchFamily="2" charset="0"/>
                <a:cs typeface="Poppins" panose="00000500000000000000" pitchFamily="2" charset="0"/>
              </a:rPr>
              <a:t>Konteynır</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yükleme</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problemine</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sezgisel</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bir</a:t>
            </a:r>
            <a:r>
              <a:rPr lang="en-US" sz="1400" b="1" i="1" dirty="0">
                <a:latin typeface="Poppins" panose="00000500000000000000" pitchFamily="2" charset="0"/>
                <a:cs typeface="Poppins" panose="00000500000000000000" pitchFamily="2" charset="0"/>
              </a:rPr>
              <a:t> </a:t>
            </a:r>
            <a:r>
              <a:rPr lang="en-US" sz="1400" b="1" i="1" dirty="0" err="1">
                <a:latin typeface="Poppins" panose="00000500000000000000" pitchFamily="2" charset="0"/>
                <a:cs typeface="Poppins" panose="00000500000000000000" pitchFamily="2" charset="0"/>
              </a:rPr>
              <a:t>yaklaşım</a:t>
            </a:r>
            <a:r>
              <a:rPr lang="en-US" sz="1400" b="1" dirty="0">
                <a:latin typeface="Poppins" panose="00000500000000000000" pitchFamily="2" charset="0"/>
                <a:cs typeface="Poppins" panose="00000500000000000000" pitchFamily="2" charset="0"/>
              </a:rPr>
              <a:t> [Yüksek </a:t>
            </a:r>
            <a:r>
              <a:rPr lang="en-US" sz="1400" b="1" dirty="0" err="1">
                <a:latin typeface="Poppins" panose="00000500000000000000" pitchFamily="2" charset="0"/>
                <a:cs typeface="Poppins" panose="00000500000000000000" pitchFamily="2" charset="0"/>
              </a:rPr>
              <a:t>Lisans</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Tezi</a:t>
            </a:r>
            <a:r>
              <a:rPr lang="en-US" sz="1400" b="1" dirty="0">
                <a:latin typeface="Poppins" panose="00000500000000000000" pitchFamily="2" charset="0"/>
                <a:cs typeface="Poppins" panose="00000500000000000000" pitchFamily="2" charset="0"/>
              </a:rPr>
              <a:t>, Gazi </a:t>
            </a:r>
            <a:r>
              <a:rPr lang="en-US" sz="1400" b="1" dirty="0" err="1">
                <a:latin typeface="Poppins" panose="00000500000000000000" pitchFamily="2" charset="0"/>
                <a:cs typeface="Poppins" panose="00000500000000000000" pitchFamily="2" charset="0"/>
              </a:rPr>
              <a:t>Üniversitesi</a:t>
            </a:r>
            <a:r>
              <a:rPr lang="en-US" sz="1400" b="1" dirty="0">
                <a:latin typeface="Poppins" panose="00000500000000000000" pitchFamily="2" charset="0"/>
                <a:cs typeface="Poppins" panose="00000500000000000000" pitchFamily="2" charset="0"/>
              </a:rPr>
              <a:t>].</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Gajda, M., </a:t>
            </a:r>
            <a:r>
              <a:rPr lang="en-US" sz="1400" b="1" dirty="0" err="1">
                <a:latin typeface="Poppins" panose="00000500000000000000" pitchFamily="2" charset="0"/>
                <a:cs typeface="Poppins" panose="00000500000000000000" pitchFamily="2" charset="0"/>
              </a:rPr>
              <a:t>Trivella</a:t>
            </a:r>
            <a:r>
              <a:rPr lang="en-US" sz="1400" b="1" dirty="0">
                <a:latin typeface="Poppins" panose="00000500000000000000" pitchFamily="2" charset="0"/>
                <a:cs typeface="Poppins" panose="00000500000000000000" pitchFamily="2" charset="0"/>
              </a:rPr>
              <a:t>, A., </a:t>
            </a:r>
            <a:r>
              <a:rPr lang="en-US" sz="1400" b="1" dirty="0" err="1">
                <a:latin typeface="Poppins" panose="00000500000000000000" pitchFamily="2" charset="0"/>
                <a:cs typeface="Poppins" panose="00000500000000000000" pitchFamily="2" charset="0"/>
              </a:rPr>
              <a:t>Mansini</a:t>
            </a:r>
            <a:r>
              <a:rPr lang="en-US" sz="1400" b="1" dirty="0">
                <a:latin typeface="Poppins" panose="00000500000000000000" pitchFamily="2" charset="0"/>
                <a:cs typeface="Poppins" panose="00000500000000000000" pitchFamily="2" charset="0"/>
              </a:rPr>
              <a:t>, R.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Pisinger</a:t>
            </a:r>
            <a:r>
              <a:rPr lang="en-US" sz="1400" b="1" dirty="0">
                <a:latin typeface="Poppins" panose="00000500000000000000" pitchFamily="2" charset="0"/>
                <a:cs typeface="Poppins" panose="00000500000000000000" pitchFamily="2" charset="0"/>
              </a:rPr>
              <a:t>, D. (2022). An optimization approach for a complex real-life container loading problem. </a:t>
            </a:r>
            <a:r>
              <a:rPr lang="en-US" sz="1400" b="1" i="1" dirty="0">
                <a:latin typeface="Poppins" panose="00000500000000000000" pitchFamily="2" charset="0"/>
                <a:cs typeface="Poppins" panose="00000500000000000000" pitchFamily="2" charset="0"/>
              </a:rPr>
              <a:t>Omega</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107</a:t>
            </a:r>
            <a:r>
              <a:rPr lang="en-US" sz="1400" b="1" dirty="0">
                <a:latin typeface="Poppins" panose="00000500000000000000" pitchFamily="2" charset="0"/>
                <a:cs typeface="Poppins" panose="00000500000000000000" pitchFamily="2" charset="0"/>
              </a:rPr>
              <a:t>, 102559.</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Liang, S.-C., Lee, C.-Y.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Huang, S.-W. (2007). A hybrid meta-heuristic for the container loading problem. </a:t>
            </a:r>
            <a:r>
              <a:rPr lang="en-US" sz="1400" b="1" i="1" dirty="0">
                <a:latin typeface="Poppins" panose="00000500000000000000" pitchFamily="2" charset="0"/>
                <a:cs typeface="Poppins" panose="00000500000000000000" pitchFamily="2" charset="0"/>
              </a:rPr>
              <a:t>Communications of the IIMA</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7</a:t>
            </a:r>
            <a:r>
              <a:rPr lang="en-US" sz="1400" b="1" dirty="0">
                <a:latin typeface="Poppins" panose="00000500000000000000" pitchFamily="2" charset="0"/>
                <a:cs typeface="Poppins" panose="00000500000000000000" pitchFamily="2" charset="0"/>
              </a:rPr>
              <a:t>(4), 73-84.,</a:t>
            </a:r>
          </a:p>
          <a:p>
            <a:pPr marL="0" indent="0">
              <a:buNone/>
            </a:pPr>
            <a:endParaRPr lang="en-US" sz="1400" b="1" dirty="0">
              <a:latin typeface="Poppins" panose="00000500000000000000" pitchFamily="2" charset="0"/>
              <a:cs typeface="Poppins" panose="00000500000000000000" pitchFamily="2" charset="0"/>
            </a:endParaRPr>
          </a:p>
          <a:p>
            <a:r>
              <a:rPr lang="en-US" sz="1400" b="1" dirty="0" err="1">
                <a:latin typeface="Poppins" panose="00000500000000000000" pitchFamily="2" charset="0"/>
                <a:cs typeface="Poppins" panose="00000500000000000000" pitchFamily="2" charset="0"/>
              </a:rPr>
              <a:t>Pisinger</a:t>
            </a:r>
            <a:r>
              <a:rPr lang="en-US" sz="1400" b="1" dirty="0">
                <a:latin typeface="Poppins" panose="00000500000000000000" pitchFamily="2" charset="0"/>
                <a:cs typeface="Poppins" panose="00000500000000000000" pitchFamily="2" charset="0"/>
              </a:rPr>
              <a:t>, D. (2002). Heuristics for the container loading problem. </a:t>
            </a:r>
            <a:r>
              <a:rPr lang="en-US" sz="1400" b="1" i="1" dirty="0">
                <a:latin typeface="Poppins" panose="00000500000000000000" pitchFamily="2" charset="0"/>
                <a:cs typeface="Poppins" panose="00000500000000000000" pitchFamily="2" charset="0"/>
              </a:rPr>
              <a:t>European Journal of Operational Research</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141</a:t>
            </a:r>
            <a:r>
              <a:rPr lang="en-US" sz="1400" b="1" dirty="0">
                <a:latin typeface="Poppins" panose="00000500000000000000" pitchFamily="2" charset="0"/>
                <a:cs typeface="Poppins" panose="00000500000000000000" pitchFamily="2" charset="0"/>
              </a:rPr>
              <a:t>, 382-392.,</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Şen, A. (2023). </a:t>
            </a:r>
            <a:r>
              <a:rPr lang="en-US" sz="1400" b="1" dirty="0" err="1">
                <a:latin typeface="Poppins" panose="00000500000000000000" pitchFamily="2" charset="0"/>
                <a:cs typeface="Poppins" panose="00000500000000000000" pitchFamily="2" charset="0"/>
              </a:rPr>
              <a:t>Konteyner</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yükleme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probleminin</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çözümü</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için</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genetik</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algoritma</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bazlı</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hibrit</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yaklaşım</a:t>
            </a:r>
            <a:r>
              <a:rPr lang="en-US" sz="1400" b="1" dirty="0">
                <a:latin typeface="Poppins" panose="00000500000000000000" pitchFamily="2" charset="0"/>
                <a:cs typeface="Poppins" panose="00000500000000000000" pitchFamily="2" charset="0"/>
              </a:rPr>
              <a:t> [Yüksek </a:t>
            </a:r>
            <a:r>
              <a:rPr lang="en-US" sz="1400" b="1" dirty="0" err="1">
                <a:latin typeface="Poppins" panose="00000500000000000000" pitchFamily="2" charset="0"/>
                <a:cs typeface="Poppins" panose="00000500000000000000" pitchFamily="2" charset="0"/>
              </a:rPr>
              <a:t>Lisans</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Tezi</a:t>
            </a:r>
            <a:r>
              <a:rPr lang="en-US" sz="1400" b="1" dirty="0">
                <a:latin typeface="Poppins" panose="00000500000000000000" pitchFamily="2" charset="0"/>
                <a:cs typeface="Poppins" panose="00000500000000000000" pitchFamily="2" charset="0"/>
              </a:rPr>
              <a:t>, Bursa Teknik </a:t>
            </a:r>
            <a:r>
              <a:rPr lang="en-US" sz="1400" b="1" dirty="0" err="1">
                <a:latin typeface="Poppins" panose="00000500000000000000" pitchFamily="2" charset="0"/>
                <a:cs typeface="Poppins" panose="00000500000000000000" pitchFamily="2" charset="0"/>
              </a:rPr>
              <a:t>Üniversitesi</a:t>
            </a:r>
            <a:r>
              <a:rPr lang="en-US" sz="1400" b="1" dirty="0">
                <a:latin typeface="Poppins" panose="00000500000000000000" pitchFamily="2" charset="0"/>
                <a:cs typeface="Poppins" panose="00000500000000000000" pitchFamily="2" charset="0"/>
              </a:rPr>
              <a:t>].</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Takahara, S. (2008). A multi-start local search approach to the multiple container loading problem. W. Bednorz (Ed.), </a:t>
            </a:r>
            <a:r>
              <a:rPr lang="en-US" sz="1400" b="1" i="1" dirty="0">
                <a:latin typeface="Poppins" panose="00000500000000000000" pitchFamily="2" charset="0"/>
                <a:cs typeface="Poppins" panose="00000500000000000000" pitchFamily="2" charset="0"/>
              </a:rPr>
              <a:t>Greedy Algorithms</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içinde</a:t>
            </a:r>
            <a:r>
              <a:rPr lang="en-US" sz="1400" b="1" dirty="0">
                <a:latin typeface="Poppins" panose="00000500000000000000" pitchFamily="2" charset="0"/>
                <a:cs typeface="Poppins" panose="00000500000000000000" pitchFamily="2" charset="0"/>
              </a:rPr>
              <a:t> (s. 56-68). </a:t>
            </a:r>
            <a:r>
              <a:rPr lang="en-US" sz="1400" b="1" dirty="0" err="1">
                <a:latin typeface="Poppins" panose="00000500000000000000" pitchFamily="2" charset="0"/>
                <a:cs typeface="Poppins" panose="00000500000000000000" pitchFamily="2" charset="0"/>
              </a:rPr>
              <a:t>InTech</a:t>
            </a:r>
            <a:r>
              <a:rPr lang="en-US" sz="1400" b="1" dirty="0">
                <a:latin typeface="Poppins" panose="00000500000000000000" pitchFamily="2" charset="0"/>
                <a:cs typeface="Poppins" panose="00000500000000000000" pitchFamily="2" charset="0"/>
              </a:rPr>
              <a:t>.,</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Tekil, S.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Özkır, V. Ç. (</a:t>
            </a:r>
            <a:r>
              <a:rPr lang="en-US" sz="1400" b="1" dirty="0" err="1">
                <a:latin typeface="Poppins" panose="00000500000000000000" pitchFamily="2" charset="0"/>
                <a:cs typeface="Poppins" panose="00000500000000000000" pitchFamily="2" charset="0"/>
              </a:rPr>
              <a:t>t.y</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Konteyner</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yükleme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problemlerinin</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incelenmesi</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lojistik</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sektöründe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bir</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uygulama</a:t>
            </a:r>
            <a:r>
              <a:rPr lang="en-US" sz="1400" b="1" dirty="0">
                <a:latin typeface="Poppins" panose="00000500000000000000" pitchFamily="2" charset="0"/>
                <a:cs typeface="Poppins" panose="00000500000000000000" pitchFamily="2" charset="0"/>
              </a:rPr>
              <a:t>.</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Tian, T., Zhu, W., Lim, A.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Wei, L. (2016). The multiple container loading problem with preference. </a:t>
            </a:r>
            <a:r>
              <a:rPr lang="en-US" sz="1400" b="1" i="1" dirty="0">
                <a:latin typeface="Poppins" panose="00000500000000000000" pitchFamily="2" charset="0"/>
                <a:cs typeface="Poppins" panose="00000500000000000000" pitchFamily="2" charset="0"/>
              </a:rPr>
              <a:t>European Journal of Operational Research</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248</a:t>
            </a:r>
            <a:r>
              <a:rPr lang="en-US" sz="1400" b="1" dirty="0">
                <a:latin typeface="Poppins" panose="00000500000000000000" pitchFamily="2" charset="0"/>
                <a:cs typeface="Poppins" panose="00000500000000000000" pitchFamily="2" charset="0"/>
              </a:rPr>
              <a:t>, 84-94.</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Tijjani, S. (2014). Reinforcement learning and evolutionary algorithms for container loading problem [Yüksek </a:t>
            </a:r>
            <a:r>
              <a:rPr lang="en-US" sz="1400" b="1" dirty="0" err="1">
                <a:latin typeface="Poppins" panose="00000500000000000000" pitchFamily="2" charset="0"/>
                <a:cs typeface="Poppins" panose="00000500000000000000" pitchFamily="2" charset="0"/>
              </a:rPr>
              <a:t>Lisans</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Tezi</a:t>
            </a:r>
            <a:r>
              <a:rPr lang="en-US" sz="1400" b="1" dirty="0">
                <a:latin typeface="Poppins" panose="00000500000000000000" pitchFamily="2" charset="0"/>
                <a:cs typeface="Poppins" panose="00000500000000000000" pitchFamily="2" charset="0"/>
              </a:rPr>
              <a:t>, Mevlana (Rumi) University].</a:t>
            </a:r>
          </a:p>
          <a:p>
            <a:pPr marL="0" indent="0">
              <a:buNone/>
            </a:pPr>
            <a:endParaRPr lang="en-US" sz="1400" b="1" dirty="0">
              <a:latin typeface="Poppins" panose="00000500000000000000" pitchFamily="2" charset="0"/>
              <a:cs typeface="Poppins" panose="00000500000000000000" pitchFamily="2" charset="0"/>
            </a:endParaRPr>
          </a:p>
          <a:p>
            <a:r>
              <a:rPr lang="en-US" sz="1400" b="1" dirty="0">
                <a:latin typeface="Poppins" panose="00000500000000000000" pitchFamily="2" charset="0"/>
                <a:cs typeface="Poppins" panose="00000500000000000000" pitchFamily="2" charset="0"/>
              </a:rPr>
              <a:t>Wang, L. </a:t>
            </a:r>
            <a:r>
              <a:rPr lang="en-US" sz="1400" b="1" dirty="0" err="1">
                <a:latin typeface="Poppins" panose="00000500000000000000" pitchFamily="2" charset="0"/>
                <a:cs typeface="Poppins" panose="00000500000000000000" pitchFamily="2" charset="0"/>
              </a:rPr>
              <a:t>ve</a:t>
            </a:r>
            <a:r>
              <a:rPr lang="en-US" sz="1400" b="1" dirty="0">
                <a:latin typeface="Poppins" panose="00000500000000000000" pitchFamily="2" charset="0"/>
                <a:cs typeface="Poppins" panose="00000500000000000000" pitchFamily="2" charset="0"/>
              </a:rPr>
              <a:t> Zhu, X. (2019). Container loading optimization in rail–truck intermodal terminals considering energy consumption. </a:t>
            </a:r>
            <a:r>
              <a:rPr lang="en-US" sz="1400" b="1" i="1" dirty="0">
                <a:latin typeface="Poppins" panose="00000500000000000000" pitchFamily="2" charset="0"/>
                <a:cs typeface="Poppins" panose="00000500000000000000" pitchFamily="2" charset="0"/>
              </a:rPr>
              <a:t>Sustainability</a:t>
            </a:r>
            <a:r>
              <a:rPr lang="en-US" sz="1400" b="1" dirty="0">
                <a:latin typeface="Poppins" panose="00000500000000000000" pitchFamily="2" charset="0"/>
                <a:cs typeface="Poppins" panose="00000500000000000000" pitchFamily="2" charset="0"/>
              </a:rPr>
              <a:t>, </a:t>
            </a:r>
            <a:r>
              <a:rPr lang="en-US" sz="1400" b="1" i="1" dirty="0">
                <a:latin typeface="Poppins" panose="00000500000000000000" pitchFamily="2" charset="0"/>
                <a:cs typeface="Poppins" panose="00000500000000000000" pitchFamily="2" charset="0"/>
              </a:rPr>
              <a:t>11</a:t>
            </a:r>
            <a:r>
              <a:rPr lang="en-US" sz="1400" b="1" dirty="0">
                <a:latin typeface="Poppins" panose="00000500000000000000" pitchFamily="2" charset="0"/>
                <a:cs typeface="Poppins" panose="00000500000000000000" pitchFamily="2" charset="0"/>
              </a:rPr>
              <a:t>(8), 2383.</a:t>
            </a:r>
          </a:p>
          <a:p>
            <a:pPr marL="0" indent="0">
              <a:buNone/>
            </a:pPr>
            <a:endParaRPr lang="en-US" sz="1400" dirty="0">
              <a:latin typeface="Poppins" panose="00000500000000000000" pitchFamily="2" charset="0"/>
              <a:cs typeface="Poppins" panose="00000500000000000000" pitchFamily="2" charset="0"/>
            </a:endParaRPr>
          </a:p>
        </p:txBody>
      </p:sp>
      <p:sp>
        <p:nvSpPr>
          <p:cNvPr id="8" name="AutoShape 16">
            <a:extLst>
              <a:ext uri="{FF2B5EF4-FFF2-40B4-BE49-F238E27FC236}">
                <a16:creationId xmlns:a16="http://schemas.microsoft.com/office/drawing/2014/main" id="{DD4B69CB-6FAF-48E3-585E-F97696DDE6FC}"/>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9" name="Veri Yer Tutucusu 18">
            <a:extLst>
              <a:ext uri="{FF2B5EF4-FFF2-40B4-BE49-F238E27FC236}">
                <a16:creationId xmlns:a16="http://schemas.microsoft.com/office/drawing/2014/main" id="{4B79AEBD-8325-E37F-9C25-11371C7161E5}"/>
              </a:ext>
            </a:extLst>
          </p:cNvPr>
          <p:cNvSpPr>
            <a:spLocks noGrp="1"/>
          </p:cNvSpPr>
          <p:nvPr>
            <p:ph type="dt" sz="half" idx="10"/>
          </p:nvPr>
        </p:nvSpPr>
        <p:spPr>
          <a:xfrm>
            <a:off x="413958" y="9475788"/>
            <a:ext cx="2133600" cy="365125"/>
          </a:xfrm>
        </p:spPr>
        <p:txBody>
          <a:bodyPr/>
          <a:lstStyle/>
          <a:p>
            <a:fld id="{DC05BBE5-58C2-4710-A79B-11F7443C52AC}"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10" name="Alt Bilgi Yer Tutucusu 19">
            <a:extLst>
              <a:ext uri="{FF2B5EF4-FFF2-40B4-BE49-F238E27FC236}">
                <a16:creationId xmlns:a16="http://schemas.microsoft.com/office/drawing/2014/main" id="{F1DB1152-B8CF-AEF3-E935-86CF4126B363}"/>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11" name="Slayt Numarası Yer Tutucusu 21">
            <a:extLst>
              <a:ext uri="{FF2B5EF4-FFF2-40B4-BE49-F238E27FC236}">
                <a16:creationId xmlns:a16="http://schemas.microsoft.com/office/drawing/2014/main" id="{9B20FA00-5551-61F6-383F-836A4BA40332}"/>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18</a:t>
            </a:fld>
            <a:endParaRPr lang="en-US" sz="2000">
              <a:solidFill>
                <a:schemeClr val="tx1"/>
              </a:solidFill>
              <a:latin typeface="Poppins" panose="00000500000000000000" pitchFamily="2" charset="-94"/>
              <a:cs typeface="Poppins" panose="00000500000000000000" pitchFamily="2" charset="-94"/>
            </a:endParaRPr>
          </a:p>
        </p:txBody>
      </p:sp>
      <p:sp>
        <p:nvSpPr>
          <p:cNvPr id="4" name="Freeform 12">
            <a:extLst>
              <a:ext uri="{FF2B5EF4-FFF2-40B4-BE49-F238E27FC236}">
                <a16:creationId xmlns:a16="http://schemas.microsoft.com/office/drawing/2014/main" id="{7D5304E6-16DA-8024-4E89-289FD143FC93}"/>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5" name="Freeform 13">
            <a:extLst>
              <a:ext uri="{FF2B5EF4-FFF2-40B4-BE49-F238E27FC236}">
                <a16:creationId xmlns:a16="http://schemas.microsoft.com/office/drawing/2014/main" id="{F29AF7CB-4337-E7BA-7B82-CB41F7A8225A}"/>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spTree>
    <p:extLst>
      <p:ext uri="{BB962C8B-B14F-4D97-AF65-F5344CB8AC3E}">
        <p14:creationId xmlns:p14="http://schemas.microsoft.com/office/powerpoint/2010/main" val="3436375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5BC9FF"/>
        </a:solidFill>
        <a:effectLst/>
      </p:bgPr>
    </p:bg>
    <p:spTree>
      <p:nvGrpSpPr>
        <p:cNvPr id="1" name=""/>
        <p:cNvGrpSpPr/>
        <p:nvPr/>
      </p:nvGrpSpPr>
      <p:grpSpPr>
        <a:xfrm>
          <a:off x="0" y="0"/>
          <a:ext cx="0" cy="0"/>
          <a:chOff x="0" y="0"/>
          <a:chExt cx="0" cy="0"/>
        </a:xfrm>
      </p:grpSpPr>
      <p:sp>
        <p:nvSpPr>
          <p:cNvPr id="2" name="Freeform 2"/>
          <p:cNvSpPr/>
          <p:nvPr/>
        </p:nvSpPr>
        <p:spPr>
          <a:xfrm>
            <a:off x="-195777" y="-315482"/>
            <a:ext cx="18570388" cy="10818159"/>
          </a:xfrm>
          <a:custGeom>
            <a:avLst/>
            <a:gdLst/>
            <a:ahLst/>
            <a:cxnLst/>
            <a:rect l="l" t="t" r="r" b="b"/>
            <a:pathLst>
              <a:path w="18570388" h="10818159">
                <a:moveTo>
                  <a:pt x="0" y="0"/>
                </a:moveTo>
                <a:lnTo>
                  <a:pt x="18570388" y="0"/>
                </a:lnTo>
                <a:lnTo>
                  <a:pt x="18570388" y="10818159"/>
                </a:lnTo>
                <a:lnTo>
                  <a:pt x="0" y="10818159"/>
                </a:lnTo>
                <a:lnTo>
                  <a:pt x="0" y="0"/>
                </a:lnTo>
                <a:close/>
              </a:path>
            </a:pathLst>
          </a:custGeom>
          <a:blipFill>
            <a:blip r:embed="rId2"/>
            <a:stretch>
              <a:fillRect t="-35829" b="-35829"/>
            </a:stretch>
          </a:blipFill>
        </p:spPr>
        <p:txBody>
          <a:bodyPr/>
          <a:lstStyle/>
          <a:p>
            <a:endParaRPr lang="tr-TR"/>
          </a:p>
        </p:txBody>
      </p:sp>
      <p:sp>
        <p:nvSpPr>
          <p:cNvPr id="9" name="TextBox 9"/>
          <p:cNvSpPr txBox="1"/>
          <p:nvPr/>
        </p:nvSpPr>
        <p:spPr>
          <a:xfrm>
            <a:off x="838200" y="1403270"/>
            <a:ext cx="16714308" cy="1377941"/>
          </a:xfrm>
          <a:prstGeom prst="rect">
            <a:avLst/>
          </a:prstGeom>
        </p:spPr>
        <p:txBody>
          <a:bodyPr wrap="square" lIns="0" tIns="0" rIns="0" bIns="0" rtlCol="0" anchor="t">
            <a:spAutoFit/>
          </a:bodyPr>
          <a:lstStyle/>
          <a:p>
            <a:pPr algn="ctr">
              <a:lnSpc>
                <a:spcPts val="11899"/>
              </a:lnSpc>
              <a:spcBef>
                <a:spcPct val="0"/>
              </a:spcBef>
            </a:pPr>
            <a:r>
              <a:rPr lang="tr-TR" sz="6500" b="1" dirty="0">
                <a:solidFill>
                  <a:srgbClr val="5F81A3"/>
                </a:solidFill>
                <a:latin typeface="Times New Roman" panose="02020603050405020304" pitchFamily="18" charset="0"/>
                <a:ea typeface="+mj-ea"/>
                <a:cs typeface="Times New Roman" panose="02020603050405020304" pitchFamily="18" charset="0"/>
                <a:sym typeface="Poppins Semi-Bold"/>
              </a:rPr>
              <a:t>SORULAR VE TARTIŞMA</a:t>
            </a:r>
            <a:endParaRPr lang="en-US" sz="6500" b="1" dirty="0">
              <a:solidFill>
                <a:srgbClr val="5F81A3"/>
              </a:solidFill>
              <a:latin typeface="Times New Roman" panose="02020603050405020304" pitchFamily="18" charset="0"/>
              <a:ea typeface="+mj-ea"/>
              <a:cs typeface="Times New Roman" panose="02020603050405020304" pitchFamily="18" charset="0"/>
              <a:sym typeface="Poppins Semi-Bold"/>
            </a:endParaRPr>
          </a:p>
        </p:txBody>
      </p:sp>
      <p:sp>
        <p:nvSpPr>
          <p:cNvPr id="13" name="AutoShape 13"/>
          <p:cNvSpPr/>
          <p:nvPr/>
        </p:nvSpPr>
        <p:spPr>
          <a:xfrm flipV="1">
            <a:off x="1028700" y="4877921"/>
            <a:ext cx="16230600" cy="0"/>
          </a:xfrm>
          <a:prstGeom prst="line">
            <a:avLst/>
          </a:prstGeom>
          <a:ln w="38100" cap="flat">
            <a:solidFill>
              <a:srgbClr val="2D6BA7"/>
            </a:solidFill>
            <a:prstDash val="solid"/>
            <a:headEnd type="none" w="sm" len="sm"/>
            <a:tailEnd type="none" w="sm" len="sm"/>
          </a:ln>
        </p:spPr>
        <p:txBody>
          <a:bodyPr/>
          <a:lstStyle/>
          <a:p>
            <a:endParaRPr lang="tr-TR"/>
          </a:p>
        </p:txBody>
      </p:sp>
      <p:sp>
        <p:nvSpPr>
          <p:cNvPr id="18" name="AutoShape 16">
            <a:extLst>
              <a:ext uri="{FF2B5EF4-FFF2-40B4-BE49-F238E27FC236}">
                <a16:creationId xmlns:a16="http://schemas.microsoft.com/office/drawing/2014/main" id="{51ADDE4D-7FBB-9565-FE30-430D008F929D}"/>
              </a:ext>
            </a:extLst>
          </p:cNvPr>
          <p:cNvSpPr/>
          <p:nvPr/>
        </p:nvSpPr>
        <p:spPr>
          <a:xfrm>
            <a:off x="8746010" y="9658350"/>
            <a:ext cx="9031836" cy="0"/>
          </a:xfrm>
          <a:prstGeom prst="line">
            <a:avLst/>
          </a:prstGeom>
          <a:ln w="28575" cap="flat">
            <a:solidFill>
              <a:srgbClr val="0D0D0D"/>
            </a:solidFill>
            <a:prstDash val="solid"/>
            <a:headEnd type="none" w="sm" len="sm"/>
            <a:tailEnd type="none" w="sm" len="sm"/>
          </a:ln>
        </p:spPr>
        <p:txBody>
          <a:bodyPr/>
          <a:lstStyle/>
          <a:p>
            <a:endParaRPr lang="tr-TR" sz="2000">
              <a:latin typeface="Poppins" panose="00000500000000000000" pitchFamily="2" charset="-94"/>
              <a:cs typeface="Poppins" panose="00000500000000000000" pitchFamily="2" charset="-94"/>
            </a:endParaRPr>
          </a:p>
        </p:txBody>
      </p:sp>
      <p:sp>
        <p:nvSpPr>
          <p:cNvPr id="19" name="Veri Yer Tutucusu 18">
            <a:extLst>
              <a:ext uri="{FF2B5EF4-FFF2-40B4-BE49-F238E27FC236}">
                <a16:creationId xmlns:a16="http://schemas.microsoft.com/office/drawing/2014/main" id="{3457146B-4C25-4A3A-761C-D949B84A4D49}"/>
              </a:ext>
            </a:extLst>
          </p:cNvPr>
          <p:cNvSpPr>
            <a:spLocks noGrp="1"/>
          </p:cNvSpPr>
          <p:nvPr>
            <p:ph type="dt" sz="half" idx="10"/>
          </p:nvPr>
        </p:nvSpPr>
        <p:spPr>
          <a:xfrm>
            <a:off x="413958" y="9475788"/>
            <a:ext cx="2133600" cy="365125"/>
          </a:xfrm>
        </p:spPr>
        <p:txBody>
          <a:bodyPr/>
          <a:lstStyle/>
          <a:p>
            <a:fld id="{7B1448DB-25E6-4179-84F8-25CA0E6F6237}" type="datetime1">
              <a:rPr lang="tr-TR" sz="2000" smtClean="0">
                <a:solidFill>
                  <a:schemeClr val="tx1"/>
                </a:solidFill>
                <a:latin typeface="Poppins" panose="00000500000000000000" pitchFamily="2" charset="-94"/>
                <a:cs typeface="Poppins" panose="00000500000000000000" pitchFamily="2" charset="-94"/>
              </a:rPr>
              <a:t>20.01.2026</a:t>
            </a:fld>
            <a:endParaRPr lang="en-US" sz="2000" dirty="0">
              <a:solidFill>
                <a:schemeClr val="tx1"/>
              </a:solidFill>
              <a:latin typeface="Poppins" panose="00000500000000000000" pitchFamily="2" charset="-94"/>
              <a:cs typeface="Poppins" panose="00000500000000000000" pitchFamily="2" charset="-94"/>
            </a:endParaRPr>
          </a:p>
        </p:txBody>
      </p:sp>
      <p:sp>
        <p:nvSpPr>
          <p:cNvPr id="20" name="Alt Bilgi Yer Tutucusu 19">
            <a:extLst>
              <a:ext uri="{FF2B5EF4-FFF2-40B4-BE49-F238E27FC236}">
                <a16:creationId xmlns:a16="http://schemas.microsoft.com/office/drawing/2014/main" id="{4182D596-86CC-4C65-7178-4D594E7FA98B}"/>
              </a:ext>
            </a:extLst>
          </p:cNvPr>
          <p:cNvSpPr>
            <a:spLocks noGrp="1"/>
          </p:cNvSpPr>
          <p:nvPr>
            <p:ph type="ftr" sz="quarter" idx="11"/>
          </p:nvPr>
        </p:nvSpPr>
        <p:spPr>
          <a:xfrm>
            <a:off x="3646547" y="9486086"/>
            <a:ext cx="5442870" cy="344529"/>
          </a:xfrm>
        </p:spPr>
        <p:txBody>
          <a:bodyPr/>
          <a:lstStyle/>
          <a:p>
            <a:r>
              <a:rPr lang="en-US" sz="2000" dirty="0">
                <a:solidFill>
                  <a:schemeClr val="tx1"/>
                </a:solidFill>
                <a:latin typeface="Poppins" panose="00000500000000000000" pitchFamily="2" charset="-94"/>
                <a:cs typeface="Poppins" panose="00000500000000000000" pitchFamily="2" charset="-94"/>
              </a:rPr>
              <a:t>PAÜ </a:t>
            </a:r>
            <a:r>
              <a:rPr lang="en-US" sz="2000" dirty="0" err="1">
                <a:solidFill>
                  <a:schemeClr val="tx1"/>
                </a:solidFill>
                <a:latin typeface="Poppins" panose="00000500000000000000" pitchFamily="2" charset="-94"/>
                <a:cs typeface="Poppins" panose="00000500000000000000" pitchFamily="2" charset="-94"/>
              </a:rPr>
              <a:t>Endüstri</a:t>
            </a:r>
            <a:r>
              <a:rPr lang="en-US" sz="2000" dirty="0">
                <a:solidFill>
                  <a:schemeClr val="tx1"/>
                </a:solidFill>
                <a:latin typeface="Poppins" panose="00000500000000000000" pitchFamily="2" charset="-94"/>
                <a:cs typeface="Poppins" panose="00000500000000000000" pitchFamily="2" charset="-94"/>
              </a:rPr>
              <a:t> </a:t>
            </a:r>
            <a:r>
              <a:rPr lang="en-US" sz="2000" dirty="0" err="1">
                <a:solidFill>
                  <a:schemeClr val="tx1"/>
                </a:solidFill>
                <a:latin typeface="Poppins" panose="00000500000000000000" pitchFamily="2" charset="-94"/>
                <a:cs typeface="Poppins" panose="00000500000000000000" pitchFamily="2" charset="-94"/>
              </a:rPr>
              <a:t>Mühendisliği</a:t>
            </a:r>
            <a:r>
              <a:rPr lang="en-US" sz="2000" dirty="0">
                <a:solidFill>
                  <a:schemeClr val="tx1"/>
                </a:solidFill>
                <a:latin typeface="Poppins" panose="00000500000000000000" pitchFamily="2" charset="-94"/>
                <a:cs typeface="Poppins" panose="00000500000000000000" pitchFamily="2" charset="-94"/>
              </a:rPr>
              <a:t> Bölümü</a:t>
            </a:r>
          </a:p>
        </p:txBody>
      </p:sp>
      <p:sp>
        <p:nvSpPr>
          <p:cNvPr id="21" name="Slayt Numarası Yer Tutucusu 21">
            <a:extLst>
              <a:ext uri="{FF2B5EF4-FFF2-40B4-BE49-F238E27FC236}">
                <a16:creationId xmlns:a16="http://schemas.microsoft.com/office/drawing/2014/main" id="{A02D0CCD-1381-99DC-3ED1-1CA81B464310}"/>
              </a:ext>
            </a:extLst>
          </p:cNvPr>
          <p:cNvSpPr>
            <a:spLocks noGrp="1"/>
          </p:cNvSpPr>
          <p:nvPr>
            <p:ph type="sldNum" sz="quarter" idx="12"/>
          </p:nvPr>
        </p:nvSpPr>
        <p:spPr>
          <a:xfrm>
            <a:off x="16129000" y="9475788"/>
            <a:ext cx="2133600" cy="365125"/>
          </a:xfrm>
        </p:spPr>
        <p:txBody>
          <a:bodyPr/>
          <a:lstStyle/>
          <a:p>
            <a:fld id="{B6F15528-21DE-4FAA-801E-634DDDAF4B2B}" type="slidenum">
              <a:rPr lang="en-US" sz="2000" smtClean="0">
                <a:solidFill>
                  <a:schemeClr val="tx1"/>
                </a:solidFill>
                <a:latin typeface="Poppins" panose="00000500000000000000" pitchFamily="2" charset="-94"/>
                <a:cs typeface="Poppins" panose="00000500000000000000" pitchFamily="2" charset="-94"/>
              </a:rPr>
              <a:pPr/>
              <a:t>19</a:t>
            </a:fld>
            <a:endParaRPr lang="en-US" sz="2000">
              <a:solidFill>
                <a:schemeClr val="tx1"/>
              </a:solidFill>
              <a:latin typeface="Poppins" panose="00000500000000000000" pitchFamily="2" charset="-94"/>
              <a:cs typeface="Poppins" panose="00000500000000000000" pitchFamily="2" charset="-94"/>
            </a:endParaRPr>
          </a:p>
        </p:txBody>
      </p:sp>
      <p:sp>
        <p:nvSpPr>
          <p:cNvPr id="22" name="TextBox 9">
            <a:extLst>
              <a:ext uri="{FF2B5EF4-FFF2-40B4-BE49-F238E27FC236}">
                <a16:creationId xmlns:a16="http://schemas.microsoft.com/office/drawing/2014/main" id="{FEDCEC24-7194-D50B-EC5E-D8C3EF4626F3}"/>
              </a:ext>
            </a:extLst>
          </p:cNvPr>
          <p:cNvSpPr txBox="1"/>
          <p:nvPr/>
        </p:nvSpPr>
        <p:spPr>
          <a:xfrm>
            <a:off x="1028700" y="5093598"/>
            <a:ext cx="16523807" cy="1377941"/>
          </a:xfrm>
          <a:prstGeom prst="rect">
            <a:avLst/>
          </a:prstGeom>
        </p:spPr>
        <p:txBody>
          <a:bodyPr wrap="square" lIns="0" tIns="0" rIns="0" bIns="0" rtlCol="0" anchor="t">
            <a:spAutoFit/>
          </a:bodyPr>
          <a:lstStyle/>
          <a:p>
            <a:pPr algn="ctr">
              <a:lnSpc>
                <a:spcPts val="11899"/>
              </a:lnSpc>
              <a:spcBef>
                <a:spcPct val="0"/>
              </a:spcBef>
            </a:pPr>
            <a:r>
              <a:rPr lang="en-US" sz="6500" b="1" dirty="0">
                <a:solidFill>
                  <a:srgbClr val="5F81A3"/>
                </a:solidFill>
                <a:latin typeface="Times New Roman" panose="02020603050405020304" pitchFamily="18" charset="0"/>
                <a:ea typeface="+mj-ea"/>
                <a:cs typeface="Times New Roman" panose="02020603050405020304" pitchFamily="18" charset="0"/>
                <a:sym typeface="Poppins Semi-Bold"/>
              </a:rPr>
              <a:t>KATILIMINIZ İÇİN TEŞEKKÜR</a:t>
            </a:r>
            <a:r>
              <a:rPr lang="tr-TR" sz="6500" b="1" dirty="0">
                <a:solidFill>
                  <a:srgbClr val="5F81A3"/>
                </a:solidFill>
                <a:latin typeface="Times New Roman" panose="02020603050405020304" pitchFamily="18" charset="0"/>
                <a:ea typeface="+mj-ea"/>
                <a:cs typeface="Times New Roman" panose="02020603050405020304" pitchFamily="18" charset="0"/>
                <a:sym typeface="Poppins Semi-Bold"/>
              </a:rPr>
              <a:t> EDERİZ.</a:t>
            </a:r>
            <a:endParaRPr lang="en-US" sz="6500" b="1" dirty="0">
              <a:solidFill>
                <a:srgbClr val="5F81A3"/>
              </a:solidFill>
              <a:latin typeface="Times New Roman" panose="02020603050405020304" pitchFamily="18" charset="0"/>
              <a:ea typeface="+mj-ea"/>
              <a:cs typeface="Times New Roman" panose="02020603050405020304" pitchFamily="18" charset="0"/>
              <a:sym typeface="Poppins Semi-Bold"/>
            </a:endParaRPr>
          </a:p>
        </p:txBody>
      </p:sp>
      <p:sp>
        <p:nvSpPr>
          <p:cNvPr id="23" name="Freeform 12">
            <a:extLst>
              <a:ext uri="{FF2B5EF4-FFF2-40B4-BE49-F238E27FC236}">
                <a16:creationId xmlns:a16="http://schemas.microsoft.com/office/drawing/2014/main" id="{359C567D-AE0C-2DDA-2E41-C39E7EB4C5C0}"/>
              </a:ext>
            </a:extLst>
          </p:cNvPr>
          <p:cNvSpPr/>
          <p:nvPr/>
        </p:nvSpPr>
        <p:spPr>
          <a:xfrm>
            <a:off x="16089843" y="288641"/>
            <a:ext cx="1620000" cy="1620000"/>
          </a:xfrm>
          <a:custGeom>
            <a:avLst/>
            <a:gdLst/>
            <a:ahLst/>
            <a:cxnLst/>
            <a:rect l="l" t="t" r="r" b="b"/>
            <a:pathLst>
              <a:path w="2269181" h="2269181">
                <a:moveTo>
                  <a:pt x="0" y="0"/>
                </a:moveTo>
                <a:lnTo>
                  <a:pt x="2269181" y="0"/>
                </a:lnTo>
                <a:lnTo>
                  <a:pt x="2269181" y="2269181"/>
                </a:lnTo>
                <a:lnTo>
                  <a:pt x="0" y="22691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Freeform 13">
            <a:extLst>
              <a:ext uri="{FF2B5EF4-FFF2-40B4-BE49-F238E27FC236}">
                <a16:creationId xmlns:a16="http://schemas.microsoft.com/office/drawing/2014/main" id="{7B9C683D-A520-E3A9-C0FE-463B6B22E40C}"/>
              </a:ext>
            </a:extLst>
          </p:cNvPr>
          <p:cNvSpPr/>
          <p:nvPr/>
        </p:nvSpPr>
        <p:spPr>
          <a:xfrm>
            <a:off x="16179843" y="461101"/>
            <a:ext cx="1440000" cy="1440000"/>
          </a:xfrm>
          <a:custGeom>
            <a:avLst/>
            <a:gdLst/>
            <a:ahLst/>
            <a:cxnLst/>
            <a:rect l="l" t="t" r="r" b="b"/>
            <a:pathLst>
              <a:path w="2038043" h="2038043">
                <a:moveTo>
                  <a:pt x="0" y="0"/>
                </a:moveTo>
                <a:lnTo>
                  <a:pt x="2038043" y="0"/>
                </a:lnTo>
                <a:lnTo>
                  <a:pt x="2038043" y="2038043"/>
                </a:lnTo>
                <a:lnTo>
                  <a:pt x="0" y="2038043"/>
                </a:lnTo>
                <a:lnTo>
                  <a:pt x="0" y="0"/>
                </a:lnTo>
                <a:close/>
              </a:path>
            </a:pathLst>
          </a:custGeom>
          <a:blipFill>
            <a:blip r:embed="rId5"/>
            <a:stretch>
              <a:fillRect/>
            </a:stretch>
          </a:blipFill>
        </p:spPr>
        <p:txBody>
          <a:bodyPr/>
          <a:lstStyle/>
          <a:p>
            <a:endParaRPr lang="tr-TR" dirty="0"/>
          </a:p>
        </p:txBody>
      </p:sp>
      <p:sp>
        <p:nvSpPr>
          <p:cNvPr id="25" name="Freeform 10">
            <a:extLst>
              <a:ext uri="{FF2B5EF4-FFF2-40B4-BE49-F238E27FC236}">
                <a16:creationId xmlns:a16="http://schemas.microsoft.com/office/drawing/2014/main" id="{BE7ED78E-1761-F62E-DEBD-239D0A09BE70}"/>
              </a:ext>
            </a:extLst>
          </p:cNvPr>
          <p:cNvSpPr/>
          <p:nvPr/>
        </p:nvSpPr>
        <p:spPr>
          <a:xfrm>
            <a:off x="317540" y="282749"/>
            <a:ext cx="1620000" cy="1620000"/>
          </a:xfrm>
          <a:custGeom>
            <a:avLst/>
            <a:gdLst/>
            <a:ahLst/>
            <a:cxnLst/>
            <a:rect l="l" t="t" r="r" b="b"/>
            <a:pathLst>
              <a:path w="2269181" h="2269181">
                <a:moveTo>
                  <a:pt x="0" y="0"/>
                </a:moveTo>
                <a:lnTo>
                  <a:pt x="2269181" y="0"/>
                </a:lnTo>
                <a:lnTo>
                  <a:pt x="2269181" y="2269182"/>
                </a:lnTo>
                <a:lnTo>
                  <a:pt x="0" y="22691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6" name="Freeform 11">
            <a:extLst>
              <a:ext uri="{FF2B5EF4-FFF2-40B4-BE49-F238E27FC236}">
                <a16:creationId xmlns:a16="http://schemas.microsoft.com/office/drawing/2014/main" id="{5B4FB534-6246-8936-6A77-6191B0AD6AA7}"/>
              </a:ext>
            </a:extLst>
          </p:cNvPr>
          <p:cNvSpPr/>
          <p:nvPr/>
        </p:nvSpPr>
        <p:spPr>
          <a:xfrm>
            <a:off x="413958" y="423374"/>
            <a:ext cx="1440000" cy="1440000"/>
          </a:xfrm>
          <a:custGeom>
            <a:avLst/>
            <a:gdLst/>
            <a:ahLst/>
            <a:cxnLst/>
            <a:rect l="l" t="t" r="r" b="b"/>
            <a:pathLst>
              <a:path w="2070398" h="2070398">
                <a:moveTo>
                  <a:pt x="0" y="0"/>
                </a:moveTo>
                <a:lnTo>
                  <a:pt x="2070398" y="0"/>
                </a:lnTo>
                <a:lnTo>
                  <a:pt x="2070398" y="2070398"/>
                </a:lnTo>
                <a:lnTo>
                  <a:pt x="0" y="2070398"/>
                </a:lnTo>
                <a:lnTo>
                  <a:pt x="0" y="0"/>
                </a:lnTo>
                <a:close/>
              </a:path>
            </a:pathLst>
          </a:custGeom>
          <a:blipFill>
            <a:blip r:embed="rId6"/>
            <a:stretch>
              <a:fillRect/>
            </a:stretch>
          </a:blipFill>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517</TotalTime>
  <Words>1959</Words>
  <Application>Microsoft Office PowerPoint</Application>
  <PresentationFormat>Özel</PresentationFormat>
  <Paragraphs>247</Paragraphs>
  <Slides>19</Slides>
  <Notes>5</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19</vt:i4>
      </vt:variant>
    </vt:vector>
  </HeadingPairs>
  <TitlesOfParts>
    <vt:vector size="28" baseType="lpstr">
      <vt:lpstr>Times New Roman</vt:lpstr>
      <vt:lpstr>Poppins</vt:lpstr>
      <vt:lpstr>Calibri</vt:lpstr>
      <vt:lpstr>Cambria Math</vt:lpstr>
      <vt:lpstr>Poppins Bold</vt:lpstr>
      <vt:lpstr>Arial</vt:lpstr>
      <vt:lpstr>Aptos</vt:lpstr>
      <vt:lpstr>Wingdings</vt:lpstr>
      <vt:lpstr>Office Theme</vt:lpstr>
      <vt:lpstr>PowerPoint Sunusu</vt:lpstr>
      <vt:lpstr>SUNUM PLANI</vt:lpstr>
      <vt:lpstr>GİRİŞ</vt:lpstr>
      <vt:lpstr>GİRİŞ (DEVAM)</vt:lpstr>
      <vt:lpstr>LİTERATÜR TARAMASI</vt:lpstr>
      <vt:lpstr>PROBLEM TANIMI</vt:lpstr>
      <vt:lpstr>ARAŞTIRMA SORULARI</vt:lpstr>
      <vt:lpstr>YÖNTEM</vt:lpstr>
      <vt:lpstr>YÖNTEM (DEVAM)</vt:lpstr>
      <vt:lpstr>UYGULAMA </vt:lpstr>
      <vt:lpstr>UYGULAMA</vt:lpstr>
      <vt:lpstr>UYGULAMA</vt:lpstr>
      <vt:lpstr>UYGULAMA</vt:lpstr>
      <vt:lpstr>BULGULAR</vt:lpstr>
      <vt:lpstr>BULGULAR</vt:lpstr>
      <vt:lpstr>BULGULAR </vt:lpstr>
      <vt:lpstr>SONUÇLAR VE ÖNERİLER</vt:lpstr>
      <vt:lpstr>KAYNAKLAR</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Business Pitch Deck Presentation</dc:title>
  <cp:lastModifiedBy>OSMAN SAHIN BENLI</cp:lastModifiedBy>
  <cp:revision>128</cp:revision>
  <dcterms:created xsi:type="dcterms:W3CDTF">2006-08-16T00:00:00Z</dcterms:created>
  <dcterms:modified xsi:type="dcterms:W3CDTF">2026-01-20T07:31:05Z</dcterms:modified>
  <dc:identifier>DAG8byadU-Y</dc:identifier>
</cp:coreProperties>
</file>